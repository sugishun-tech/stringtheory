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【スライド01】p進弦理論とp進 AdS/CFT
目安: 40秒
説明: この発表では、ピー進数という数体系から始めて、ピー進弦理論、ブルア・ティッツ木、そしてピー進ホログラフィーまでを一続きに整理します。重要なのは、同じ木構造が二つの理論に登場しても、片方では世界面、もう片方ではホログラフィーのバルク時空として使われる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【スライド02】全体像：二つの理論を混同しない
目安: 1分
説明: 左側は弦理論の散乱振幅をピー進数で作り直す話です。右側は境界の共形場理論とバルクの幾何をピー進化する話です。両者は数学的に近く、歴史的にもつながっていますが、同一理論ではありません。ここを曖昧にすると、世界面と時空を入れ替えるという、理論物理でありがちな壮大な取り違えが起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【スライド03】p進数：大きさを素数で割れる回数で測る
目安: 1分20秒
説明: ピー進数では、数の大きさを通常の絶対値ではなく、特定の素数で何回割れるかによって決めます。画面の式はその定義をまとめたものです。重要な結論だけ言えば、素数で多く割れる数ほど近く、小さく見えます。また、桁を一つずつ確定する過程が自然に木構造として表現できます。式そのものは読み上げず、右下の階層図を指して説明すれば十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【スライド04】超距離：三角形と球が階層構造になる
目安: 1分10秒
説明: ピー進距離では、通常より強い三角不等式が成り立ちます。その結果、三角形は最長の二辺が同じ長さになり、球は重なるなら一方が他方を完全に含みます。つまり空間が滑らかな連続体というより、分類木のような階層になります。後でブルア・ティッツ木やテンソルネットワークが自然に登場するのは、この性質のため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【スライド05】研究史：散乱振幅から離散ホログラフィーへ
目安: 1分20秒
説明: 最初のピー進弦研究は一九八七年に集中して始まり、散乱振幅の因数分解とアデール的関係が注目されました。翌年には厳密な時空作用が得られ、木を世界面とみなす構成も現れます。二〇〇〇年にはタキオン凝縮の具体例として再評価され、二〇一六年以降はホログラフィー、テンソルネットワーク、創発重力、有限温度、数論との接続へ研究対象が広が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【スライド06】p進弦理論：世界面境界の積分を置き換える
目安: 1分20秒
説明: 通常の開いた弦の樹木レベル振幅は、世界面の境界上の点を実数として積分します。ピー進弦では、その積分領域と絶対値をピー進版に置き換えます。画面下の式は四点タキオン振幅の代表的な形です。ここで注意すべきなのは、標的時空や運動量まで自動的にピー進数になるわけではないことです。主に世界面側の解析構造を置き換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【スライド07】散乱振幅とアデール的関係
目安: 1分30秒
説明: ピー進振幅は局所ゼータ関数を使う非常に簡潔な形にまとまります。フロイントとウィッテンは、実数上の振幅と各素数に対応するピー進振幅を掛け合わせると、適切な規格化のもとで定数になる関係を見いだしました。ただし、無限積は並べ替えや正則化に敏感です。現代の研究では、象徴的な美しさだけでなく、収束領域を厳密に管理する必要が強調され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【スライド08】厳密に書ける非局所タキオン作用
目安: 1分20秒
説明: ピー進弦理論の大きな利点は、開いた弦のタキオン部門について、樹木レベルの散乱振幅を再現する作用を閉じた形で書けることです。画面上の大きな式がその作用で、次の式が運動方程式です。読み上げる必要はありません。要点は、微分作用素が指数関数の中に入るため、相互作用が非局所的になること、そして通常の弦場理論より厳密解を得やすい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【スライド09】タキオン凝縮とDブレーン lump
目安: 1分30秒
説明: この作用には、元の不安定なディーブレーンを表す解と、開いた弦の摂動的励起が消える真空を表す解があります。さらに、空間方向にガウス型に局在した解が存在し、低次元のディーブレーンとして解釈できます。右の式はその局在プロファイルです。ここでも式は読まず、山型の図と、ブレーンの次元が下がる模式図を使って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【スライド10】Bruhat–Tits木：p進境界を持つ離散双曲空間
目安: 1分20秒
説明: ブルア・ティッツ木は、各頂点から一定本数の辺が伸びる無限正則木です。無限遠の枝の終点がピー進数の境界に対応します。木の深さは、ピー進数を何桁まで区別しているかという精度に対応し、ホログラフィーでは繰り込み群のスケールとして読めます。画面右の式は境界、対称性群、頂点の次数をまとめたも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【スライド11】木の内部を消去すると、境界に非局所作用が残る
目安: 1分30秒
説明: 木の内部に局所的な自由場を置き、その内部自由度を消去すると、境界には離れた点どうしを結ぶ非局所作用が残ります。右の二つの式は、その境界作用と非局所微分を表します。これはピー進弦の世界面構成で現れた仕組みですが、後のピー進ホログラフィーでも、バルクから境界作用を導く同じ発想が使われます。ただし、木が世界面なのか時空なのかは必ず区別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【スライド12】p進 CFT：局所性を弱め、全球対称性を残す
目安: 1分30秒
説明: ピー進共形場理論では、分数線形変換による全球的な共形対称性が保たれ、二点関数や三点関数は通常の共形場理論とよく似た形になります。一方、ピー進数上の複素数値関数は局所的に一定になりやすく、通常の微分に基づく局所共形代数や無限個の子孫演算子は乏しくなります。そのため、群作用と演算子積展開の整合性が理論の中心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【スライド13】通常の AdS/CFT と p進 AdS/CFT の辞書
目安: 1分20秒
説明: この表は通常のホログラフィーとピー進版の対応関係です。連続的な反ド・ジッター空間は正則木に、半径方向は木の深さに、微分方程式はグラフ上の差分方程式に置き換わります。対称性群と相関関数の構造はかなり忠実に残りますが、連続時空や因果構造まで同じになるわけではありません。対応表は構造比較として読むべき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【スライド14】木上の自由スカラー場：最小のバルク模型
目安: 1分20秒
説明: バルク側では、木の各頂点にスカラー場を置き、隣接する頂点の値の差を運動項にします。画面上の大きな式が作用で、その下がグラフ版のラプラシアンと場の方程式です。連続空間の偏微分方程式が、木の隣接関係だけを使う差分方程式に変わります。離散的ですが局所的であり、しかも距離に依存する解を厳密に求めやすいのが利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【スライド15】伝播関数と質量・スケーリング次元対応
目安: 1分30秒
説明: 木上の伝播関数は、二点間のグラフ距離が増えるほど一定の比率で減衰します。連続空間で特殊関数を解く代わりに、木では幾何級数に近い計算になります。右上の式は、バルクの質量と境界演算子のスケーリング次元を結びます。下の長い式は、境界にソースを置いたときのバルク場の応答です。式は読まず、距離減衰と質量・次元対応だけを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【スライド16】境界相関関数：通常のCFTと同じ形、係数は局所ゼータ
目安: 1分30秒
説明: 境界の二点関数と三点関数は、通常の共形場理論と同じく、点どうしの距離をスケーリング次元で割った形になります。違いは距離がピー進ノルムであり、係数が局所ゼータ関数で表されることです。木には閉路がないため、複数の境界点を結ぶ測地線の合流点が一意です。このため、ウィッテン図の計算が連続空間より大幅に単純化さ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【スライド17】可解性の核心：超距離と木が積分を幾何級数にする
目安: 1分10秒
説明: 計算が簡単になる理由を四段階でまとめます。ピー進球はきれいな階層に分かれ、木の経路は一意で、距離は分岐点を使って分解できます。その結果、積分や頂点和が幾何級数として評価され、局所ゼータ関数にまとまります。これは連続理論を粗く離散化したから簡単なのではなく、非アルキメデス幾何そのものが持つ厳密な構造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【スライド18】p進 CFT の経路積分は木上のテンソルネットワークになる
目安: 1分30秒
説明: ピー進共形場理論では、演算子積展開のデータを木の各頂点に置き、辺に沿って演算子ラベルを縮約すると、経路積分をテンソルネットワークとして表せます。二〇一九年の研究では、適切に公理化されたピー進共形場理論について、全相関関数を再現することが示されました。これは単なる模式図ではなく、経路積分との同値性を主張する厳密な構成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【スライド19】拡張：グラフ重力・スピン・創発Einstein方程式
目安: 1分40秒
説明: 研究は自由スカラー場だけに留まりません。辺の長さを動力学変数にしてグラフ曲率を定義する試み、符号指標をスピンとして扱いゲージ場のウィルソン線で再現する試み、テンソルネットワークの変形からグラフ版のアインシュタイン方程式を導く試みがあります。いずれも、連続幾何の用語をそのまま貼るのではなく、境界データとの整合性から離散幾何を逆算する点が重要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【スライド20】有限温度と2026年の前線：Tate曲線・局所高さ関数
目安: 1分50秒
説明: 木の一本の無限経路を周期的に同一視すると、中央に一つの閉路を持つ商グラフができます。これはピー進版の有限温度バルクや、ユークリッド型ブラックホールの模型として使われます。ここで使うキューはテイト曲線の商を指定する記号で、前に体の大きさを表すために使ったキューとは別物です。二〇二五年には有限温度相関関数の一ループ計算が行われました。二〇二六年のプレプリントでは、種数一のピー進弦世界面の境界二点関数が、算術幾何のネロン局所高さ関数と一致すると報告され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【スライド21】この理論が教えること／教えないこと
目安: 1分40秒
説明: ピー進理論の価値は、通常の弦理論やホログラフィーを置き換えることではなく、難しい構造を厳密に切り分けられる点にあります。タキオン凝縮、相関関数、テンソルネットワーク、グラフ重力を同じ可解な枠組みで比較できます。一方、観測宇宙の直接模型ではなく、時間や因果構造、閉弦や超弦の完全な構成も未完成です。可解だから真実、という人類おなじみの飛躍は避け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【スライド22】まとめ：数論的置換が弦とホログラフィーを可解にする
目安: 1分
説明: まとめです。ピー進弦理論では、世界面境界の積分を置き換えることで、散乱振幅と非局所タキオン作用が厳密に扱えます。ピー進ホログラフィーでは、境界の共形場理論をブルア・ティッツ木上のバルク理論で記述します。両者を支えるのは、超距離、木の階層、局所ゼータ関数です。価値は現実の代用品ではなく、弦とホログラフィーの論理を透明にすることに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【スライド23】主要文献 1：p進弦理論
目安: 30秒
説明: このページはピー進弦理論の主要文献です。初期の散乱振幅、アデール関係、厳密作用、ブルア・ティッツ木の世界面、タキオン凝縮、そして無限積の現代的な注意点までを並べています。発表では一件ずつ読む必要はなく、古典文献から現代の再検討まで一次資料を確認したことを示すページとして使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【スライド24】主要文献 2：p進 AdS/CFT と発展
目安: 30秒
説明: こちらはピー進ホログラフィーの主要文献です。基本辞書、テンソルネットワーク、辺長重力、スピン、創発アインシュタイン方程式、有限温度、二〇二六年の一ループ研究までを収録しています。最後の論文は査読前のプレプリントなので、確立した結果と同じ扱いにはしていません。発表の締めとして、調査範囲と時点を示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image" Target="../media/image-14-7.png"/><Relationship Id="rId8" Type="http://schemas.openxmlformats.org/officeDocument/2006/relationships/image" Target="../media/image-14-8.svg"/><Relationship Id="rId9" Type="http://schemas.openxmlformats.org/officeDocument/2006/relationships/slideLayout" Target="../slideLayouts/slideLayout1.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image" Target="../media/image-15-5.png"/><Relationship Id="rId6" Type="http://schemas.openxmlformats.org/officeDocument/2006/relationships/image" Target="../media/image-15-6.svg"/><Relationship Id="rId7" Type="http://schemas.openxmlformats.org/officeDocument/2006/relationships/image" Target="../media/image-15-7.png"/><Relationship Id="rId8" Type="http://schemas.openxmlformats.org/officeDocument/2006/relationships/image" Target="../media/image-15-8.sv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image" Target="../media/image-16-4.svg"/><Relationship Id="rId5" Type="http://schemas.openxmlformats.org/officeDocument/2006/relationships/image" Target="../media/image-16-5.png"/><Relationship Id="rId6" Type="http://schemas.openxmlformats.org/officeDocument/2006/relationships/image" Target="../media/image-16-6.sv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0" y="0"/>
            <a:ext cx="164592" cy="6858000"/>
          </a:xfrm>
          <a:prstGeom prst="rect">
            <a:avLst/>
          </a:prstGeom>
          <a:solidFill>
            <a:srgbClr val="55D8E0"/>
          </a:solidFill>
          <a:ln w="12700">
            <a:solidFill>
              <a:srgbClr val="55D8E0"/>
            </a:solidFill>
            <a:prstDash val="solid"/>
          </a:ln>
        </p:spPr>
      </p:sp>
      <p:sp>
        <p:nvSpPr>
          <p:cNvPr id="4" name="Text 2"/>
          <p:cNvSpPr/>
          <p:nvPr/>
        </p:nvSpPr>
        <p:spPr>
          <a:xfrm>
            <a:off x="777240" y="1143000"/>
            <a:ext cx="5669280" cy="1874520"/>
          </a:xfrm>
          <a:prstGeom prst="rect">
            <a:avLst/>
          </a:prstGeom>
          <a:noFill/>
          <a:ln/>
        </p:spPr>
        <p:txBody>
          <a:bodyPr wrap="square" lIns="0" tIns="0" rIns="0" bIns="0" rtlCol="0" anchor="ctr">
            <a:normAutofit/>
          </a:bodyPr>
          <a:lstStyle/>
          <a:p>
            <a:pPr indent="0" marL="0">
              <a:buNone/>
            </a:pPr>
            <a:r>
              <a:rPr lang="en-US" sz="3100" b="1" dirty="0">
                <a:solidFill>
                  <a:srgbClr val="F4F7FA"/>
                </a:solidFill>
                <a:latin typeface="Noto Serif CJK JP" pitchFamily="34" charset="0"/>
                <a:ea typeface="Noto Serif CJK JP" pitchFamily="34" charset="-122"/>
                <a:cs typeface="Noto Serif CJK JP" pitchFamily="34" charset="-120"/>
              </a:rPr>
              <a:t>p進弦理論 と</a:t>
            </a:r>
            <a:endParaRPr lang="en-US" sz="3100" dirty="0"/>
          </a:p>
          <a:p>
            <a:pPr indent="0" marL="0">
              <a:buNone/>
            </a:pPr>
            <a:r>
              <a:rPr lang="en-US" sz="3100" b="1" dirty="0">
                <a:solidFill>
                  <a:srgbClr val="F4F7FA"/>
                </a:solidFill>
                <a:latin typeface="Noto Serif CJK JP" pitchFamily="34" charset="0"/>
                <a:ea typeface="Noto Serif CJK JP" pitchFamily="34" charset="-122"/>
                <a:cs typeface="Noto Serif CJK JP" pitchFamily="34" charset="-120"/>
              </a:rPr>
              <a:t>p進 AdS/CFT</a:t>
            </a:r>
            <a:endParaRPr lang="en-US" sz="3100" dirty="0"/>
          </a:p>
        </p:txBody>
      </p:sp>
      <p:sp>
        <p:nvSpPr>
          <p:cNvPr id="5" name="Text 3"/>
          <p:cNvSpPr/>
          <p:nvPr/>
        </p:nvSpPr>
        <p:spPr>
          <a:xfrm>
            <a:off x="804672" y="3182112"/>
            <a:ext cx="5303520" cy="411480"/>
          </a:xfrm>
          <a:prstGeom prst="rect">
            <a:avLst/>
          </a:prstGeom>
          <a:noFill/>
          <a:ln/>
        </p:spPr>
        <p:txBody>
          <a:bodyPr wrap="square" lIns="0" tIns="0" rIns="0" bIns="0" rtlCol="0" anchor="ctr"/>
          <a:lstStyle/>
          <a:p>
            <a:pPr indent="0" marL="0">
              <a:buNone/>
            </a:pPr>
            <a:r>
              <a:rPr lang="en-US" sz="1700" dirty="0">
                <a:solidFill>
                  <a:srgbClr val="55D8E0"/>
                </a:solidFill>
                <a:latin typeface="Noto Sans CJK JP" pitchFamily="34" charset="0"/>
                <a:ea typeface="Noto Sans CJK JP" pitchFamily="34" charset="-122"/>
                <a:cs typeface="Noto Sans CJK JP" pitchFamily="34" charset="-120"/>
              </a:rPr>
              <a:t>数体系の置換から、離散ホログラフィーへ</a:t>
            </a:r>
            <a:endParaRPr lang="en-US" sz="1700" dirty="0"/>
          </a:p>
        </p:txBody>
      </p:sp>
      <p:sp>
        <p:nvSpPr>
          <p:cNvPr id="6" name="Text 4"/>
          <p:cNvSpPr/>
          <p:nvPr/>
        </p:nvSpPr>
        <p:spPr>
          <a:xfrm>
            <a:off x="822960" y="5468112"/>
            <a:ext cx="4480560" cy="310896"/>
          </a:xfrm>
          <a:prstGeom prst="rect">
            <a:avLst/>
          </a:prstGeom>
          <a:noFill/>
          <a:ln/>
        </p:spPr>
        <p:txBody>
          <a:bodyPr wrap="square" lIns="0" tIns="0" rIns="0" bIns="0" rtlCol="0" anchor="ctr"/>
          <a:lstStyle/>
          <a:p>
            <a:pPr indent="0" marL="0">
              <a:buNone/>
            </a:pPr>
            <a:r>
              <a:rPr lang="en-US" sz="1050" dirty="0">
                <a:solidFill>
                  <a:srgbClr val="A9BBC9"/>
                </a:solidFill>
                <a:latin typeface="Noto Sans Mono CJK JP" pitchFamily="34" charset="0"/>
                <a:ea typeface="Noto Sans Mono CJK JP" pitchFamily="34" charset="-122"/>
                <a:cs typeface="Noto Sans Mono CJK JP" pitchFamily="34" charset="-120"/>
              </a:rPr>
              <a:t>一次文献を中心に整理  |  1987–2026</a:t>
            </a:r>
            <a:endParaRPr lang="en-US" sz="1050" dirty="0"/>
          </a:p>
        </p:txBody>
      </p:sp>
      <p:sp>
        <p:nvSpPr>
          <p:cNvPr id="7" name="Shape 5"/>
          <p:cNvSpPr/>
          <p:nvPr/>
        </p:nvSpPr>
        <p:spPr>
          <a:xfrm>
            <a:off x="822960" y="3977640"/>
            <a:ext cx="1828800" cy="310896"/>
          </a:xfrm>
          <a:prstGeom prst="roundRect">
            <a:avLst/>
          </a:prstGeom>
          <a:solidFill>
            <a:srgbClr val="153246"/>
          </a:solidFill>
          <a:ln w="13970">
            <a:solidFill>
              <a:srgbClr val="F2B65D"/>
            </a:solidFill>
            <a:prstDash val="solid"/>
          </a:ln>
        </p:spPr>
      </p:sp>
      <p:sp>
        <p:nvSpPr>
          <p:cNvPr id="8" name="Text 6"/>
          <p:cNvSpPr/>
          <p:nvPr/>
        </p:nvSpPr>
        <p:spPr>
          <a:xfrm>
            <a:off x="896112" y="4023360"/>
            <a:ext cx="1682496" cy="201168"/>
          </a:xfrm>
          <a:prstGeom prst="rect">
            <a:avLst/>
          </a:prstGeom>
          <a:noFill/>
          <a:ln/>
        </p:spPr>
        <p:txBody>
          <a:bodyPr wrap="square" lIns="0" tIns="0" rIns="0" bIns="0" rtlCol="0" anchor="ctr">
            <a:normAutofit/>
          </a:bodyPr>
          <a:lstStyle/>
          <a:p>
            <a:pPr algn="ctr" indent="0" marL="0">
              <a:buNone/>
            </a:pPr>
            <a:r>
              <a:rPr lang="en-US" sz="1000" b="1" dirty="0">
                <a:solidFill>
                  <a:srgbClr val="F2B65D"/>
                </a:solidFill>
                <a:latin typeface="Noto Sans CJK JP" pitchFamily="34" charset="0"/>
                <a:ea typeface="Noto Sans CJK JP" pitchFamily="34" charset="-122"/>
                <a:cs typeface="Noto Sans CJK JP" pitchFamily="34" charset="-120"/>
              </a:rPr>
              <a:t>p-adic string theory</a:t>
            </a:r>
            <a:endParaRPr lang="en-US" sz="1000" dirty="0"/>
          </a:p>
        </p:txBody>
      </p:sp>
      <p:sp>
        <p:nvSpPr>
          <p:cNvPr id="9" name="Shape 7"/>
          <p:cNvSpPr/>
          <p:nvPr/>
        </p:nvSpPr>
        <p:spPr>
          <a:xfrm>
            <a:off x="2816352" y="3977640"/>
            <a:ext cx="1737360" cy="310896"/>
          </a:xfrm>
          <a:prstGeom prst="roundRect">
            <a:avLst/>
          </a:prstGeom>
          <a:solidFill>
            <a:srgbClr val="153246"/>
          </a:solidFill>
          <a:ln w="13970">
            <a:solidFill>
              <a:srgbClr val="67D3A5"/>
            </a:solidFill>
            <a:prstDash val="solid"/>
          </a:ln>
        </p:spPr>
      </p:sp>
      <p:sp>
        <p:nvSpPr>
          <p:cNvPr id="10" name="Text 8"/>
          <p:cNvSpPr/>
          <p:nvPr/>
        </p:nvSpPr>
        <p:spPr>
          <a:xfrm>
            <a:off x="2889504" y="4023360"/>
            <a:ext cx="1591056" cy="201168"/>
          </a:xfrm>
          <a:prstGeom prst="rect">
            <a:avLst/>
          </a:prstGeom>
          <a:noFill/>
          <a:ln/>
        </p:spPr>
        <p:txBody>
          <a:bodyPr wrap="square" lIns="0" tIns="0" rIns="0" bIns="0" rtlCol="0" anchor="ctr">
            <a:normAutofit/>
          </a:bodyPr>
          <a:lstStyle/>
          <a:p>
            <a:pPr algn="ctr" indent="0" marL="0">
              <a:buNone/>
            </a:pPr>
            <a:r>
              <a:rPr lang="en-US" sz="1000" b="1" dirty="0">
                <a:solidFill>
                  <a:srgbClr val="67D3A5"/>
                </a:solidFill>
                <a:latin typeface="Noto Sans CJK JP" pitchFamily="34" charset="0"/>
                <a:ea typeface="Noto Sans CJK JP" pitchFamily="34" charset="-122"/>
                <a:cs typeface="Noto Sans CJK JP" pitchFamily="34" charset="-120"/>
              </a:rPr>
              <a:t>Bruhat–Tits tree</a:t>
            </a:r>
            <a:endParaRPr lang="en-US" sz="1000" dirty="0"/>
          </a:p>
        </p:txBody>
      </p:sp>
      <p:sp>
        <p:nvSpPr>
          <p:cNvPr id="11" name="Shape 9"/>
          <p:cNvSpPr/>
          <p:nvPr/>
        </p:nvSpPr>
        <p:spPr>
          <a:xfrm>
            <a:off x="4736592" y="3977640"/>
            <a:ext cx="1234440" cy="310896"/>
          </a:xfrm>
          <a:prstGeom prst="roundRect">
            <a:avLst/>
          </a:prstGeom>
          <a:solidFill>
            <a:srgbClr val="153246"/>
          </a:solidFill>
          <a:ln w="13970">
            <a:solidFill>
              <a:srgbClr val="A58AE8"/>
            </a:solidFill>
            <a:prstDash val="solid"/>
          </a:ln>
        </p:spPr>
      </p:sp>
      <p:sp>
        <p:nvSpPr>
          <p:cNvPr id="12" name="Text 10"/>
          <p:cNvSpPr/>
          <p:nvPr/>
        </p:nvSpPr>
        <p:spPr>
          <a:xfrm>
            <a:off x="4809744" y="4023360"/>
            <a:ext cx="1088136" cy="201168"/>
          </a:xfrm>
          <a:prstGeom prst="rect">
            <a:avLst/>
          </a:prstGeom>
          <a:noFill/>
          <a:ln/>
        </p:spPr>
        <p:txBody>
          <a:bodyPr wrap="square" lIns="0" tIns="0" rIns="0" bIns="0" rtlCol="0" anchor="ctr">
            <a:normAutofit/>
          </a:bodyPr>
          <a:lstStyle/>
          <a:p>
            <a:pPr algn="ctr" indent="0" marL="0">
              <a:buNone/>
            </a:pPr>
            <a:r>
              <a:rPr lang="en-US" sz="1000" b="1" dirty="0">
                <a:solidFill>
                  <a:srgbClr val="A58AE8"/>
                </a:solidFill>
                <a:latin typeface="Noto Sans CJK JP" pitchFamily="34" charset="0"/>
                <a:ea typeface="Noto Sans CJK JP" pitchFamily="34" charset="-122"/>
                <a:cs typeface="Noto Sans CJK JP" pitchFamily="34" charset="-120"/>
              </a:rPr>
              <a:t>holography</a:t>
            </a:r>
            <a:endParaRPr lang="en-US" sz="1000" dirty="0"/>
          </a:p>
        </p:txBody>
      </p:sp>
      <p:pic>
        <p:nvPicPr>
          <p:cNvPr id="13" name="Image 0" descr="preencoded.png">    </p:cNvPr>
          <p:cNvPicPr>
            <a:picLocks noChangeAspect="1"/>
          </p:cNvPicPr>
          <p:nvPr/>
        </p:nvPicPr>
        <p:blipFill>
          <a:blip r:embed="rId1">
            <a:alphaModFix amt="90000"/>
            <a:extLst>
              <a:ext uri="{96DAC541-7B7A-43D3-8B79-37D633B846F1}">
                <asvg:svgBlip xmlns:asvg="http://schemas.microsoft.com/office/drawing/2016/SVG/main" r:embed="rId2"/>
              </a:ext>
            </a:extLst>
          </a:blip>
          <a:stretch>
            <a:fillRect/>
          </a:stretch>
        </p:blipFill>
        <p:spPr>
          <a:xfrm>
            <a:off x="5897880" y="502920"/>
            <a:ext cx="5852160" cy="5715000"/>
          </a:xfrm>
          <a:prstGeom prst="rect">
            <a:avLst/>
          </a:prstGeom>
        </p:spPr>
      </p:pic>
      <p:sp>
        <p:nvSpPr>
          <p:cNvPr id="14" name="Shape 11"/>
          <p:cNvSpPr/>
          <p:nvPr/>
        </p:nvSpPr>
        <p:spPr>
          <a:xfrm>
            <a:off x="6949440" y="5230368"/>
            <a:ext cx="3657600" cy="658368"/>
          </a:xfrm>
          <a:prstGeom prst="roundRect">
            <a:avLst/>
          </a:prstGeom>
          <a:solidFill>
            <a:srgbClr val="0B1C2A">
              <a:alpha val="90000"/>
            </a:srgbClr>
          </a:solidFill>
          <a:ln w="12700">
            <a:solidFill>
              <a:srgbClr val="2B4658"/>
            </a:solidFill>
            <a:prstDash val="solid"/>
          </a:ln>
        </p:spPr>
      </p:sp>
      <p:sp>
        <p:nvSpPr>
          <p:cNvPr id="15" name="Text 12"/>
          <p:cNvSpPr/>
          <p:nvPr/>
        </p:nvSpPr>
        <p:spPr>
          <a:xfrm>
            <a:off x="7178040" y="5394960"/>
            <a:ext cx="3200400" cy="320040"/>
          </a:xfrm>
          <a:prstGeom prst="rect">
            <a:avLst/>
          </a:prstGeom>
          <a:noFill/>
          <a:ln/>
        </p:spPr>
        <p:txBody>
          <a:bodyPr wrap="square" lIns="0" tIns="0" rIns="0" bIns="0" rtlCol="0" anchor="ctr">
            <a:normAutofit/>
          </a:bodyPr>
          <a:lstStyle/>
          <a:p>
            <a:pPr algn="ctr" indent="0" marL="0">
              <a:buNone/>
            </a:pPr>
            <a:r>
              <a:rPr lang="en-US" sz="1200" b="1" dirty="0">
                <a:solidFill>
                  <a:srgbClr val="F4F7FA"/>
                </a:solidFill>
                <a:latin typeface="Noto Sans CJK JP" pitchFamily="34" charset="0"/>
                <a:ea typeface="Noto Sans CJK JP" pitchFamily="34" charset="-122"/>
                <a:cs typeface="Noto Sans CJK JP" pitchFamily="34" charset="-120"/>
              </a:rPr>
              <a:t>同じ「木」が、世界面にも時空にも現れる。</a:t>
            </a:r>
            <a:endParaRPr lang="en-US" sz="1200" dirty="0"/>
          </a:p>
          <a:p>
            <a:pPr algn="ctr" indent="0" marL="0">
              <a:buNone/>
            </a:pPr>
            <a:r>
              <a:rPr lang="en-US" sz="1200" b="1" dirty="0">
                <a:solidFill>
                  <a:srgbClr val="F4F7FA"/>
                </a:solidFill>
                <a:latin typeface="Noto Sans CJK JP" pitchFamily="34" charset="0"/>
                <a:ea typeface="Noto Sans CJK JP" pitchFamily="34" charset="-122"/>
                <a:cs typeface="Noto Sans CJK JP" pitchFamily="34" charset="-120"/>
              </a:rPr>
              <a:t>ただし役割は同じではない。</a:t>
            </a:r>
            <a:endParaRPr lang="en-US" sz="1200" dirty="0"/>
          </a:p>
        </p:txBody>
      </p:sp>
      <p:sp>
        <p:nvSpPr>
          <p:cNvPr id="16" name="Text 13"/>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01 / 24</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OVERVIEW</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全体像：二つの理論を混同しない</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共通する数学は多いが、「何をp進化したか」が異なる</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02</a:t>
            </a:r>
            <a:endParaRPr lang="en-US" sz="1000" dirty="0"/>
          </a:p>
        </p:txBody>
      </p:sp>
      <p:sp>
        <p:nvSpPr>
          <p:cNvPr id="8" name="Text 6"/>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2 / 24</a:t>
            </a:r>
            <a:endParaRPr lang="en-US" sz="750" dirty="0"/>
          </a:p>
        </p:txBody>
      </p:sp>
      <p:sp>
        <p:nvSpPr>
          <p:cNvPr id="9" name="Shape 7"/>
          <p:cNvSpPr/>
          <p:nvPr/>
        </p:nvSpPr>
        <p:spPr>
          <a:xfrm>
            <a:off x="548640" y="1664208"/>
            <a:ext cx="5440680" cy="4370832"/>
          </a:xfrm>
          <a:prstGeom prst="roundRect">
            <a:avLst>
              <a:gd name="adj" fmla="val 2510"/>
            </a:avLst>
          </a:prstGeom>
          <a:solidFill>
            <a:srgbClr val="0D2231"/>
          </a:solidFill>
          <a:ln w="12700">
            <a:solidFill>
              <a:srgbClr val="F2B65D"/>
            </a:solidFill>
            <a:prstDash val="solid"/>
          </a:ln>
          <a:effectLst>
            <a:outerShdw sx="100000" sy="100000" kx="0" ky="0" algn="bl" rotWithShape="0" blurRad="12700" dist="50800" dir="2700000">
              <a:srgbClr val="000000">
                <a:alpha val="18000"/>
              </a:srgbClr>
            </a:outerShdw>
          </a:effectLst>
        </p:spPr>
      </p:sp>
      <p:sp>
        <p:nvSpPr>
          <p:cNvPr id="10" name="Shape 8"/>
          <p:cNvSpPr/>
          <p:nvPr/>
        </p:nvSpPr>
        <p:spPr>
          <a:xfrm>
            <a:off x="841248" y="1901952"/>
            <a:ext cx="1325880" cy="310896"/>
          </a:xfrm>
          <a:prstGeom prst="roundRect">
            <a:avLst/>
          </a:prstGeom>
          <a:solidFill>
            <a:srgbClr val="153246"/>
          </a:solidFill>
          <a:ln w="13970">
            <a:solidFill>
              <a:srgbClr val="F2B65D"/>
            </a:solidFill>
            <a:prstDash val="solid"/>
          </a:ln>
        </p:spPr>
      </p:sp>
      <p:sp>
        <p:nvSpPr>
          <p:cNvPr id="11" name="Text 9"/>
          <p:cNvSpPr/>
          <p:nvPr/>
        </p:nvSpPr>
        <p:spPr>
          <a:xfrm>
            <a:off x="914400" y="1947672"/>
            <a:ext cx="1179576" cy="201168"/>
          </a:xfrm>
          <a:prstGeom prst="rect">
            <a:avLst/>
          </a:prstGeom>
          <a:noFill/>
          <a:ln/>
        </p:spPr>
        <p:txBody>
          <a:bodyPr wrap="square" lIns="0" tIns="0" rIns="0" bIns="0" rtlCol="0" anchor="ctr">
            <a:normAutofit/>
          </a:bodyPr>
          <a:lstStyle/>
          <a:p>
            <a:pPr algn="ctr" indent="0" marL="0">
              <a:buNone/>
            </a:pPr>
            <a:r>
              <a:rPr lang="en-US" sz="1000" b="1" dirty="0">
                <a:solidFill>
                  <a:srgbClr val="F2B65D"/>
                </a:solidFill>
                <a:latin typeface="Noto Sans CJK JP" pitchFamily="34" charset="0"/>
                <a:ea typeface="Noto Sans CJK JP" pitchFamily="34" charset="-122"/>
                <a:cs typeface="Noto Sans CJK JP" pitchFamily="34" charset="-120"/>
              </a:rPr>
              <a:t>p進弦理論</a:t>
            </a:r>
            <a:endParaRPr lang="en-US" sz="1000" dirty="0"/>
          </a:p>
        </p:txBody>
      </p:sp>
      <p:sp>
        <p:nvSpPr>
          <p:cNvPr id="12" name="Text 10"/>
          <p:cNvSpPr/>
          <p:nvPr/>
        </p:nvSpPr>
        <p:spPr>
          <a:xfrm>
            <a:off x="841248" y="2359152"/>
            <a:ext cx="2286000" cy="320040"/>
          </a:xfrm>
          <a:prstGeom prst="rect">
            <a:avLst/>
          </a:prstGeom>
          <a:noFill/>
          <a:ln/>
        </p:spPr>
        <p:txBody>
          <a:bodyPr wrap="square" lIns="0" tIns="0" rIns="0" bIns="0" rtlCol="0" anchor="ctr"/>
          <a:lstStyle/>
          <a:p>
            <a:pPr indent="0" marL="0">
              <a:buNone/>
            </a:pPr>
            <a:r>
              <a:rPr lang="en-US" sz="1700" b="1" dirty="0">
                <a:solidFill>
                  <a:srgbClr val="F4F7FA"/>
                </a:solidFill>
                <a:latin typeface="Noto Sans CJK JP" pitchFamily="34" charset="0"/>
                <a:ea typeface="Noto Sans CJK JP" pitchFamily="34" charset="-122"/>
                <a:cs typeface="Noto Sans CJK JP" pitchFamily="34" charset="-120"/>
              </a:rPr>
              <a:t>世界面の境界積分を置換</a:t>
            </a:r>
            <a:endParaRPr lang="en-US" sz="1700" dirty="0"/>
          </a:p>
        </p:txBody>
      </p:sp>
      <p:sp>
        <p:nvSpPr>
          <p:cNvPr id="13" name="Shape 11"/>
          <p:cNvSpPr/>
          <p:nvPr/>
        </p:nvSpPr>
        <p:spPr>
          <a:xfrm>
            <a:off x="868680" y="2953512"/>
            <a:ext cx="1024128" cy="960120"/>
          </a:xfrm>
          <a:prstGeom prst="roundRect">
            <a:avLst>
              <a:gd name="adj" fmla="val 11429"/>
            </a:avLst>
          </a:prstGeom>
          <a:solidFill>
            <a:srgbClr val="153246"/>
          </a:solidFill>
          <a:ln w="12700">
            <a:solidFill>
              <a:srgbClr val="A9BBC9"/>
            </a:solidFill>
            <a:prstDash val="solid"/>
          </a:ln>
        </p:spPr>
      </p:sp>
      <p:sp>
        <p:nvSpPr>
          <p:cNvPr id="14" name="Text 12"/>
          <p:cNvSpPr/>
          <p:nvPr/>
        </p:nvSpPr>
        <p:spPr>
          <a:xfrm>
            <a:off x="941832" y="3182112"/>
            <a:ext cx="877824" cy="475488"/>
          </a:xfrm>
          <a:prstGeom prst="rect">
            <a:avLst/>
          </a:prstGeom>
          <a:noFill/>
          <a:ln/>
        </p:spPr>
        <p:txBody>
          <a:bodyPr wrap="square" lIns="0" tIns="0" rIns="0" bIns="0" rtlCol="0" anchor="ctr">
            <a:normAutofit/>
          </a:bodyPr>
          <a:lstStyle/>
          <a:p>
            <a:pPr algn="ctr" indent="0" marL="0">
              <a:buNone/>
            </a:pPr>
            <a:r>
              <a:rPr lang="en-US" sz="1150" b="1" dirty="0">
                <a:solidFill>
                  <a:srgbClr val="F4F7FA"/>
                </a:solidFill>
                <a:latin typeface="Noto Sans CJK JP" pitchFamily="34" charset="0"/>
                <a:ea typeface="Noto Sans CJK JP" pitchFamily="34" charset="-122"/>
                <a:cs typeface="Noto Sans CJK JP" pitchFamily="34" charset="-120"/>
              </a:rPr>
              <a:t>実数上の弦振幅</a:t>
            </a:r>
            <a:endParaRPr lang="en-US" sz="1150" dirty="0"/>
          </a:p>
        </p:txBody>
      </p:sp>
      <p:sp>
        <p:nvSpPr>
          <p:cNvPr id="15" name="Shape 13"/>
          <p:cNvSpPr/>
          <p:nvPr/>
        </p:nvSpPr>
        <p:spPr>
          <a:xfrm>
            <a:off x="1911096" y="3255264"/>
            <a:ext cx="256032" cy="320040"/>
          </a:xfrm>
          <a:prstGeom prst="chevron">
            <a:avLst/>
          </a:prstGeom>
          <a:solidFill>
            <a:srgbClr val="2B4658"/>
          </a:solidFill>
          <a:ln w="12700">
            <a:solidFill>
              <a:srgbClr val="2B4658"/>
            </a:solidFill>
            <a:prstDash val="solid"/>
          </a:ln>
        </p:spPr>
      </p:sp>
      <p:sp>
        <p:nvSpPr>
          <p:cNvPr id="16" name="Shape 14"/>
          <p:cNvSpPr/>
          <p:nvPr/>
        </p:nvSpPr>
        <p:spPr>
          <a:xfrm>
            <a:off x="2103120" y="2953512"/>
            <a:ext cx="1024128" cy="960120"/>
          </a:xfrm>
          <a:prstGeom prst="roundRect">
            <a:avLst>
              <a:gd name="adj" fmla="val 11429"/>
            </a:avLst>
          </a:prstGeom>
          <a:solidFill>
            <a:srgbClr val="153246"/>
          </a:solidFill>
          <a:ln w="12700">
            <a:solidFill>
              <a:srgbClr val="F2B65D"/>
            </a:solidFill>
            <a:prstDash val="solid"/>
          </a:ln>
        </p:spPr>
      </p:sp>
      <p:sp>
        <p:nvSpPr>
          <p:cNvPr id="17" name="Text 15"/>
          <p:cNvSpPr/>
          <p:nvPr/>
        </p:nvSpPr>
        <p:spPr>
          <a:xfrm>
            <a:off x="2176272" y="3182112"/>
            <a:ext cx="877824" cy="475488"/>
          </a:xfrm>
          <a:prstGeom prst="rect">
            <a:avLst/>
          </a:prstGeom>
          <a:noFill/>
          <a:ln/>
        </p:spPr>
        <p:txBody>
          <a:bodyPr wrap="square" lIns="0" tIns="0" rIns="0" bIns="0" rtlCol="0" anchor="ctr">
            <a:normAutofit/>
          </a:bodyPr>
          <a:lstStyle/>
          <a:p>
            <a:pPr algn="ctr" indent="0" marL="0">
              <a:buNone/>
            </a:pPr>
            <a:r>
              <a:rPr lang="en-US" sz="1150" b="1" dirty="0">
                <a:solidFill>
                  <a:srgbClr val="F4F7FA"/>
                </a:solidFill>
                <a:latin typeface="Noto Sans CJK JP" pitchFamily="34" charset="0"/>
                <a:ea typeface="Noto Sans CJK JP" pitchFamily="34" charset="-122"/>
                <a:cs typeface="Noto Sans CJK JP" pitchFamily="34" charset="-120"/>
              </a:rPr>
              <a:t>p進数上の積分</a:t>
            </a:r>
            <a:endParaRPr lang="en-US" sz="1150" dirty="0"/>
          </a:p>
        </p:txBody>
      </p:sp>
      <p:sp>
        <p:nvSpPr>
          <p:cNvPr id="18" name="Shape 16"/>
          <p:cNvSpPr/>
          <p:nvPr/>
        </p:nvSpPr>
        <p:spPr>
          <a:xfrm>
            <a:off x="3145536" y="3255264"/>
            <a:ext cx="256032" cy="320040"/>
          </a:xfrm>
          <a:prstGeom prst="chevron">
            <a:avLst/>
          </a:prstGeom>
          <a:solidFill>
            <a:srgbClr val="2B4658"/>
          </a:solidFill>
          <a:ln w="12700">
            <a:solidFill>
              <a:srgbClr val="2B4658"/>
            </a:solidFill>
            <a:prstDash val="solid"/>
          </a:ln>
        </p:spPr>
      </p:sp>
      <p:sp>
        <p:nvSpPr>
          <p:cNvPr id="19" name="Shape 17"/>
          <p:cNvSpPr/>
          <p:nvPr/>
        </p:nvSpPr>
        <p:spPr>
          <a:xfrm>
            <a:off x="3337560" y="2953512"/>
            <a:ext cx="1024128" cy="960120"/>
          </a:xfrm>
          <a:prstGeom prst="roundRect">
            <a:avLst>
              <a:gd name="adj" fmla="val 11429"/>
            </a:avLst>
          </a:prstGeom>
          <a:solidFill>
            <a:srgbClr val="153246"/>
          </a:solidFill>
          <a:ln w="12700">
            <a:solidFill>
              <a:srgbClr val="55D8E0"/>
            </a:solidFill>
            <a:prstDash val="solid"/>
          </a:ln>
        </p:spPr>
      </p:sp>
      <p:sp>
        <p:nvSpPr>
          <p:cNvPr id="20" name="Text 18"/>
          <p:cNvSpPr/>
          <p:nvPr/>
        </p:nvSpPr>
        <p:spPr>
          <a:xfrm>
            <a:off x="3410712" y="3182112"/>
            <a:ext cx="877824" cy="475488"/>
          </a:xfrm>
          <a:prstGeom prst="rect">
            <a:avLst/>
          </a:prstGeom>
          <a:noFill/>
          <a:ln/>
        </p:spPr>
        <p:txBody>
          <a:bodyPr wrap="square" lIns="0" tIns="0" rIns="0" bIns="0" rtlCol="0" anchor="ctr">
            <a:normAutofit/>
          </a:bodyPr>
          <a:lstStyle/>
          <a:p>
            <a:pPr algn="ctr" indent="0" marL="0">
              <a:buNone/>
            </a:pPr>
            <a:r>
              <a:rPr lang="en-US" sz="1150" b="1" dirty="0">
                <a:solidFill>
                  <a:srgbClr val="F4F7FA"/>
                </a:solidFill>
                <a:latin typeface="Noto Sans CJK JP" pitchFamily="34" charset="0"/>
                <a:ea typeface="Noto Sans CJK JP" pitchFamily="34" charset="-122"/>
                <a:cs typeface="Noto Sans CJK JP" pitchFamily="34" charset="-120"/>
              </a:rPr>
              <a:t>厳密なタキオン作用</a:t>
            </a:r>
            <a:endParaRPr lang="en-US" sz="1150" dirty="0"/>
          </a:p>
        </p:txBody>
      </p:sp>
      <p:sp>
        <p:nvSpPr>
          <p:cNvPr id="21" name="Shape 19"/>
          <p:cNvSpPr/>
          <p:nvPr/>
        </p:nvSpPr>
        <p:spPr>
          <a:xfrm>
            <a:off x="4379976" y="3255264"/>
            <a:ext cx="256032" cy="320040"/>
          </a:xfrm>
          <a:prstGeom prst="chevron">
            <a:avLst/>
          </a:prstGeom>
          <a:solidFill>
            <a:srgbClr val="2B4658"/>
          </a:solidFill>
          <a:ln w="12700">
            <a:solidFill>
              <a:srgbClr val="2B4658"/>
            </a:solidFill>
            <a:prstDash val="solid"/>
          </a:ln>
        </p:spPr>
      </p:sp>
      <p:sp>
        <p:nvSpPr>
          <p:cNvPr id="22" name="Shape 20"/>
          <p:cNvSpPr/>
          <p:nvPr/>
        </p:nvSpPr>
        <p:spPr>
          <a:xfrm>
            <a:off x="4572000" y="2953512"/>
            <a:ext cx="1024128" cy="960120"/>
          </a:xfrm>
          <a:prstGeom prst="roundRect">
            <a:avLst>
              <a:gd name="adj" fmla="val 11429"/>
            </a:avLst>
          </a:prstGeom>
          <a:solidFill>
            <a:srgbClr val="153246"/>
          </a:solidFill>
          <a:ln w="12700">
            <a:solidFill>
              <a:srgbClr val="67D3A5"/>
            </a:solidFill>
            <a:prstDash val="solid"/>
          </a:ln>
        </p:spPr>
      </p:sp>
      <p:sp>
        <p:nvSpPr>
          <p:cNvPr id="23" name="Text 21"/>
          <p:cNvSpPr/>
          <p:nvPr/>
        </p:nvSpPr>
        <p:spPr>
          <a:xfrm>
            <a:off x="4645152" y="3182112"/>
            <a:ext cx="877824" cy="475488"/>
          </a:xfrm>
          <a:prstGeom prst="rect">
            <a:avLst/>
          </a:prstGeom>
          <a:noFill/>
          <a:ln/>
        </p:spPr>
        <p:txBody>
          <a:bodyPr wrap="square" lIns="0" tIns="0" rIns="0" bIns="0" rtlCol="0" anchor="ctr">
            <a:normAutofit/>
          </a:bodyPr>
          <a:lstStyle/>
          <a:p>
            <a:pPr algn="ctr" indent="0" marL="0">
              <a:buNone/>
            </a:pPr>
            <a:r>
              <a:rPr lang="en-US" sz="1150" b="1" dirty="0">
                <a:solidFill>
                  <a:srgbClr val="F4F7FA"/>
                </a:solidFill>
                <a:latin typeface="Noto Sans CJK JP" pitchFamily="34" charset="0"/>
                <a:ea typeface="Noto Sans CJK JP" pitchFamily="34" charset="-122"/>
                <a:cs typeface="Noto Sans CJK JP" pitchFamily="34" charset="-120"/>
              </a:rPr>
              <a:t>Dブレーン lump</a:t>
            </a:r>
            <a:endParaRPr lang="en-US" sz="1150" dirty="0"/>
          </a:p>
        </p:txBody>
      </p:sp>
      <p:sp>
        <p:nvSpPr>
          <p:cNvPr id="24" name="Text 22"/>
          <p:cNvSpPr/>
          <p:nvPr/>
        </p:nvSpPr>
        <p:spPr>
          <a:xfrm>
            <a:off x="914400" y="4709160"/>
            <a:ext cx="2011680" cy="274320"/>
          </a:xfrm>
          <a:prstGeom prst="rect">
            <a:avLst/>
          </a:prstGeom>
          <a:noFill/>
          <a:ln/>
        </p:spPr>
        <p:txBody>
          <a:bodyPr wrap="square" lIns="0" tIns="0" rIns="0" bIns="0" rtlCol="0" anchor="ctr"/>
          <a:lstStyle/>
          <a:p>
            <a:pPr indent="0" marL="0">
              <a:buNone/>
            </a:pPr>
            <a:r>
              <a:rPr lang="en-US" sz="1300" b="1" dirty="0">
                <a:solidFill>
                  <a:srgbClr val="F2B65D"/>
                </a:solidFill>
                <a:latin typeface="Noto Sans CJK JP" pitchFamily="34" charset="0"/>
                <a:ea typeface="Noto Sans CJK JP" pitchFamily="34" charset="-122"/>
                <a:cs typeface="Noto Sans CJK JP" pitchFamily="34" charset="-120"/>
              </a:rPr>
              <a:t>木の役割：世界面の内部</a:t>
            </a:r>
            <a:endParaRPr lang="en-US" sz="1300" dirty="0"/>
          </a:p>
        </p:txBody>
      </p:sp>
      <p:sp>
        <p:nvSpPr>
          <p:cNvPr id="25" name="Text 23"/>
          <p:cNvSpPr/>
          <p:nvPr/>
        </p:nvSpPr>
        <p:spPr>
          <a:xfrm>
            <a:off x="914400" y="5074920"/>
            <a:ext cx="4480560" cy="548640"/>
          </a:xfrm>
          <a:prstGeom prst="rect">
            <a:avLst/>
          </a:prstGeom>
          <a:noFill/>
          <a:ln/>
        </p:spPr>
        <p:txBody>
          <a:bodyPr wrap="square" lIns="0" tIns="0" rIns="0" bIns="0" rtlCol="0" anchor="ctr">
            <a:normAutofit/>
          </a:bodyPr>
          <a:lstStyle/>
          <a:p>
            <a:pPr indent="0" marL="0">
              <a:buNone/>
            </a:pPr>
            <a:r>
              <a:rPr lang="en-US" sz="1350" dirty="0">
                <a:solidFill>
                  <a:srgbClr val="A9BBC9"/>
                </a:solidFill>
                <a:latin typeface="Noto Sans CJK JP" pitchFamily="34" charset="0"/>
                <a:ea typeface="Noto Sans CJK JP" pitchFamily="34" charset="-122"/>
                <a:cs typeface="Noto Sans CJK JP" pitchFamily="34" charset="-120"/>
              </a:rPr>
              <a:t>境界がp進数になるグラフ世界面を考える。標的時空は通常の実数時空のまま。</a:t>
            </a:r>
            <a:endParaRPr lang="en-US" sz="1350" dirty="0"/>
          </a:p>
        </p:txBody>
      </p:sp>
      <p:sp>
        <p:nvSpPr>
          <p:cNvPr id="26" name="Shape 24"/>
          <p:cNvSpPr/>
          <p:nvPr/>
        </p:nvSpPr>
        <p:spPr>
          <a:xfrm>
            <a:off x="6199632" y="1664208"/>
            <a:ext cx="5440680" cy="4370832"/>
          </a:xfrm>
          <a:prstGeom prst="roundRect">
            <a:avLst>
              <a:gd name="adj" fmla="val 2510"/>
            </a:avLst>
          </a:prstGeom>
          <a:solidFill>
            <a:srgbClr val="0D2231"/>
          </a:solidFill>
          <a:ln w="12700">
            <a:solidFill>
              <a:srgbClr val="A58AE8"/>
            </a:solidFill>
            <a:prstDash val="solid"/>
          </a:ln>
          <a:effectLst>
            <a:outerShdw sx="100000" sy="100000" kx="0" ky="0" algn="bl" rotWithShape="0" blurRad="12700" dist="50800" dir="2700000">
              <a:srgbClr val="000000">
                <a:alpha val="18000"/>
              </a:srgbClr>
            </a:outerShdw>
          </a:effectLst>
        </p:spPr>
      </p:sp>
      <p:sp>
        <p:nvSpPr>
          <p:cNvPr id="27" name="Shape 25"/>
          <p:cNvSpPr/>
          <p:nvPr/>
        </p:nvSpPr>
        <p:spPr>
          <a:xfrm>
            <a:off x="6492240" y="1901952"/>
            <a:ext cx="1508760" cy="310896"/>
          </a:xfrm>
          <a:prstGeom prst="roundRect">
            <a:avLst/>
          </a:prstGeom>
          <a:solidFill>
            <a:srgbClr val="153246"/>
          </a:solidFill>
          <a:ln w="13970">
            <a:solidFill>
              <a:srgbClr val="A58AE8"/>
            </a:solidFill>
            <a:prstDash val="solid"/>
          </a:ln>
        </p:spPr>
      </p:sp>
      <p:sp>
        <p:nvSpPr>
          <p:cNvPr id="28" name="Text 26"/>
          <p:cNvSpPr/>
          <p:nvPr/>
        </p:nvSpPr>
        <p:spPr>
          <a:xfrm>
            <a:off x="6565392" y="1947672"/>
            <a:ext cx="1362456" cy="201168"/>
          </a:xfrm>
          <a:prstGeom prst="rect">
            <a:avLst/>
          </a:prstGeom>
          <a:noFill/>
          <a:ln/>
        </p:spPr>
        <p:txBody>
          <a:bodyPr wrap="square" lIns="0" tIns="0" rIns="0" bIns="0" rtlCol="0" anchor="ctr">
            <a:normAutofit/>
          </a:bodyPr>
          <a:lstStyle/>
          <a:p>
            <a:pPr algn="ctr" indent="0" marL="0">
              <a:buNone/>
            </a:pPr>
            <a:r>
              <a:rPr lang="en-US" sz="1000" b="1" dirty="0">
                <a:solidFill>
                  <a:srgbClr val="A58AE8"/>
                </a:solidFill>
                <a:latin typeface="Noto Sans CJK JP" pitchFamily="34" charset="0"/>
                <a:ea typeface="Noto Sans CJK JP" pitchFamily="34" charset="-122"/>
                <a:cs typeface="Noto Sans CJK JP" pitchFamily="34" charset="-120"/>
              </a:rPr>
              <a:t>p進 AdS/CFT</a:t>
            </a:r>
            <a:endParaRPr lang="en-US" sz="1000" dirty="0"/>
          </a:p>
        </p:txBody>
      </p:sp>
      <p:sp>
        <p:nvSpPr>
          <p:cNvPr id="29" name="Text 27"/>
          <p:cNvSpPr/>
          <p:nvPr/>
        </p:nvSpPr>
        <p:spPr>
          <a:xfrm>
            <a:off x="6492240" y="2359152"/>
            <a:ext cx="2651760" cy="320040"/>
          </a:xfrm>
          <a:prstGeom prst="rect">
            <a:avLst/>
          </a:prstGeom>
          <a:noFill/>
          <a:ln/>
        </p:spPr>
        <p:txBody>
          <a:bodyPr wrap="square" lIns="0" tIns="0" rIns="0" bIns="0" rtlCol="0" anchor="ctr"/>
          <a:lstStyle/>
          <a:p>
            <a:pPr indent="0" marL="0">
              <a:buNone/>
            </a:pPr>
            <a:r>
              <a:rPr lang="en-US" sz="1700" b="1" dirty="0">
                <a:solidFill>
                  <a:srgbClr val="F4F7FA"/>
                </a:solidFill>
                <a:latin typeface="Noto Sans CJK JP" pitchFamily="34" charset="0"/>
                <a:ea typeface="Noto Sans CJK JP" pitchFamily="34" charset="-122"/>
                <a:cs typeface="Noto Sans CJK JP" pitchFamily="34" charset="-120"/>
              </a:rPr>
              <a:t>境界時空とバルク幾何を置換</a:t>
            </a:r>
            <a:endParaRPr lang="en-US" sz="1700" dirty="0"/>
          </a:p>
        </p:txBody>
      </p:sp>
      <p:sp>
        <p:nvSpPr>
          <p:cNvPr id="30" name="Shape 28"/>
          <p:cNvSpPr/>
          <p:nvPr/>
        </p:nvSpPr>
        <p:spPr>
          <a:xfrm>
            <a:off x="6510528" y="2953512"/>
            <a:ext cx="1024128" cy="960120"/>
          </a:xfrm>
          <a:prstGeom prst="roundRect">
            <a:avLst>
              <a:gd name="adj" fmla="val 11429"/>
            </a:avLst>
          </a:prstGeom>
          <a:solidFill>
            <a:srgbClr val="153246"/>
          </a:solidFill>
          <a:ln w="12700">
            <a:solidFill>
              <a:srgbClr val="A58AE8"/>
            </a:solidFill>
            <a:prstDash val="solid"/>
          </a:ln>
        </p:spPr>
      </p:sp>
      <p:sp>
        <p:nvSpPr>
          <p:cNvPr id="31" name="Text 29"/>
          <p:cNvSpPr/>
          <p:nvPr/>
        </p:nvSpPr>
        <p:spPr>
          <a:xfrm>
            <a:off x="6583680" y="3182112"/>
            <a:ext cx="877824" cy="475488"/>
          </a:xfrm>
          <a:prstGeom prst="rect">
            <a:avLst/>
          </a:prstGeom>
          <a:noFill/>
          <a:ln/>
        </p:spPr>
        <p:txBody>
          <a:bodyPr wrap="square" lIns="0" tIns="0" rIns="0" bIns="0" rtlCol="0" anchor="ctr">
            <a:normAutofit/>
          </a:bodyPr>
          <a:lstStyle/>
          <a:p>
            <a:pPr algn="ctr" indent="0" marL="0">
              <a:buNone/>
            </a:pPr>
            <a:r>
              <a:rPr lang="en-US" sz="1150" b="1" dirty="0">
                <a:solidFill>
                  <a:srgbClr val="F4F7FA"/>
                </a:solidFill>
                <a:latin typeface="Noto Sans CJK JP" pitchFamily="34" charset="0"/>
                <a:ea typeface="Noto Sans CJK JP" pitchFamily="34" charset="-122"/>
                <a:cs typeface="Noto Sans CJK JP" pitchFamily="34" charset="-120"/>
              </a:rPr>
              <a:t>p進 CFT</a:t>
            </a:r>
            <a:endParaRPr lang="en-US" sz="1150" dirty="0"/>
          </a:p>
        </p:txBody>
      </p:sp>
      <p:sp>
        <p:nvSpPr>
          <p:cNvPr id="32" name="Shape 30"/>
          <p:cNvSpPr/>
          <p:nvPr/>
        </p:nvSpPr>
        <p:spPr>
          <a:xfrm>
            <a:off x="7552944" y="3255264"/>
            <a:ext cx="256032" cy="320040"/>
          </a:xfrm>
          <a:prstGeom prst="chevron">
            <a:avLst/>
          </a:prstGeom>
          <a:solidFill>
            <a:srgbClr val="2B4658"/>
          </a:solidFill>
          <a:ln w="12700">
            <a:solidFill>
              <a:srgbClr val="2B4658"/>
            </a:solidFill>
            <a:prstDash val="solid"/>
          </a:ln>
        </p:spPr>
      </p:sp>
      <p:sp>
        <p:nvSpPr>
          <p:cNvPr id="33" name="Shape 31"/>
          <p:cNvSpPr/>
          <p:nvPr/>
        </p:nvSpPr>
        <p:spPr>
          <a:xfrm>
            <a:off x="7744968" y="2953512"/>
            <a:ext cx="1024128" cy="960120"/>
          </a:xfrm>
          <a:prstGeom prst="roundRect">
            <a:avLst>
              <a:gd name="adj" fmla="val 11429"/>
            </a:avLst>
          </a:prstGeom>
          <a:solidFill>
            <a:srgbClr val="153246"/>
          </a:solidFill>
          <a:ln w="12700">
            <a:solidFill>
              <a:srgbClr val="55D8E0"/>
            </a:solidFill>
            <a:prstDash val="solid"/>
          </a:ln>
        </p:spPr>
      </p:sp>
      <p:sp>
        <p:nvSpPr>
          <p:cNvPr id="34" name="Text 32"/>
          <p:cNvSpPr/>
          <p:nvPr/>
        </p:nvSpPr>
        <p:spPr>
          <a:xfrm>
            <a:off x="7818120" y="3182112"/>
            <a:ext cx="877824" cy="475488"/>
          </a:xfrm>
          <a:prstGeom prst="rect">
            <a:avLst/>
          </a:prstGeom>
          <a:noFill/>
          <a:ln/>
        </p:spPr>
        <p:txBody>
          <a:bodyPr wrap="square" lIns="0" tIns="0" rIns="0" bIns="0" rtlCol="0" anchor="ctr">
            <a:normAutofit/>
          </a:bodyPr>
          <a:lstStyle/>
          <a:p>
            <a:pPr algn="ctr" indent="0" marL="0">
              <a:buNone/>
            </a:pPr>
            <a:r>
              <a:rPr lang="en-US" sz="1150" b="1" dirty="0">
                <a:solidFill>
                  <a:srgbClr val="F4F7FA"/>
                </a:solidFill>
                <a:latin typeface="Noto Sans CJK JP" pitchFamily="34" charset="0"/>
                <a:ea typeface="Noto Sans CJK JP" pitchFamily="34" charset="-122"/>
                <a:cs typeface="Noto Sans CJK JP" pitchFamily="34" charset="-120"/>
              </a:rPr>
              <a:t>木上のバルク場</a:t>
            </a:r>
            <a:endParaRPr lang="en-US" sz="1150" dirty="0"/>
          </a:p>
        </p:txBody>
      </p:sp>
      <p:sp>
        <p:nvSpPr>
          <p:cNvPr id="35" name="Shape 33"/>
          <p:cNvSpPr/>
          <p:nvPr/>
        </p:nvSpPr>
        <p:spPr>
          <a:xfrm>
            <a:off x="8787384" y="3255264"/>
            <a:ext cx="256032" cy="320040"/>
          </a:xfrm>
          <a:prstGeom prst="chevron">
            <a:avLst/>
          </a:prstGeom>
          <a:solidFill>
            <a:srgbClr val="2B4658"/>
          </a:solidFill>
          <a:ln w="12700">
            <a:solidFill>
              <a:srgbClr val="2B4658"/>
            </a:solidFill>
            <a:prstDash val="solid"/>
          </a:ln>
        </p:spPr>
      </p:sp>
      <p:sp>
        <p:nvSpPr>
          <p:cNvPr id="36" name="Shape 34"/>
          <p:cNvSpPr/>
          <p:nvPr/>
        </p:nvSpPr>
        <p:spPr>
          <a:xfrm>
            <a:off x="8979408" y="2953512"/>
            <a:ext cx="1024128" cy="960120"/>
          </a:xfrm>
          <a:prstGeom prst="roundRect">
            <a:avLst>
              <a:gd name="adj" fmla="val 11429"/>
            </a:avLst>
          </a:prstGeom>
          <a:solidFill>
            <a:srgbClr val="153246"/>
          </a:solidFill>
          <a:ln w="12700">
            <a:solidFill>
              <a:srgbClr val="67D3A5"/>
            </a:solidFill>
            <a:prstDash val="solid"/>
          </a:ln>
        </p:spPr>
      </p:sp>
      <p:sp>
        <p:nvSpPr>
          <p:cNvPr id="37" name="Text 35"/>
          <p:cNvSpPr/>
          <p:nvPr/>
        </p:nvSpPr>
        <p:spPr>
          <a:xfrm>
            <a:off x="9052560" y="3182112"/>
            <a:ext cx="877824" cy="475488"/>
          </a:xfrm>
          <a:prstGeom prst="rect">
            <a:avLst/>
          </a:prstGeom>
          <a:noFill/>
          <a:ln/>
        </p:spPr>
        <p:txBody>
          <a:bodyPr wrap="square" lIns="0" tIns="0" rIns="0" bIns="0" rtlCol="0" anchor="ctr">
            <a:normAutofit/>
          </a:bodyPr>
          <a:lstStyle/>
          <a:p>
            <a:pPr algn="ctr" indent="0" marL="0">
              <a:buNone/>
            </a:pPr>
            <a:r>
              <a:rPr lang="en-US" sz="1150" b="1" dirty="0">
                <a:solidFill>
                  <a:srgbClr val="F4F7FA"/>
                </a:solidFill>
                <a:latin typeface="Noto Sans CJK JP" pitchFamily="34" charset="0"/>
                <a:ea typeface="Noto Sans CJK JP" pitchFamily="34" charset="-122"/>
                <a:cs typeface="Noto Sans CJK JP" pitchFamily="34" charset="-120"/>
              </a:rPr>
              <a:t>相関関数</a:t>
            </a:r>
            <a:endParaRPr lang="en-US" sz="1150" dirty="0"/>
          </a:p>
        </p:txBody>
      </p:sp>
      <p:sp>
        <p:nvSpPr>
          <p:cNvPr id="38" name="Shape 36"/>
          <p:cNvSpPr/>
          <p:nvPr/>
        </p:nvSpPr>
        <p:spPr>
          <a:xfrm>
            <a:off x="10021824" y="3255264"/>
            <a:ext cx="256032" cy="320040"/>
          </a:xfrm>
          <a:prstGeom prst="chevron">
            <a:avLst/>
          </a:prstGeom>
          <a:solidFill>
            <a:srgbClr val="2B4658"/>
          </a:solidFill>
          <a:ln w="12700">
            <a:solidFill>
              <a:srgbClr val="2B4658"/>
            </a:solidFill>
            <a:prstDash val="solid"/>
          </a:ln>
        </p:spPr>
      </p:sp>
      <p:sp>
        <p:nvSpPr>
          <p:cNvPr id="39" name="Shape 37"/>
          <p:cNvSpPr/>
          <p:nvPr/>
        </p:nvSpPr>
        <p:spPr>
          <a:xfrm>
            <a:off x="10213848" y="2953512"/>
            <a:ext cx="1024128" cy="960120"/>
          </a:xfrm>
          <a:prstGeom prst="roundRect">
            <a:avLst>
              <a:gd name="adj" fmla="val 11429"/>
            </a:avLst>
          </a:prstGeom>
          <a:solidFill>
            <a:srgbClr val="153246"/>
          </a:solidFill>
          <a:ln w="12700">
            <a:solidFill>
              <a:srgbClr val="F2B65D"/>
            </a:solidFill>
            <a:prstDash val="solid"/>
          </a:ln>
        </p:spPr>
      </p:sp>
      <p:sp>
        <p:nvSpPr>
          <p:cNvPr id="40" name="Text 38"/>
          <p:cNvSpPr/>
          <p:nvPr/>
        </p:nvSpPr>
        <p:spPr>
          <a:xfrm>
            <a:off x="10287000" y="3182112"/>
            <a:ext cx="877824" cy="475488"/>
          </a:xfrm>
          <a:prstGeom prst="rect">
            <a:avLst/>
          </a:prstGeom>
          <a:noFill/>
          <a:ln/>
        </p:spPr>
        <p:txBody>
          <a:bodyPr wrap="square" lIns="0" tIns="0" rIns="0" bIns="0" rtlCol="0" anchor="ctr">
            <a:normAutofit/>
          </a:bodyPr>
          <a:lstStyle/>
          <a:p>
            <a:pPr algn="ctr" indent="0" marL="0">
              <a:buNone/>
            </a:pPr>
            <a:r>
              <a:rPr lang="en-US" sz="1150" b="1" dirty="0">
                <a:solidFill>
                  <a:srgbClr val="F4F7FA"/>
                </a:solidFill>
                <a:latin typeface="Noto Sans CJK JP" pitchFamily="34" charset="0"/>
                <a:ea typeface="Noto Sans CJK JP" pitchFamily="34" charset="-122"/>
                <a:cs typeface="Noto Sans CJK JP" pitchFamily="34" charset="-120"/>
              </a:rPr>
              <a:t>テンソル網・重力</a:t>
            </a:r>
            <a:endParaRPr lang="en-US" sz="1150" dirty="0"/>
          </a:p>
        </p:txBody>
      </p:sp>
      <p:sp>
        <p:nvSpPr>
          <p:cNvPr id="41" name="Text 39"/>
          <p:cNvSpPr/>
          <p:nvPr/>
        </p:nvSpPr>
        <p:spPr>
          <a:xfrm>
            <a:off x="6565392" y="4709160"/>
            <a:ext cx="2926080" cy="274320"/>
          </a:xfrm>
          <a:prstGeom prst="rect">
            <a:avLst/>
          </a:prstGeom>
          <a:noFill/>
          <a:ln/>
        </p:spPr>
        <p:txBody>
          <a:bodyPr wrap="square" lIns="0" tIns="0" rIns="0" bIns="0" rtlCol="0" anchor="ctr"/>
          <a:lstStyle/>
          <a:p>
            <a:pPr indent="0" marL="0">
              <a:buNone/>
            </a:pPr>
            <a:r>
              <a:rPr lang="en-US" sz="1300" b="1" dirty="0">
                <a:solidFill>
                  <a:srgbClr val="A58AE8"/>
                </a:solidFill>
                <a:latin typeface="Noto Sans CJK JP" pitchFamily="34" charset="0"/>
                <a:ea typeface="Noto Sans CJK JP" pitchFamily="34" charset="-122"/>
                <a:cs typeface="Noto Sans CJK JP" pitchFamily="34" charset="-120"/>
              </a:rPr>
              <a:t>木の役割：ホログラフィーのバルク時空</a:t>
            </a:r>
            <a:endParaRPr lang="en-US" sz="1300" dirty="0"/>
          </a:p>
        </p:txBody>
      </p:sp>
      <p:sp>
        <p:nvSpPr>
          <p:cNvPr id="42" name="Text 40"/>
          <p:cNvSpPr/>
          <p:nvPr/>
        </p:nvSpPr>
        <p:spPr>
          <a:xfrm>
            <a:off x="6565392" y="5074920"/>
            <a:ext cx="4480560" cy="548640"/>
          </a:xfrm>
          <a:prstGeom prst="rect">
            <a:avLst/>
          </a:prstGeom>
          <a:noFill/>
          <a:ln/>
        </p:spPr>
        <p:txBody>
          <a:bodyPr wrap="square" lIns="0" tIns="0" rIns="0" bIns="0" rtlCol="0" anchor="ctr">
            <a:normAutofit/>
          </a:bodyPr>
          <a:lstStyle/>
          <a:p>
            <a:pPr indent="0" marL="0">
              <a:buNone/>
            </a:pPr>
            <a:r>
              <a:rPr lang="en-US" sz="1350" dirty="0">
                <a:solidFill>
                  <a:srgbClr val="A9BBC9"/>
                </a:solidFill>
                <a:latin typeface="Noto Sans CJK JP" pitchFamily="34" charset="0"/>
                <a:ea typeface="Noto Sans CJK JP" pitchFamily="34" charset="-122"/>
                <a:cs typeface="Noto Sans CJK JP" pitchFamily="34" charset="-120"/>
              </a:rPr>
              <a:t>境界のp進 CFTを、ブルア・ティッツ木上の離散的な場の理論で記述する。</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FOUNDATIONS</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p進数：大きさを「素数で割れる回数」で測る</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通常の絶対値とは逆向きの距離感覚</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03</a:t>
            </a:r>
            <a:endParaRPr lang="en-US" sz="1000" dirty="0"/>
          </a:p>
        </p:txBody>
      </p:sp>
      <p:sp>
        <p:nvSpPr>
          <p:cNvPr id="8" name="Text 6"/>
          <p:cNvSpPr/>
          <p:nvPr/>
        </p:nvSpPr>
        <p:spPr>
          <a:xfrm>
            <a:off x="548640" y="6547104"/>
            <a:ext cx="9966960" cy="146304"/>
          </a:xfrm>
          <a:prstGeom prst="rect">
            <a:avLst/>
          </a:prstGeom>
          <a:noFill/>
          <a:ln/>
        </p:spPr>
        <p:txBody>
          <a:bodyPr wrap="square" lIns="0" tIns="0" rIns="0" bIns="0" rtlCol="0" anchor="ctr">
            <a:normAutofit/>
          </a:bodyPr>
          <a:lstStyle/>
          <a:p>
            <a:pPr indent="0" marL="0">
              <a:buNone/>
            </a:pPr>
            <a:r>
              <a:rPr lang="en-US" sz="730" dirty="0">
                <a:solidFill>
                  <a:srgbClr val="7890A1"/>
                </a:solidFill>
                <a:latin typeface="Noto Sans CJK JP" pitchFamily="34" charset="0"/>
                <a:ea typeface="Noto Sans CJK JP" pitchFamily="34" charset="-122"/>
                <a:cs typeface="Noto Sans CJK JP" pitchFamily="34" charset="-120"/>
              </a:rPr>
              <a:t>出典: Gubser et al., Commun. Math. Phys. 352 (2017), §2</a:t>
            </a:r>
            <a:endParaRPr lang="en-US" sz="730" dirty="0"/>
          </a:p>
        </p:txBody>
      </p:sp>
      <p:sp>
        <p:nvSpPr>
          <p:cNvPr id="9" name="Text 7"/>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3 / 24</a:t>
            </a:r>
            <a:endParaRPr lang="en-US" sz="750" dirty="0"/>
          </a:p>
        </p:txBody>
      </p:sp>
      <p:sp>
        <p:nvSpPr>
          <p:cNvPr id="10" name="Shape 8"/>
          <p:cNvSpPr/>
          <p:nvPr/>
        </p:nvSpPr>
        <p:spPr>
          <a:xfrm>
            <a:off x="548640" y="1682496"/>
            <a:ext cx="3840480" cy="4526280"/>
          </a:xfrm>
          <a:prstGeom prst="roundRect">
            <a:avLst>
              <a:gd name="adj" fmla="val 2857"/>
            </a:avLst>
          </a:prstGeom>
          <a:solidFill>
            <a:srgbClr val="0D2231"/>
          </a:solidFill>
          <a:ln w="12700">
            <a:solidFill>
              <a:srgbClr val="55D8E0"/>
            </a:solidFill>
            <a:prstDash val="solid"/>
          </a:ln>
          <a:effectLst>
            <a:outerShdw sx="100000" sy="100000" kx="0" ky="0" algn="bl" rotWithShape="0" blurRad="12700" dist="50800" dir="2700000">
              <a:srgbClr val="000000">
                <a:alpha val="18000"/>
              </a:srgbClr>
            </a:outerShdw>
          </a:effectLst>
        </p:spPr>
      </p:sp>
      <p:sp>
        <p:nvSpPr>
          <p:cNvPr id="11" name="Shape 9"/>
          <p:cNvSpPr/>
          <p:nvPr/>
        </p:nvSpPr>
        <p:spPr>
          <a:xfrm>
            <a:off x="822960" y="1901952"/>
            <a:ext cx="1097280" cy="310896"/>
          </a:xfrm>
          <a:prstGeom prst="roundRect">
            <a:avLst/>
          </a:prstGeom>
          <a:solidFill>
            <a:srgbClr val="153246"/>
          </a:solidFill>
          <a:ln w="13970">
            <a:solidFill>
              <a:srgbClr val="55D8E0"/>
            </a:solidFill>
            <a:prstDash val="solid"/>
          </a:ln>
        </p:spPr>
      </p:sp>
      <p:sp>
        <p:nvSpPr>
          <p:cNvPr id="12" name="Text 10"/>
          <p:cNvSpPr/>
          <p:nvPr/>
        </p:nvSpPr>
        <p:spPr>
          <a:xfrm>
            <a:off x="896112" y="1947672"/>
            <a:ext cx="950976" cy="201168"/>
          </a:xfrm>
          <a:prstGeom prst="rect">
            <a:avLst/>
          </a:prstGeom>
          <a:noFill/>
          <a:ln/>
        </p:spPr>
        <p:txBody>
          <a:bodyPr wrap="square" lIns="0" tIns="0" rIns="0" bIns="0" rtlCol="0" anchor="ctr">
            <a:normAutofit/>
          </a:bodyPr>
          <a:lstStyle/>
          <a:p>
            <a:pPr algn="ctr" indent="0" marL="0">
              <a:buNone/>
            </a:pPr>
            <a:r>
              <a:rPr lang="en-US" sz="1000" b="1" dirty="0">
                <a:solidFill>
                  <a:srgbClr val="55D8E0"/>
                </a:solidFill>
                <a:latin typeface="Noto Sans CJK JP" pitchFamily="34" charset="0"/>
                <a:ea typeface="Noto Sans CJK JP" pitchFamily="34" charset="-122"/>
                <a:cs typeface="Noto Sans CJK JP" pitchFamily="34" charset="-120"/>
              </a:rPr>
              <a:t>定義の直観</a:t>
            </a:r>
            <a:endParaRPr lang="en-US" sz="1000" dirty="0"/>
          </a:p>
        </p:txBody>
      </p:sp>
      <p:sp>
        <p:nvSpPr>
          <p:cNvPr id="13" name="Shape 11"/>
          <p:cNvSpPr/>
          <p:nvPr/>
        </p:nvSpPr>
        <p:spPr>
          <a:xfrm>
            <a:off x="841248" y="2542032"/>
            <a:ext cx="91440" cy="91440"/>
          </a:xfrm>
          <a:prstGeom prst="ellipse">
            <a:avLst/>
          </a:prstGeom>
          <a:solidFill>
            <a:srgbClr val="55D8E0"/>
          </a:solidFill>
          <a:ln w="12700">
            <a:solidFill>
              <a:srgbClr val="55D8E0"/>
            </a:solidFill>
            <a:prstDash val="solid"/>
          </a:ln>
        </p:spPr>
      </p:sp>
      <p:sp>
        <p:nvSpPr>
          <p:cNvPr id="14" name="Text 12"/>
          <p:cNvSpPr/>
          <p:nvPr/>
        </p:nvSpPr>
        <p:spPr>
          <a:xfrm>
            <a:off x="1024128" y="2423160"/>
            <a:ext cx="3063240" cy="658368"/>
          </a:xfrm>
          <a:prstGeom prst="rect">
            <a:avLst/>
          </a:prstGeom>
          <a:noFill/>
          <a:ln/>
        </p:spPr>
        <p:txBody>
          <a:bodyPr wrap="square" lIns="0" tIns="0" rIns="0" bIns="0" rtlCol="0" anchor="ctr">
            <a:normAutofit/>
          </a:bodyPr>
          <a:lstStyle/>
          <a:p>
            <a:pPr indent="0" marL="0">
              <a:buNone/>
            </a:pPr>
            <a:r>
              <a:rPr lang="en-US" sz="1450" dirty="0">
                <a:solidFill>
                  <a:srgbClr val="F4F7FA"/>
                </a:solidFill>
                <a:latin typeface="Noto Sans CJK JP" pitchFamily="34" charset="0"/>
                <a:ea typeface="Noto Sans CJK JP" pitchFamily="34" charset="-122"/>
                <a:cs typeface="Noto Sans CJK JP" pitchFamily="34" charset="-120"/>
              </a:rPr>
              <a:t>非ゼロの有理数を、素数 p の冪と単元に分解する</a:t>
            </a:r>
            <a:endParaRPr lang="en-US" sz="1450" dirty="0"/>
          </a:p>
        </p:txBody>
      </p:sp>
      <p:sp>
        <p:nvSpPr>
          <p:cNvPr id="15" name="Shape 13"/>
          <p:cNvSpPr/>
          <p:nvPr/>
        </p:nvSpPr>
        <p:spPr>
          <a:xfrm>
            <a:off x="841248" y="3200400"/>
            <a:ext cx="91440" cy="91440"/>
          </a:xfrm>
          <a:prstGeom prst="ellipse">
            <a:avLst/>
          </a:prstGeom>
          <a:solidFill>
            <a:srgbClr val="55D8E0"/>
          </a:solidFill>
          <a:ln w="12700">
            <a:solidFill>
              <a:srgbClr val="55D8E0"/>
            </a:solidFill>
            <a:prstDash val="solid"/>
          </a:ln>
        </p:spPr>
      </p:sp>
      <p:sp>
        <p:nvSpPr>
          <p:cNvPr id="16" name="Text 14"/>
          <p:cNvSpPr/>
          <p:nvPr/>
        </p:nvSpPr>
        <p:spPr>
          <a:xfrm>
            <a:off x="1024128" y="3081528"/>
            <a:ext cx="3063240" cy="658368"/>
          </a:xfrm>
          <a:prstGeom prst="rect">
            <a:avLst/>
          </a:prstGeom>
          <a:noFill/>
          <a:ln/>
        </p:spPr>
        <p:txBody>
          <a:bodyPr wrap="square" lIns="0" tIns="0" rIns="0" bIns="0" rtlCol="0" anchor="ctr">
            <a:normAutofit/>
          </a:bodyPr>
          <a:lstStyle/>
          <a:p>
            <a:pPr indent="0" marL="0">
              <a:buNone/>
            </a:pPr>
            <a:r>
              <a:rPr lang="en-US" sz="1450" dirty="0">
                <a:solidFill>
                  <a:srgbClr val="F4F7FA"/>
                </a:solidFill>
                <a:latin typeface="Noto Sans CJK JP" pitchFamily="34" charset="0"/>
                <a:ea typeface="Noto Sans CJK JP" pitchFamily="34" charset="-122"/>
                <a:cs typeface="Noto Sans CJK JP" pitchFamily="34" charset="-120"/>
              </a:rPr>
              <a:t>p で多く割れるほど、p進的には「小さい」</a:t>
            </a:r>
            <a:endParaRPr lang="en-US" sz="1450" dirty="0"/>
          </a:p>
        </p:txBody>
      </p:sp>
      <p:sp>
        <p:nvSpPr>
          <p:cNvPr id="17" name="Shape 15"/>
          <p:cNvSpPr/>
          <p:nvPr/>
        </p:nvSpPr>
        <p:spPr>
          <a:xfrm>
            <a:off x="841248" y="3858768"/>
            <a:ext cx="91440" cy="91440"/>
          </a:xfrm>
          <a:prstGeom prst="ellipse">
            <a:avLst/>
          </a:prstGeom>
          <a:solidFill>
            <a:srgbClr val="55D8E0"/>
          </a:solidFill>
          <a:ln w="12700">
            <a:solidFill>
              <a:srgbClr val="55D8E0"/>
            </a:solidFill>
            <a:prstDash val="solid"/>
          </a:ln>
        </p:spPr>
      </p:sp>
      <p:sp>
        <p:nvSpPr>
          <p:cNvPr id="18" name="Text 16"/>
          <p:cNvSpPr/>
          <p:nvPr/>
        </p:nvSpPr>
        <p:spPr>
          <a:xfrm>
            <a:off x="1024128" y="3739896"/>
            <a:ext cx="3063240" cy="658368"/>
          </a:xfrm>
          <a:prstGeom prst="rect">
            <a:avLst/>
          </a:prstGeom>
          <a:noFill/>
          <a:ln/>
        </p:spPr>
        <p:txBody>
          <a:bodyPr wrap="square" lIns="0" tIns="0" rIns="0" bIns="0" rtlCol="0" anchor="ctr">
            <a:normAutofit/>
          </a:bodyPr>
          <a:lstStyle/>
          <a:p>
            <a:pPr indent="0" marL="0">
              <a:buNone/>
            </a:pPr>
            <a:r>
              <a:rPr lang="en-US" sz="1450" dirty="0">
                <a:solidFill>
                  <a:srgbClr val="F4F7FA"/>
                </a:solidFill>
                <a:latin typeface="Noto Sans CJK JP" pitchFamily="34" charset="0"/>
                <a:ea typeface="Noto Sans CJK JP" pitchFamily="34" charset="-122"/>
                <a:cs typeface="Noto Sans CJK JP" pitchFamily="34" charset="-120"/>
              </a:rPr>
              <a:t>桁は右ではなく、p の高い冪へ無限に伸びる</a:t>
            </a:r>
            <a:endParaRPr lang="en-US" sz="1450" dirty="0"/>
          </a:p>
        </p:txBody>
      </p:sp>
      <p:sp>
        <p:nvSpPr>
          <p:cNvPr id="19" name="Shape 17"/>
          <p:cNvSpPr/>
          <p:nvPr/>
        </p:nvSpPr>
        <p:spPr>
          <a:xfrm>
            <a:off x="841248" y="4517136"/>
            <a:ext cx="91440" cy="91440"/>
          </a:xfrm>
          <a:prstGeom prst="ellipse">
            <a:avLst/>
          </a:prstGeom>
          <a:solidFill>
            <a:srgbClr val="55D8E0"/>
          </a:solidFill>
          <a:ln w="12700">
            <a:solidFill>
              <a:srgbClr val="55D8E0"/>
            </a:solidFill>
            <a:prstDash val="solid"/>
          </a:ln>
        </p:spPr>
      </p:sp>
      <p:sp>
        <p:nvSpPr>
          <p:cNvPr id="20" name="Text 18"/>
          <p:cNvSpPr/>
          <p:nvPr/>
        </p:nvSpPr>
        <p:spPr>
          <a:xfrm>
            <a:off x="1024128" y="4398264"/>
            <a:ext cx="3063240" cy="658368"/>
          </a:xfrm>
          <a:prstGeom prst="rect">
            <a:avLst/>
          </a:prstGeom>
          <a:noFill/>
          <a:ln/>
        </p:spPr>
        <p:txBody>
          <a:bodyPr wrap="square" lIns="0" tIns="0" rIns="0" bIns="0" rtlCol="0" anchor="ctr">
            <a:normAutofit/>
          </a:bodyPr>
          <a:lstStyle/>
          <a:p>
            <a:pPr indent="0" marL="0">
              <a:buNone/>
            </a:pPr>
            <a:r>
              <a:rPr lang="en-US" sz="1450" dirty="0">
                <a:solidFill>
                  <a:srgbClr val="F4F7FA"/>
                </a:solidFill>
                <a:latin typeface="Noto Sans CJK JP" pitchFamily="34" charset="0"/>
                <a:ea typeface="Noto Sans CJK JP" pitchFamily="34" charset="-122"/>
                <a:cs typeface="Noto Sans CJK JP" pitchFamily="34" charset="-120"/>
              </a:rPr>
              <a:t>完備化すると p進数体が得られる</a:t>
            </a:r>
            <a:endParaRPr lang="en-US" sz="1450" dirty="0"/>
          </a:p>
        </p:txBody>
      </p:sp>
      <p:sp>
        <p:nvSpPr>
          <p:cNvPr id="21" name="Shape 19"/>
          <p:cNvSpPr/>
          <p:nvPr/>
        </p:nvSpPr>
        <p:spPr>
          <a:xfrm>
            <a:off x="841248" y="5413248"/>
            <a:ext cx="3246120" cy="521208"/>
          </a:xfrm>
          <a:prstGeom prst="roundRect">
            <a:avLst>
              <a:gd name="adj" fmla="val 21053"/>
            </a:avLst>
          </a:prstGeom>
          <a:solidFill>
            <a:srgbClr val="0B1C2A"/>
          </a:solidFill>
          <a:ln w="12700">
            <a:solidFill>
              <a:srgbClr val="F2B65D"/>
            </a:solidFill>
            <a:prstDash val="solid"/>
          </a:ln>
        </p:spPr>
      </p:sp>
      <p:sp>
        <p:nvSpPr>
          <p:cNvPr id="22" name="Text 20"/>
          <p:cNvSpPr/>
          <p:nvPr/>
        </p:nvSpPr>
        <p:spPr>
          <a:xfrm>
            <a:off x="987552" y="5559552"/>
            <a:ext cx="2926080" cy="219456"/>
          </a:xfrm>
          <a:prstGeom prst="rect">
            <a:avLst/>
          </a:prstGeom>
          <a:noFill/>
          <a:ln/>
        </p:spPr>
        <p:txBody>
          <a:bodyPr wrap="square" lIns="0" tIns="0" rIns="0" bIns="0" rtlCol="0" anchor="ctr">
            <a:normAutofit/>
          </a:bodyPr>
          <a:lstStyle/>
          <a:p>
            <a:pPr algn="ctr" indent="0" marL="0">
              <a:buNone/>
            </a:pPr>
            <a:r>
              <a:rPr lang="en-US" sz="1150" dirty="0">
                <a:solidFill>
                  <a:srgbClr val="F2B65D"/>
                </a:solidFill>
                <a:latin typeface="Noto Sans CJK JP" pitchFamily="34" charset="0"/>
                <a:ea typeface="Noto Sans CJK JP" pitchFamily="34" charset="-122"/>
                <a:cs typeface="Noto Sans CJK JP" pitchFamily="34" charset="-120"/>
              </a:rPr>
              <a:t>例：75 は 5 で二回割れるので、5進的には小さい</a:t>
            </a:r>
            <a:endParaRPr lang="en-US" sz="1150" dirty="0"/>
          </a:p>
        </p:txBody>
      </p:sp>
      <p:sp>
        <p:nvSpPr>
          <p:cNvPr id="23" name="Shape 21"/>
          <p:cNvSpPr/>
          <p:nvPr/>
        </p:nvSpPr>
        <p:spPr>
          <a:xfrm>
            <a:off x="4617720" y="1719072"/>
            <a:ext cx="6995160" cy="1307592"/>
          </a:xfrm>
          <a:prstGeom prst="roundRect">
            <a:avLst>
              <a:gd name="adj" fmla="val 8392"/>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24" name="Text 22"/>
          <p:cNvSpPr/>
          <p:nvPr/>
        </p:nvSpPr>
        <p:spPr>
          <a:xfrm>
            <a:off x="4782312" y="1828800"/>
            <a:ext cx="666597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p進展開</a:t>
            </a:r>
            <a:endParaRPr lang="en-US" sz="1050" dirty="0"/>
          </a:p>
        </p:txBody>
      </p:sp>
      <p:pic>
        <p:nvPicPr>
          <p:cNvPr id="2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63225" y="2112264"/>
            <a:ext cx="3904149" cy="804672"/>
          </a:xfrm>
          <a:prstGeom prst="rect">
            <a:avLst/>
          </a:prstGeom>
        </p:spPr>
      </p:pic>
      <p:sp>
        <p:nvSpPr>
          <p:cNvPr id="26" name="Shape 23"/>
          <p:cNvSpPr/>
          <p:nvPr/>
        </p:nvSpPr>
        <p:spPr>
          <a:xfrm>
            <a:off x="4617720" y="3218688"/>
            <a:ext cx="3273552" cy="1252728"/>
          </a:xfrm>
          <a:prstGeom prst="roundRect">
            <a:avLst>
              <a:gd name="adj" fmla="val 8759"/>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27" name="Text 24"/>
          <p:cNvSpPr/>
          <p:nvPr/>
        </p:nvSpPr>
        <p:spPr>
          <a:xfrm>
            <a:off x="4782312" y="3328416"/>
            <a:ext cx="2944368"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p進ノルム</a:t>
            </a:r>
            <a:endParaRPr lang="en-US" sz="1050" dirty="0"/>
          </a:p>
        </p:txBody>
      </p:sp>
      <p:pic>
        <p:nvPicPr>
          <p:cNvPr id="2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8888" y="3670687"/>
            <a:ext cx="2871216" cy="632194"/>
          </a:xfrm>
          <a:prstGeom prst="rect">
            <a:avLst/>
          </a:prstGeom>
        </p:spPr>
      </p:pic>
      <p:sp>
        <p:nvSpPr>
          <p:cNvPr id="29" name="Shape 25"/>
          <p:cNvSpPr/>
          <p:nvPr/>
        </p:nvSpPr>
        <p:spPr>
          <a:xfrm>
            <a:off x="8092440" y="3218688"/>
            <a:ext cx="3520440" cy="1252728"/>
          </a:xfrm>
          <a:prstGeom prst="roundRect">
            <a:avLst>
              <a:gd name="adj" fmla="val 8759"/>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30" name="Text 26"/>
          <p:cNvSpPr/>
          <p:nvPr/>
        </p:nvSpPr>
        <p:spPr>
          <a:xfrm>
            <a:off x="8257032" y="3328416"/>
            <a:ext cx="319125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簡単な例</a:t>
            </a:r>
            <a:endParaRPr lang="en-US" sz="1050" dirty="0"/>
          </a:p>
        </p:txBody>
      </p:sp>
      <p:pic>
        <p:nvPicPr>
          <p:cNvPr id="3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49173" y="3611880"/>
            <a:ext cx="2806974" cy="749808"/>
          </a:xfrm>
          <a:prstGeom prst="rect">
            <a:avLst/>
          </a:prstGeom>
        </p:spPr>
      </p:pic>
      <p:sp>
        <p:nvSpPr>
          <p:cNvPr id="32" name="Shape 27"/>
          <p:cNvSpPr/>
          <p:nvPr/>
        </p:nvSpPr>
        <p:spPr>
          <a:xfrm>
            <a:off x="4617720" y="4681728"/>
            <a:ext cx="6995160" cy="1527048"/>
          </a:xfrm>
          <a:prstGeom prst="roundRect">
            <a:avLst>
              <a:gd name="adj" fmla="val 7186"/>
            </a:avLst>
          </a:prstGeom>
          <a:solidFill>
            <a:srgbClr val="0D2231"/>
          </a:solidFill>
          <a:ln w="12700">
            <a:solidFill>
              <a:srgbClr val="2B4658"/>
            </a:solidFill>
            <a:prstDash val="solid"/>
          </a:ln>
          <a:effectLst>
            <a:outerShdw sx="100000" sy="100000" kx="0" ky="0" algn="bl" rotWithShape="0" blurRad="12700" dist="50800" dir="2700000">
              <a:srgbClr val="000000">
                <a:alpha val="18000"/>
              </a:srgbClr>
            </a:outerShdw>
          </a:effectLst>
        </p:spPr>
      </p:sp>
      <p:pic>
        <p:nvPicPr>
          <p:cNvPr id="3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92040" y="4828032"/>
            <a:ext cx="3886200" cy="1143000"/>
          </a:xfrm>
          <a:prstGeom prst="rect">
            <a:avLst/>
          </a:prstGeom>
        </p:spPr>
      </p:pic>
      <p:sp>
        <p:nvSpPr>
          <p:cNvPr id="34" name="Text 28"/>
          <p:cNvSpPr/>
          <p:nvPr/>
        </p:nvSpPr>
        <p:spPr>
          <a:xfrm>
            <a:off x="8796528" y="5084064"/>
            <a:ext cx="2331720" cy="603504"/>
          </a:xfrm>
          <a:prstGeom prst="rect">
            <a:avLst/>
          </a:prstGeom>
          <a:noFill/>
          <a:ln/>
        </p:spPr>
        <p:txBody>
          <a:bodyPr wrap="square" lIns="0" tIns="0" rIns="0" bIns="0" rtlCol="0" anchor="ctr">
            <a:normAutofit/>
          </a:bodyPr>
          <a:lstStyle/>
          <a:p>
            <a:pPr algn="ctr" indent="0" marL="0">
              <a:buNone/>
            </a:pPr>
            <a:r>
              <a:rPr lang="en-US" sz="1450" b="1" dirty="0">
                <a:solidFill>
                  <a:srgbClr val="F4F7FA"/>
                </a:solidFill>
                <a:latin typeface="Noto Sans CJK JP" pitchFamily="34" charset="0"/>
                <a:ea typeface="Noto Sans CJK JP" pitchFamily="34" charset="-122"/>
                <a:cs typeface="Noto Sans CJK JP" pitchFamily="34" charset="-120"/>
              </a:rPr>
              <a:t>各レベルで次の p進桁を選ぶ</a:t>
            </a:r>
            <a:endParaRPr lang="en-US" sz="1450" dirty="0"/>
          </a:p>
          <a:p>
            <a:pPr algn="ctr" indent="0" marL="0">
              <a:buNone/>
            </a:pPr>
            <a:r>
              <a:rPr lang="en-US" sz="1450" b="1" dirty="0">
                <a:solidFill>
                  <a:srgbClr val="F4F7FA"/>
                </a:solidFill>
                <a:latin typeface="Noto Sans CJK JP" pitchFamily="34" charset="0"/>
                <a:ea typeface="Noto Sans CJK JP" pitchFamily="34" charset="-122"/>
                <a:cs typeface="Noto Sans CJK JP" pitchFamily="34" charset="-120"/>
              </a:rPr>
              <a:t>→ 精度の階層が木になる</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FOUNDATIONS</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超距離：三角形と球が階層構造になる</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p進幾何が木・クラスタリング・繰り込み群と相性がよい理由</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04</a:t>
            </a:r>
            <a:endParaRPr lang="en-US" sz="1000" dirty="0"/>
          </a:p>
        </p:txBody>
      </p:sp>
      <p:sp>
        <p:nvSpPr>
          <p:cNvPr id="8" name="Text 6"/>
          <p:cNvSpPr/>
          <p:nvPr/>
        </p:nvSpPr>
        <p:spPr>
          <a:xfrm>
            <a:off x="548640" y="6547104"/>
            <a:ext cx="9966960" cy="146304"/>
          </a:xfrm>
          <a:prstGeom prst="rect">
            <a:avLst/>
          </a:prstGeom>
          <a:noFill/>
          <a:ln/>
        </p:spPr>
        <p:txBody>
          <a:bodyPr wrap="square" lIns="0" tIns="0" rIns="0" bIns="0" rtlCol="0" anchor="ctr">
            <a:normAutofit/>
          </a:bodyPr>
          <a:lstStyle/>
          <a:p>
            <a:pPr indent="0" marL="0">
              <a:buNone/>
            </a:pPr>
            <a:r>
              <a:rPr lang="en-US" sz="730" dirty="0">
                <a:solidFill>
                  <a:srgbClr val="7890A1"/>
                </a:solidFill>
                <a:latin typeface="Noto Sans CJK JP" pitchFamily="34" charset="0"/>
                <a:ea typeface="Noto Sans CJK JP" pitchFamily="34" charset="-122"/>
                <a:cs typeface="Noto Sans CJK JP" pitchFamily="34" charset="-120"/>
              </a:rPr>
              <a:t>出典: Gubser et al. (2017), §2; Heydeman et al., ATMP 22 (2018)</a:t>
            </a:r>
            <a:endParaRPr lang="en-US" sz="730" dirty="0"/>
          </a:p>
        </p:txBody>
      </p:sp>
      <p:sp>
        <p:nvSpPr>
          <p:cNvPr id="9" name="Text 7"/>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4 / 24</a:t>
            </a:r>
            <a:endParaRPr lang="en-US" sz="750" dirty="0"/>
          </a:p>
        </p:txBody>
      </p:sp>
      <p:sp>
        <p:nvSpPr>
          <p:cNvPr id="10" name="Shape 8"/>
          <p:cNvSpPr/>
          <p:nvPr/>
        </p:nvSpPr>
        <p:spPr>
          <a:xfrm>
            <a:off x="640080" y="1719072"/>
            <a:ext cx="5394960" cy="1115568"/>
          </a:xfrm>
          <a:prstGeom prst="roundRect">
            <a:avLst>
              <a:gd name="adj" fmla="val 9836"/>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11" name="Text 9"/>
          <p:cNvSpPr/>
          <p:nvPr/>
        </p:nvSpPr>
        <p:spPr>
          <a:xfrm>
            <a:off x="804672" y="1828800"/>
            <a:ext cx="506577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強い三角不等式</a:t>
            </a:r>
            <a:endParaRPr lang="en-US" sz="1050" dirty="0"/>
          </a:p>
        </p:txBody>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41248" y="2181971"/>
            <a:ext cx="4992624" cy="473235"/>
          </a:xfrm>
          <a:prstGeom prst="rect">
            <a:avLst/>
          </a:prstGeom>
        </p:spPr>
      </p:pic>
      <p:sp>
        <p:nvSpPr>
          <p:cNvPr id="13" name="Shape 10"/>
          <p:cNvSpPr/>
          <p:nvPr/>
        </p:nvSpPr>
        <p:spPr>
          <a:xfrm>
            <a:off x="6199632" y="1719072"/>
            <a:ext cx="5349240" cy="1115568"/>
          </a:xfrm>
          <a:prstGeom prst="roundRect">
            <a:avLst>
              <a:gd name="adj" fmla="val 9836"/>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14" name="Text 11"/>
          <p:cNvSpPr/>
          <p:nvPr/>
        </p:nvSpPr>
        <p:spPr>
          <a:xfrm>
            <a:off x="6364224" y="1828800"/>
            <a:ext cx="502005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距離で書いた形</a:t>
            </a:r>
            <a:endParaRPr lang="en-US" sz="1050" dirty="0"/>
          </a:p>
        </p:txBody>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00800" y="2238044"/>
            <a:ext cx="4946904" cy="361088"/>
          </a:xfrm>
          <a:prstGeom prst="rect">
            <a:avLst/>
          </a:prstGeom>
        </p:spPr>
      </p:pic>
      <p:sp>
        <p:nvSpPr>
          <p:cNvPr id="16" name="Shape 12"/>
          <p:cNvSpPr/>
          <p:nvPr/>
        </p:nvSpPr>
        <p:spPr>
          <a:xfrm>
            <a:off x="640080" y="3063240"/>
            <a:ext cx="5394960" cy="3072384"/>
          </a:xfrm>
          <a:prstGeom prst="roundRect">
            <a:avLst>
              <a:gd name="adj" fmla="val 3571"/>
            </a:avLst>
          </a:prstGeom>
          <a:solidFill>
            <a:srgbClr val="0D2231"/>
          </a:solidFill>
          <a:ln w="12700">
            <a:solidFill>
              <a:srgbClr val="55D8E0"/>
            </a:solidFill>
            <a:prstDash val="solid"/>
          </a:ln>
          <a:effectLst>
            <a:outerShdw sx="100000" sy="100000" kx="0" ky="0" algn="bl" rotWithShape="0" blurRad="12700" dist="50800" dir="2700000">
              <a:srgbClr val="000000">
                <a:alpha val="18000"/>
              </a:srgbClr>
            </a:outerShdw>
          </a:effectLst>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4400" y="3236976"/>
            <a:ext cx="3657600" cy="2542032"/>
          </a:xfrm>
          <a:prstGeom prst="rect">
            <a:avLst/>
          </a:prstGeom>
        </p:spPr>
      </p:pic>
      <p:sp>
        <p:nvSpPr>
          <p:cNvPr id="18" name="Text 13"/>
          <p:cNvSpPr/>
          <p:nvPr/>
        </p:nvSpPr>
        <p:spPr>
          <a:xfrm>
            <a:off x="4279392" y="4069080"/>
            <a:ext cx="1417320" cy="777240"/>
          </a:xfrm>
          <a:prstGeom prst="rect">
            <a:avLst/>
          </a:prstGeom>
          <a:noFill/>
          <a:ln/>
        </p:spPr>
        <p:txBody>
          <a:bodyPr wrap="square" lIns="0" tIns="0" rIns="0" bIns="0" rtlCol="0" anchor="ctr">
            <a:normAutofit/>
          </a:bodyPr>
          <a:lstStyle/>
          <a:p>
            <a:pPr algn="ctr" indent="0" marL="0">
              <a:buNone/>
            </a:pPr>
            <a:r>
              <a:rPr lang="en-US" sz="1300" b="1" dirty="0">
                <a:solidFill>
                  <a:srgbClr val="F4F7FA"/>
                </a:solidFill>
                <a:latin typeface="Noto Sans CJK JP" pitchFamily="34" charset="0"/>
                <a:ea typeface="Noto Sans CJK JP" pitchFamily="34" charset="-122"/>
                <a:cs typeface="Noto Sans CJK JP" pitchFamily="34" charset="-120"/>
              </a:rPr>
              <a:t>最長の二辺が等しい</a:t>
            </a:r>
            <a:endParaRPr lang="en-US" sz="1300" dirty="0"/>
          </a:p>
          <a:p>
            <a:pPr algn="ctr" indent="0" marL="0">
              <a:buNone/>
            </a:pPr>
            <a:r>
              <a:rPr lang="en-US" sz="1300" b="1" dirty="0">
                <a:solidFill>
                  <a:srgbClr val="F4F7FA"/>
                </a:solidFill>
                <a:latin typeface="Noto Sans CJK JP" pitchFamily="34" charset="0"/>
                <a:ea typeface="Noto Sans CJK JP" pitchFamily="34" charset="-122"/>
                <a:cs typeface="Noto Sans CJK JP" pitchFamily="34" charset="-120"/>
              </a:rPr>
              <a:t>「背の高い二等辺三角形」</a:t>
            </a:r>
            <a:endParaRPr lang="en-US" sz="1300" dirty="0"/>
          </a:p>
        </p:txBody>
      </p:sp>
      <p:sp>
        <p:nvSpPr>
          <p:cNvPr id="19" name="Shape 14"/>
          <p:cNvSpPr/>
          <p:nvPr/>
        </p:nvSpPr>
        <p:spPr>
          <a:xfrm>
            <a:off x="6199632" y="3063240"/>
            <a:ext cx="5349240" cy="3072384"/>
          </a:xfrm>
          <a:prstGeom prst="roundRect">
            <a:avLst>
              <a:gd name="adj" fmla="val 3571"/>
            </a:avLst>
          </a:prstGeom>
          <a:solidFill>
            <a:srgbClr val="0D2231"/>
          </a:solidFill>
          <a:ln w="12700">
            <a:solidFill>
              <a:srgbClr val="67D3A5"/>
            </a:solidFill>
            <a:prstDash val="solid"/>
          </a:ln>
          <a:effectLst>
            <a:outerShdw sx="100000" sy="100000" kx="0" ky="0" algn="bl" rotWithShape="0" blurRad="12700" dist="50800" dir="2700000">
              <a:srgbClr val="000000">
                <a:alpha val="18000"/>
              </a:srgbClr>
            </a:outerShdw>
          </a:effectLst>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37960" y="3383280"/>
            <a:ext cx="4389120" cy="2560320"/>
          </a:xfrm>
          <a:prstGeom prst="rect">
            <a:avLst/>
          </a:prstGeom>
        </p:spPr>
      </p:pic>
      <p:sp>
        <p:nvSpPr>
          <p:cNvPr id="21" name="Text 15"/>
          <p:cNvSpPr/>
          <p:nvPr/>
        </p:nvSpPr>
        <p:spPr>
          <a:xfrm>
            <a:off x="9902952" y="4160520"/>
            <a:ext cx="1325880" cy="685800"/>
          </a:xfrm>
          <a:prstGeom prst="rect">
            <a:avLst/>
          </a:prstGeom>
          <a:noFill/>
          <a:ln/>
        </p:spPr>
        <p:txBody>
          <a:bodyPr wrap="square" lIns="0" tIns="0" rIns="0" bIns="0" rtlCol="0" anchor="ctr">
            <a:normAutofit/>
          </a:bodyPr>
          <a:lstStyle/>
          <a:p>
            <a:pPr algn="ctr" indent="0" marL="0">
              <a:buNone/>
            </a:pPr>
            <a:r>
              <a:rPr lang="en-US" sz="1300" b="1" dirty="0">
                <a:solidFill>
                  <a:srgbClr val="F4F7FA"/>
                </a:solidFill>
                <a:latin typeface="Noto Sans CJK JP" pitchFamily="34" charset="0"/>
                <a:ea typeface="Noto Sans CJK JP" pitchFamily="34" charset="-122"/>
                <a:cs typeface="Noto Sans CJK JP" pitchFamily="34" charset="-120"/>
              </a:rPr>
              <a:t>部分集合が自然に</a:t>
            </a:r>
            <a:endParaRPr lang="en-US" sz="1300" dirty="0"/>
          </a:p>
          <a:p>
            <a:pPr algn="ctr" indent="0" marL="0">
              <a:buNone/>
            </a:pPr>
            <a:r>
              <a:rPr lang="en-US" sz="1300" b="1" dirty="0">
                <a:solidFill>
                  <a:srgbClr val="F4F7FA"/>
                </a:solidFill>
                <a:latin typeface="Noto Sans CJK JP" pitchFamily="34" charset="0"/>
                <a:ea typeface="Noto Sans CJK JP" pitchFamily="34" charset="-122"/>
                <a:cs typeface="Noto Sans CJK JP" pitchFamily="34" charset="-120"/>
              </a:rPr>
              <a:t>階層クラスタを作る</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HISTORY</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研究史：散乱振幅から離散ホログラフィーへ</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主要な転換点だけを追う</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05</a:t>
            </a:r>
            <a:endParaRPr lang="en-US" sz="1000" dirty="0"/>
          </a:p>
        </p:txBody>
      </p:sp>
      <p:sp>
        <p:nvSpPr>
          <p:cNvPr id="8" name="Text 6"/>
          <p:cNvSpPr/>
          <p:nvPr/>
        </p:nvSpPr>
        <p:spPr>
          <a:xfrm>
            <a:off x="548640" y="6547104"/>
            <a:ext cx="9966960" cy="146304"/>
          </a:xfrm>
          <a:prstGeom prst="rect">
            <a:avLst/>
          </a:prstGeom>
          <a:noFill/>
          <a:ln/>
        </p:spPr>
        <p:txBody>
          <a:bodyPr wrap="square" lIns="0" tIns="0" rIns="0" bIns="0" rtlCol="0" anchor="ctr">
            <a:normAutofit/>
          </a:bodyPr>
          <a:lstStyle/>
          <a:p>
            <a:pPr indent="0" marL="0">
              <a:buNone/>
            </a:pPr>
            <a:r>
              <a:rPr lang="en-US" sz="730" dirty="0">
                <a:solidFill>
                  <a:srgbClr val="7890A1"/>
                </a:solidFill>
                <a:latin typeface="Noto Sans CJK JP" pitchFamily="34" charset="0"/>
                <a:ea typeface="Noto Sans CJK JP" pitchFamily="34" charset="-122"/>
                <a:cs typeface="Noto Sans CJK JP" pitchFamily="34" charset="-120"/>
              </a:rPr>
              <a:t>出典: Volovich (1987); Freund–Olson (1987); Freund–Witten (1987); Brekke et al. (1988); Zabrodin (1989); Ghoshal–Sen (2000); Gubser et al. (2017); Hung et al. (2019); Huang–Jepsen (2025, 2026)</a:t>
            </a:r>
            <a:endParaRPr lang="en-US" sz="730" dirty="0"/>
          </a:p>
        </p:txBody>
      </p:sp>
      <p:sp>
        <p:nvSpPr>
          <p:cNvPr id="9" name="Text 7"/>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5 / 24</a:t>
            </a:r>
            <a:endParaRPr lang="en-US" sz="750" dirty="0"/>
          </a:p>
        </p:txBody>
      </p:sp>
      <p:sp>
        <p:nvSpPr>
          <p:cNvPr id="10" name="Shape 8"/>
          <p:cNvSpPr/>
          <p:nvPr/>
        </p:nvSpPr>
        <p:spPr>
          <a:xfrm>
            <a:off x="868680" y="3721608"/>
            <a:ext cx="10378440" cy="0"/>
          </a:xfrm>
          <a:prstGeom prst="line">
            <a:avLst/>
          </a:prstGeom>
          <a:noFill/>
          <a:ln w="63500">
            <a:solidFill>
              <a:srgbClr val="2B4658"/>
            </a:solidFill>
            <a:prstDash val="solid"/>
          </a:ln>
        </p:spPr>
      </p:sp>
      <p:sp>
        <p:nvSpPr>
          <p:cNvPr id="11" name="Shape 9"/>
          <p:cNvSpPr/>
          <p:nvPr/>
        </p:nvSpPr>
        <p:spPr>
          <a:xfrm>
            <a:off x="566928" y="1783080"/>
            <a:ext cx="1234440" cy="1508760"/>
          </a:xfrm>
          <a:prstGeom prst="roundRect">
            <a:avLst>
              <a:gd name="adj" fmla="val 8889"/>
            </a:avLst>
          </a:prstGeom>
          <a:solidFill>
            <a:srgbClr val="0D2231"/>
          </a:solidFill>
          <a:ln w="12700">
            <a:solidFill>
              <a:srgbClr val="F2B65D"/>
            </a:solidFill>
            <a:prstDash val="solid"/>
          </a:ln>
        </p:spPr>
      </p:sp>
      <p:sp>
        <p:nvSpPr>
          <p:cNvPr id="12" name="Text 10"/>
          <p:cNvSpPr/>
          <p:nvPr/>
        </p:nvSpPr>
        <p:spPr>
          <a:xfrm>
            <a:off x="640080" y="1892808"/>
            <a:ext cx="1088136" cy="301752"/>
          </a:xfrm>
          <a:prstGeom prst="rect">
            <a:avLst/>
          </a:prstGeom>
          <a:noFill/>
          <a:ln/>
        </p:spPr>
        <p:txBody>
          <a:bodyPr wrap="square" lIns="0" tIns="0" rIns="0" bIns="0" rtlCol="0" anchor="ctr">
            <a:normAutofit/>
          </a:bodyPr>
          <a:lstStyle/>
          <a:p>
            <a:pPr algn="ctr" indent="0" marL="0">
              <a:buNone/>
            </a:pPr>
            <a:r>
              <a:rPr lang="en-US" sz="1200" b="1" dirty="0">
                <a:solidFill>
                  <a:srgbClr val="F2B65D"/>
                </a:solidFill>
                <a:latin typeface="Noto Sans Mono CJK JP" pitchFamily="34" charset="0"/>
                <a:ea typeface="Noto Sans Mono CJK JP" pitchFamily="34" charset="-122"/>
                <a:cs typeface="Noto Sans Mono CJK JP" pitchFamily="34" charset="-120"/>
              </a:rPr>
              <a:t>1987</a:t>
            </a:r>
            <a:endParaRPr lang="en-US" sz="1200" dirty="0"/>
          </a:p>
        </p:txBody>
      </p:sp>
      <p:sp>
        <p:nvSpPr>
          <p:cNvPr id="13" name="Text 11"/>
          <p:cNvSpPr/>
          <p:nvPr/>
        </p:nvSpPr>
        <p:spPr>
          <a:xfrm>
            <a:off x="649224" y="2258568"/>
            <a:ext cx="1069848" cy="438912"/>
          </a:xfrm>
          <a:prstGeom prst="rect">
            <a:avLst/>
          </a:prstGeom>
          <a:noFill/>
          <a:ln/>
        </p:spPr>
        <p:txBody>
          <a:bodyPr wrap="square" lIns="0" tIns="0" rIns="0" bIns="0" rtlCol="0" anchor="ctr">
            <a:normAutofit/>
          </a:bodyPr>
          <a:lstStyle/>
          <a:p>
            <a:pPr algn="ctr" indent="0" marL="0">
              <a:buNone/>
            </a:pPr>
            <a:r>
              <a:rPr lang="en-US" sz="1150" b="1" dirty="0">
                <a:solidFill>
                  <a:srgbClr val="F4F7FA"/>
                </a:solidFill>
                <a:latin typeface="Noto Sans CJK JP" pitchFamily="34" charset="0"/>
                <a:ea typeface="Noto Sans CJK JP" pitchFamily="34" charset="-122"/>
                <a:cs typeface="Noto Sans CJK JP" pitchFamily="34" charset="-120"/>
              </a:rPr>
              <a:t>p進弦の提案</a:t>
            </a:r>
            <a:endParaRPr lang="en-US" sz="1150" dirty="0"/>
          </a:p>
        </p:txBody>
      </p:sp>
      <p:sp>
        <p:nvSpPr>
          <p:cNvPr id="14" name="Text 12"/>
          <p:cNvSpPr/>
          <p:nvPr/>
        </p:nvSpPr>
        <p:spPr>
          <a:xfrm>
            <a:off x="640080" y="2724912"/>
            <a:ext cx="1088136" cy="438912"/>
          </a:xfrm>
          <a:prstGeom prst="rect">
            <a:avLst/>
          </a:prstGeom>
          <a:noFill/>
          <a:ln/>
        </p:spPr>
        <p:txBody>
          <a:bodyPr wrap="square" lIns="0" tIns="0" rIns="0" bIns="0" rtlCol="0" anchor="ctr">
            <a:normAutofit/>
          </a:bodyPr>
          <a:lstStyle/>
          <a:p>
            <a:pPr algn="ctr" indent="0" marL="0">
              <a:buNone/>
            </a:pPr>
            <a:r>
              <a:rPr lang="en-US" sz="970" dirty="0">
                <a:solidFill>
                  <a:srgbClr val="A9BBC9"/>
                </a:solidFill>
                <a:latin typeface="Noto Sans CJK JP" pitchFamily="34" charset="0"/>
                <a:ea typeface="Noto Sans CJK JP" pitchFamily="34" charset="-122"/>
                <a:cs typeface="Noto Sans CJK JP" pitchFamily="34" charset="-120"/>
              </a:rPr>
              <a:t>Volovich</a:t>
            </a:r>
            <a:endParaRPr lang="en-US" sz="970" dirty="0"/>
          </a:p>
          <a:p>
            <a:pPr algn="ctr" indent="0" marL="0">
              <a:buNone/>
            </a:pPr>
            <a:r>
              <a:rPr lang="en-US" sz="970" dirty="0">
                <a:solidFill>
                  <a:srgbClr val="A9BBC9"/>
                </a:solidFill>
                <a:latin typeface="Noto Sans CJK JP" pitchFamily="34" charset="0"/>
                <a:ea typeface="Noto Sans CJK JP" pitchFamily="34" charset="-122"/>
                <a:cs typeface="Noto Sans CJK JP" pitchFamily="34" charset="-120"/>
              </a:rPr>
              <a:t>Freund–Olson</a:t>
            </a:r>
            <a:endParaRPr lang="en-US" sz="970" dirty="0"/>
          </a:p>
          <a:p>
            <a:pPr algn="ctr" indent="0" marL="0">
              <a:buNone/>
            </a:pPr>
            <a:r>
              <a:rPr lang="en-US" sz="970" dirty="0">
                <a:solidFill>
                  <a:srgbClr val="A9BBC9"/>
                </a:solidFill>
                <a:latin typeface="Noto Sans CJK JP" pitchFamily="34" charset="0"/>
                <a:ea typeface="Noto Sans CJK JP" pitchFamily="34" charset="-122"/>
                <a:cs typeface="Noto Sans CJK JP" pitchFamily="34" charset="-120"/>
              </a:rPr>
              <a:t>Freund–Witten</a:t>
            </a:r>
            <a:endParaRPr lang="en-US" sz="970" dirty="0"/>
          </a:p>
        </p:txBody>
      </p:sp>
      <p:sp>
        <p:nvSpPr>
          <p:cNvPr id="15" name="Shape 13"/>
          <p:cNvSpPr/>
          <p:nvPr/>
        </p:nvSpPr>
        <p:spPr>
          <a:xfrm>
            <a:off x="1184148" y="3291840"/>
            <a:ext cx="0" cy="429768"/>
          </a:xfrm>
          <a:prstGeom prst="line">
            <a:avLst/>
          </a:prstGeom>
          <a:noFill/>
          <a:ln w="25400">
            <a:solidFill>
              <a:srgbClr val="F2B65D"/>
            </a:solidFill>
            <a:prstDash val="solid"/>
          </a:ln>
        </p:spPr>
      </p:sp>
      <p:sp>
        <p:nvSpPr>
          <p:cNvPr id="16" name="Shape 14"/>
          <p:cNvSpPr/>
          <p:nvPr/>
        </p:nvSpPr>
        <p:spPr>
          <a:xfrm>
            <a:off x="1106424" y="3611880"/>
            <a:ext cx="155448" cy="155448"/>
          </a:xfrm>
          <a:prstGeom prst="ellipse">
            <a:avLst/>
          </a:prstGeom>
          <a:solidFill>
            <a:srgbClr val="F2B65D"/>
          </a:solidFill>
          <a:ln w="12700">
            <a:solidFill>
              <a:srgbClr val="07131E"/>
            </a:solidFill>
            <a:prstDash val="solid"/>
          </a:ln>
        </p:spPr>
      </p:sp>
      <p:sp>
        <p:nvSpPr>
          <p:cNvPr id="17" name="Shape 15"/>
          <p:cNvSpPr/>
          <p:nvPr/>
        </p:nvSpPr>
        <p:spPr>
          <a:xfrm>
            <a:off x="1975104" y="3977640"/>
            <a:ext cx="1234440" cy="1508760"/>
          </a:xfrm>
          <a:prstGeom prst="roundRect">
            <a:avLst>
              <a:gd name="adj" fmla="val 8889"/>
            </a:avLst>
          </a:prstGeom>
          <a:solidFill>
            <a:srgbClr val="0D2231"/>
          </a:solidFill>
          <a:ln w="12700">
            <a:solidFill>
              <a:srgbClr val="55D8E0"/>
            </a:solidFill>
            <a:prstDash val="solid"/>
          </a:ln>
        </p:spPr>
      </p:sp>
      <p:sp>
        <p:nvSpPr>
          <p:cNvPr id="18" name="Text 16"/>
          <p:cNvSpPr/>
          <p:nvPr/>
        </p:nvSpPr>
        <p:spPr>
          <a:xfrm>
            <a:off x="2048256" y="4087368"/>
            <a:ext cx="1088136" cy="301752"/>
          </a:xfrm>
          <a:prstGeom prst="rect">
            <a:avLst/>
          </a:prstGeom>
          <a:noFill/>
          <a:ln/>
        </p:spPr>
        <p:txBody>
          <a:bodyPr wrap="square" lIns="0" tIns="0" rIns="0" bIns="0" rtlCol="0" anchor="ctr">
            <a:normAutofit/>
          </a:bodyPr>
          <a:lstStyle/>
          <a:p>
            <a:pPr algn="ctr" indent="0" marL="0">
              <a:buNone/>
            </a:pPr>
            <a:r>
              <a:rPr lang="en-US" sz="1200" b="1" dirty="0">
                <a:solidFill>
                  <a:srgbClr val="55D8E0"/>
                </a:solidFill>
                <a:latin typeface="Noto Sans Mono CJK JP" pitchFamily="34" charset="0"/>
                <a:ea typeface="Noto Sans Mono CJK JP" pitchFamily="34" charset="-122"/>
                <a:cs typeface="Noto Sans Mono CJK JP" pitchFamily="34" charset="-120"/>
              </a:rPr>
              <a:t>1988–89</a:t>
            </a:r>
            <a:endParaRPr lang="en-US" sz="1200" dirty="0"/>
          </a:p>
        </p:txBody>
      </p:sp>
      <p:sp>
        <p:nvSpPr>
          <p:cNvPr id="19" name="Text 17"/>
          <p:cNvSpPr/>
          <p:nvPr/>
        </p:nvSpPr>
        <p:spPr>
          <a:xfrm>
            <a:off x="2057400" y="4453128"/>
            <a:ext cx="1069848" cy="438912"/>
          </a:xfrm>
          <a:prstGeom prst="rect">
            <a:avLst/>
          </a:prstGeom>
          <a:noFill/>
          <a:ln/>
        </p:spPr>
        <p:txBody>
          <a:bodyPr wrap="square" lIns="0" tIns="0" rIns="0" bIns="0" rtlCol="0" anchor="ctr">
            <a:normAutofit/>
          </a:bodyPr>
          <a:lstStyle/>
          <a:p>
            <a:pPr algn="ctr" indent="0" marL="0">
              <a:buNone/>
            </a:pPr>
            <a:r>
              <a:rPr lang="en-US" sz="1150" b="1" dirty="0">
                <a:solidFill>
                  <a:srgbClr val="F4F7FA"/>
                </a:solidFill>
                <a:latin typeface="Noto Sans CJK JP" pitchFamily="34" charset="0"/>
                <a:ea typeface="Noto Sans CJK JP" pitchFamily="34" charset="-122"/>
                <a:cs typeface="Noto Sans CJK JP" pitchFamily="34" charset="-120"/>
              </a:rPr>
              <a:t>厳密作用と木世界面</a:t>
            </a:r>
            <a:endParaRPr lang="en-US" sz="1150" dirty="0"/>
          </a:p>
        </p:txBody>
      </p:sp>
      <p:sp>
        <p:nvSpPr>
          <p:cNvPr id="20" name="Text 18"/>
          <p:cNvSpPr/>
          <p:nvPr/>
        </p:nvSpPr>
        <p:spPr>
          <a:xfrm>
            <a:off x="2048256" y="4919472"/>
            <a:ext cx="1088136" cy="438912"/>
          </a:xfrm>
          <a:prstGeom prst="rect">
            <a:avLst/>
          </a:prstGeom>
          <a:noFill/>
          <a:ln/>
        </p:spPr>
        <p:txBody>
          <a:bodyPr wrap="square" lIns="0" tIns="0" rIns="0" bIns="0" rtlCol="0" anchor="ctr">
            <a:normAutofit/>
          </a:bodyPr>
          <a:lstStyle/>
          <a:p>
            <a:pPr algn="ctr" indent="0" marL="0">
              <a:buNone/>
            </a:pPr>
            <a:r>
              <a:rPr lang="en-US" sz="970" dirty="0">
                <a:solidFill>
                  <a:srgbClr val="A9BBC9"/>
                </a:solidFill>
                <a:latin typeface="Noto Sans CJK JP" pitchFamily="34" charset="0"/>
                <a:ea typeface="Noto Sans CJK JP" pitchFamily="34" charset="-122"/>
                <a:cs typeface="Noto Sans CJK JP" pitchFamily="34" charset="-120"/>
              </a:rPr>
              <a:t>Brekkeほか</a:t>
            </a:r>
            <a:endParaRPr lang="en-US" sz="970" dirty="0"/>
          </a:p>
          <a:p>
            <a:pPr algn="ctr" indent="0" marL="0">
              <a:buNone/>
            </a:pPr>
            <a:r>
              <a:rPr lang="en-US" sz="970" dirty="0">
                <a:solidFill>
                  <a:srgbClr val="A9BBC9"/>
                </a:solidFill>
                <a:latin typeface="Noto Sans CJK JP" pitchFamily="34" charset="0"/>
                <a:ea typeface="Noto Sans CJK JP" pitchFamily="34" charset="-122"/>
                <a:cs typeface="Noto Sans CJK JP" pitchFamily="34" charset="-120"/>
              </a:rPr>
              <a:t>Zabrodin</a:t>
            </a:r>
            <a:endParaRPr lang="en-US" sz="970" dirty="0"/>
          </a:p>
        </p:txBody>
      </p:sp>
      <p:sp>
        <p:nvSpPr>
          <p:cNvPr id="21" name="Shape 19"/>
          <p:cNvSpPr/>
          <p:nvPr/>
        </p:nvSpPr>
        <p:spPr>
          <a:xfrm>
            <a:off x="2592324" y="3721608"/>
            <a:ext cx="0" cy="256032"/>
          </a:xfrm>
          <a:prstGeom prst="line">
            <a:avLst/>
          </a:prstGeom>
          <a:noFill/>
          <a:ln w="25400">
            <a:solidFill>
              <a:srgbClr val="55D8E0"/>
            </a:solidFill>
            <a:prstDash val="solid"/>
          </a:ln>
        </p:spPr>
      </p:sp>
      <p:sp>
        <p:nvSpPr>
          <p:cNvPr id="22" name="Shape 20"/>
          <p:cNvSpPr/>
          <p:nvPr/>
        </p:nvSpPr>
        <p:spPr>
          <a:xfrm>
            <a:off x="2514600" y="3611880"/>
            <a:ext cx="155448" cy="155448"/>
          </a:xfrm>
          <a:prstGeom prst="ellipse">
            <a:avLst/>
          </a:prstGeom>
          <a:solidFill>
            <a:srgbClr val="55D8E0"/>
          </a:solidFill>
          <a:ln w="12700">
            <a:solidFill>
              <a:srgbClr val="07131E"/>
            </a:solidFill>
            <a:prstDash val="solid"/>
          </a:ln>
        </p:spPr>
      </p:sp>
      <p:sp>
        <p:nvSpPr>
          <p:cNvPr id="23" name="Shape 21"/>
          <p:cNvSpPr/>
          <p:nvPr/>
        </p:nvSpPr>
        <p:spPr>
          <a:xfrm>
            <a:off x="3383280" y="1783080"/>
            <a:ext cx="1234440" cy="1508760"/>
          </a:xfrm>
          <a:prstGeom prst="roundRect">
            <a:avLst>
              <a:gd name="adj" fmla="val 8889"/>
            </a:avLst>
          </a:prstGeom>
          <a:solidFill>
            <a:srgbClr val="0D2231"/>
          </a:solidFill>
          <a:ln w="12700">
            <a:solidFill>
              <a:srgbClr val="67D3A5"/>
            </a:solidFill>
            <a:prstDash val="solid"/>
          </a:ln>
        </p:spPr>
      </p:sp>
      <p:sp>
        <p:nvSpPr>
          <p:cNvPr id="24" name="Text 22"/>
          <p:cNvSpPr/>
          <p:nvPr/>
        </p:nvSpPr>
        <p:spPr>
          <a:xfrm>
            <a:off x="3456432" y="1892808"/>
            <a:ext cx="1088136" cy="301752"/>
          </a:xfrm>
          <a:prstGeom prst="rect">
            <a:avLst/>
          </a:prstGeom>
          <a:noFill/>
          <a:ln/>
        </p:spPr>
        <p:txBody>
          <a:bodyPr wrap="square" lIns="0" tIns="0" rIns="0" bIns="0" rtlCol="0" anchor="ctr">
            <a:normAutofit/>
          </a:bodyPr>
          <a:lstStyle/>
          <a:p>
            <a:pPr algn="ctr" indent="0" marL="0">
              <a:buNone/>
            </a:pPr>
            <a:r>
              <a:rPr lang="en-US" sz="1200" b="1" dirty="0">
                <a:solidFill>
                  <a:srgbClr val="67D3A5"/>
                </a:solidFill>
                <a:latin typeface="Noto Sans Mono CJK JP" pitchFamily="34" charset="0"/>
                <a:ea typeface="Noto Sans Mono CJK JP" pitchFamily="34" charset="-122"/>
                <a:cs typeface="Noto Sans Mono CJK JP" pitchFamily="34" charset="-120"/>
              </a:rPr>
              <a:t>2000</a:t>
            </a:r>
            <a:endParaRPr lang="en-US" sz="1200" dirty="0"/>
          </a:p>
        </p:txBody>
      </p:sp>
      <p:sp>
        <p:nvSpPr>
          <p:cNvPr id="25" name="Text 23"/>
          <p:cNvSpPr/>
          <p:nvPr/>
        </p:nvSpPr>
        <p:spPr>
          <a:xfrm>
            <a:off x="3465576" y="2258568"/>
            <a:ext cx="1069848" cy="438912"/>
          </a:xfrm>
          <a:prstGeom prst="rect">
            <a:avLst/>
          </a:prstGeom>
          <a:noFill/>
          <a:ln/>
        </p:spPr>
        <p:txBody>
          <a:bodyPr wrap="square" lIns="0" tIns="0" rIns="0" bIns="0" rtlCol="0" anchor="ctr">
            <a:normAutofit/>
          </a:bodyPr>
          <a:lstStyle/>
          <a:p>
            <a:pPr algn="ctr" indent="0" marL="0">
              <a:buNone/>
            </a:pPr>
            <a:r>
              <a:rPr lang="en-US" sz="1150" b="1" dirty="0">
                <a:solidFill>
                  <a:srgbClr val="F4F7FA"/>
                </a:solidFill>
                <a:latin typeface="Noto Sans CJK JP" pitchFamily="34" charset="0"/>
                <a:ea typeface="Noto Sans CJK JP" pitchFamily="34" charset="-122"/>
                <a:cs typeface="Noto Sans CJK JP" pitchFamily="34" charset="-120"/>
              </a:rPr>
              <a:t>タキオン凝縮</a:t>
            </a:r>
            <a:endParaRPr lang="en-US" sz="1150" dirty="0"/>
          </a:p>
        </p:txBody>
      </p:sp>
      <p:sp>
        <p:nvSpPr>
          <p:cNvPr id="26" name="Text 24"/>
          <p:cNvSpPr/>
          <p:nvPr/>
        </p:nvSpPr>
        <p:spPr>
          <a:xfrm>
            <a:off x="3456432" y="2724912"/>
            <a:ext cx="1088136" cy="438912"/>
          </a:xfrm>
          <a:prstGeom prst="rect">
            <a:avLst/>
          </a:prstGeom>
          <a:noFill/>
          <a:ln/>
        </p:spPr>
        <p:txBody>
          <a:bodyPr wrap="square" lIns="0" tIns="0" rIns="0" bIns="0" rtlCol="0" anchor="ctr">
            <a:normAutofit/>
          </a:bodyPr>
          <a:lstStyle/>
          <a:p>
            <a:pPr algn="ctr" indent="0" marL="0">
              <a:buNone/>
            </a:pPr>
            <a:r>
              <a:rPr lang="en-US" sz="970" dirty="0">
                <a:solidFill>
                  <a:srgbClr val="A9BBC9"/>
                </a:solidFill>
                <a:latin typeface="Noto Sans CJK JP" pitchFamily="34" charset="0"/>
                <a:ea typeface="Noto Sans CJK JP" pitchFamily="34" charset="-122"/>
                <a:cs typeface="Noto Sans CJK JP" pitchFamily="34" charset="-120"/>
              </a:rPr>
              <a:t>Ghoshal–Sen</a:t>
            </a:r>
            <a:endParaRPr lang="en-US" sz="970" dirty="0"/>
          </a:p>
          <a:p>
            <a:pPr algn="ctr" indent="0" marL="0">
              <a:buNone/>
            </a:pPr>
            <a:r>
              <a:rPr lang="en-US" sz="970" dirty="0">
                <a:solidFill>
                  <a:srgbClr val="A9BBC9"/>
                </a:solidFill>
                <a:latin typeface="Noto Sans CJK JP" pitchFamily="34" charset="0"/>
                <a:ea typeface="Noto Sans CJK JP" pitchFamily="34" charset="-122"/>
                <a:cs typeface="Noto Sans CJK JP" pitchFamily="34" charset="-120"/>
              </a:rPr>
              <a:t>Dブレーン lump</a:t>
            </a:r>
            <a:endParaRPr lang="en-US" sz="970" dirty="0"/>
          </a:p>
        </p:txBody>
      </p:sp>
      <p:sp>
        <p:nvSpPr>
          <p:cNvPr id="27" name="Shape 25"/>
          <p:cNvSpPr/>
          <p:nvPr/>
        </p:nvSpPr>
        <p:spPr>
          <a:xfrm>
            <a:off x="4000500" y="3291840"/>
            <a:ext cx="0" cy="429768"/>
          </a:xfrm>
          <a:prstGeom prst="line">
            <a:avLst/>
          </a:prstGeom>
          <a:noFill/>
          <a:ln w="25400">
            <a:solidFill>
              <a:srgbClr val="67D3A5"/>
            </a:solidFill>
            <a:prstDash val="solid"/>
          </a:ln>
        </p:spPr>
      </p:sp>
      <p:sp>
        <p:nvSpPr>
          <p:cNvPr id="28" name="Shape 26"/>
          <p:cNvSpPr/>
          <p:nvPr/>
        </p:nvSpPr>
        <p:spPr>
          <a:xfrm>
            <a:off x="3922776" y="3611880"/>
            <a:ext cx="155448" cy="155448"/>
          </a:xfrm>
          <a:prstGeom prst="ellipse">
            <a:avLst/>
          </a:prstGeom>
          <a:solidFill>
            <a:srgbClr val="67D3A5"/>
          </a:solidFill>
          <a:ln w="12700">
            <a:solidFill>
              <a:srgbClr val="07131E"/>
            </a:solidFill>
            <a:prstDash val="solid"/>
          </a:ln>
        </p:spPr>
      </p:sp>
      <p:sp>
        <p:nvSpPr>
          <p:cNvPr id="29" name="Shape 27"/>
          <p:cNvSpPr/>
          <p:nvPr/>
        </p:nvSpPr>
        <p:spPr>
          <a:xfrm>
            <a:off x="4791456" y="3977640"/>
            <a:ext cx="1234440" cy="1508760"/>
          </a:xfrm>
          <a:prstGeom prst="roundRect">
            <a:avLst>
              <a:gd name="adj" fmla="val 8889"/>
            </a:avLst>
          </a:prstGeom>
          <a:solidFill>
            <a:srgbClr val="0D2231"/>
          </a:solidFill>
          <a:ln w="12700">
            <a:solidFill>
              <a:srgbClr val="A58AE8"/>
            </a:solidFill>
            <a:prstDash val="solid"/>
          </a:ln>
        </p:spPr>
      </p:sp>
      <p:sp>
        <p:nvSpPr>
          <p:cNvPr id="30" name="Text 28"/>
          <p:cNvSpPr/>
          <p:nvPr/>
        </p:nvSpPr>
        <p:spPr>
          <a:xfrm>
            <a:off x="4864608" y="4087368"/>
            <a:ext cx="1088136" cy="301752"/>
          </a:xfrm>
          <a:prstGeom prst="rect">
            <a:avLst/>
          </a:prstGeom>
          <a:noFill/>
          <a:ln/>
        </p:spPr>
        <p:txBody>
          <a:bodyPr wrap="square" lIns="0" tIns="0" rIns="0" bIns="0" rtlCol="0" anchor="ctr">
            <a:normAutofit/>
          </a:bodyPr>
          <a:lstStyle/>
          <a:p>
            <a:pPr algn="ctr" indent="0" marL="0">
              <a:buNone/>
            </a:pPr>
            <a:r>
              <a:rPr lang="en-US" sz="1200" b="1" dirty="0">
                <a:solidFill>
                  <a:srgbClr val="A58AE8"/>
                </a:solidFill>
                <a:latin typeface="Noto Sans Mono CJK JP" pitchFamily="34" charset="0"/>
                <a:ea typeface="Noto Sans Mono CJK JP" pitchFamily="34" charset="-122"/>
                <a:cs typeface="Noto Sans Mono CJK JP" pitchFamily="34" charset="-120"/>
              </a:rPr>
              <a:t>2016–17</a:t>
            </a:r>
            <a:endParaRPr lang="en-US" sz="1200" dirty="0"/>
          </a:p>
        </p:txBody>
      </p:sp>
      <p:sp>
        <p:nvSpPr>
          <p:cNvPr id="31" name="Text 29"/>
          <p:cNvSpPr/>
          <p:nvPr/>
        </p:nvSpPr>
        <p:spPr>
          <a:xfrm>
            <a:off x="4873752" y="4453128"/>
            <a:ext cx="1069848" cy="438912"/>
          </a:xfrm>
          <a:prstGeom prst="rect">
            <a:avLst/>
          </a:prstGeom>
          <a:noFill/>
          <a:ln/>
        </p:spPr>
        <p:txBody>
          <a:bodyPr wrap="square" lIns="0" tIns="0" rIns="0" bIns="0" rtlCol="0" anchor="ctr">
            <a:normAutofit/>
          </a:bodyPr>
          <a:lstStyle/>
          <a:p>
            <a:pPr algn="ctr" indent="0" marL="0">
              <a:buNone/>
            </a:pPr>
            <a:r>
              <a:rPr lang="en-US" sz="1150" b="1" dirty="0">
                <a:solidFill>
                  <a:srgbClr val="F4F7FA"/>
                </a:solidFill>
                <a:latin typeface="Noto Sans CJK JP" pitchFamily="34" charset="0"/>
                <a:ea typeface="Noto Sans CJK JP" pitchFamily="34" charset="-122"/>
                <a:cs typeface="Noto Sans CJK JP" pitchFamily="34" charset="-120"/>
              </a:rPr>
              <a:t>p進 AdS/CFT</a:t>
            </a:r>
            <a:endParaRPr lang="en-US" sz="1150" dirty="0"/>
          </a:p>
        </p:txBody>
      </p:sp>
      <p:sp>
        <p:nvSpPr>
          <p:cNvPr id="32" name="Text 30"/>
          <p:cNvSpPr/>
          <p:nvPr/>
        </p:nvSpPr>
        <p:spPr>
          <a:xfrm>
            <a:off x="4864608" y="4919472"/>
            <a:ext cx="1088136" cy="438912"/>
          </a:xfrm>
          <a:prstGeom prst="rect">
            <a:avLst/>
          </a:prstGeom>
          <a:noFill/>
          <a:ln/>
        </p:spPr>
        <p:txBody>
          <a:bodyPr wrap="square" lIns="0" tIns="0" rIns="0" bIns="0" rtlCol="0" anchor="ctr">
            <a:normAutofit/>
          </a:bodyPr>
          <a:lstStyle/>
          <a:p>
            <a:pPr algn="ctr" indent="0" marL="0">
              <a:buNone/>
            </a:pPr>
            <a:r>
              <a:rPr lang="en-US" sz="970" dirty="0">
                <a:solidFill>
                  <a:srgbClr val="A9BBC9"/>
                </a:solidFill>
                <a:latin typeface="Noto Sans CJK JP" pitchFamily="34" charset="0"/>
                <a:ea typeface="Noto Sans CJK JP" pitchFamily="34" charset="-122"/>
                <a:cs typeface="Noto Sans CJK JP" pitchFamily="34" charset="-120"/>
              </a:rPr>
              <a:t>Gubserほか</a:t>
            </a:r>
            <a:endParaRPr lang="en-US" sz="970" dirty="0"/>
          </a:p>
          <a:p>
            <a:pPr algn="ctr" indent="0" marL="0">
              <a:buNone/>
            </a:pPr>
            <a:r>
              <a:rPr lang="en-US" sz="970" dirty="0">
                <a:solidFill>
                  <a:srgbClr val="A9BBC9"/>
                </a:solidFill>
                <a:latin typeface="Noto Sans CJK JP" pitchFamily="34" charset="0"/>
                <a:ea typeface="Noto Sans CJK JP" pitchFamily="34" charset="-122"/>
                <a:cs typeface="Noto Sans CJK JP" pitchFamily="34" charset="-120"/>
              </a:rPr>
              <a:t>Heydemanほか</a:t>
            </a:r>
            <a:endParaRPr lang="en-US" sz="970" dirty="0"/>
          </a:p>
        </p:txBody>
      </p:sp>
      <p:sp>
        <p:nvSpPr>
          <p:cNvPr id="33" name="Shape 31"/>
          <p:cNvSpPr/>
          <p:nvPr/>
        </p:nvSpPr>
        <p:spPr>
          <a:xfrm>
            <a:off x="5408676" y="3721608"/>
            <a:ext cx="0" cy="256032"/>
          </a:xfrm>
          <a:prstGeom prst="line">
            <a:avLst/>
          </a:prstGeom>
          <a:noFill/>
          <a:ln w="25400">
            <a:solidFill>
              <a:srgbClr val="A58AE8"/>
            </a:solidFill>
            <a:prstDash val="solid"/>
          </a:ln>
        </p:spPr>
      </p:sp>
      <p:sp>
        <p:nvSpPr>
          <p:cNvPr id="34" name="Shape 32"/>
          <p:cNvSpPr/>
          <p:nvPr/>
        </p:nvSpPr>
        <p:spPr>
          <a:xfrm>
            <a:off x="5330952" y="3611880"/>
            <a:ext cx="155448" cy="155448"/>
          </a:xfrm>
          <a:prstGeom prst="ellipse">
            <a:avLst/>
          </a:prstGeom>
          <a:solidFill>
            <a:srgbClr val="A58AE8"/>
          </a:solidFill>
          <a:ln w="12700">
            <a:solidFill>
              <a:srgbClr val="07131E"/>
            </a:solidFill>
            <a:prstDash val="solid"/>
          </a:ln>
        </p:spPr>
      </p:sp>
      <p:sp>
        <p:nvSpPr>
          <p:cNvPr id="35" name="Shape 33"/>
          <p:cNvSpPr/>
          <p:nvPr/>
        </p:nvSpPr>
        <p:spPr>
          <a:xfrm>
            <a:off x="6199632" y="1783080"/>
            <a:ext cx="1234440" cy="1508760"/>
          </a:xfrm>
          <a:prstGeom prst="roundRect">
            <a:avLst>
              <a:gd name="adj" fmla="val 8889"/>
            </a:avLst>
          </a:prstGeom>
          <a:solidFill>
            <a:srgbClr val="0D2231"/>
          </a:solidFill>
          <a:ln w="12700">
            <a:solidFill>
              <a:srgbClr val="55D8E0"/>
            </a:solidFill>
            <a:prstDash val="solid"/>
          </a:ln>
        </p:spPr>
      </p:sp>
      <p:sp>
        <p:nvSpPr>
          <p:cNvPr id="36" name="Text 34"/>
          <p:cNvSpPr/>
          <p:nvPr/>
        </p:nvSpPr>
        <p:spPr>
          <a:xfrm>
            <a:off x="6272784" y="1892808"/>
            <a:ext cx="1088136" cy="301752"/>
          </a:xfrm>
          <a:prstGeom prst="rect">
            <a:avLst/>
          </a:prstGeom>
          <a:noFill/>
          <a:ln/>
        </p:spPr>
        <p:txBody>
          <a:bodyPr wrap="square" lIns="0" tIns="0" rIns="0" bIns="0" rtlCol="0" anchor="ctr">
            <a:normAutofit/>
          </a:bodyPr>
          <a:lstStyle/>
          <a:p>
            <a:pPr algn="ctr" indent="0" marL="0">
              <a:buNone/>
            </a:pPr>
            <a:r>
              <a:rPr lang="en-US" sz="1200" b="1" dirty="0">
                <a:solidFill>
                  <a:srgbClr val="55D8E0"/>
                </a:solidFill>
                <a:latin typeface="Noto Sans Mono CJK JP" pitchFamily="34" charset="0"/>
                <a:ea typeface="Noto Sans Mono CJK JP" pitchFamily="34" charset="-122"/>
                <a:cs typeface="Noto Sans Mono CJK JP" pitchFamily="34" charset="-120"/>
              </a:rPr>
              <a:t>2019</a:t>
            </a:r>
            <a:endParaRPr lang="en-US" sz="1200" dirty="0"/>
          </a:p>
        </p:txBody>
      </p:sp>
      <p:sp>
        <p:nvSpPr>
          <p:cNvPr id="37" name="Text 35"/>
          <p:cNvSpPr/>
          <p:nvPr/>
        </p:nvSpPr>
        <p:spPr>
          <a:xfrm>
            <a:off x="6281928" y="2258568"/>
            <a:ext cx="1069848" cy="438912"/>
          </a:xfrm>
          <a:prstGeom prst="rect">
            <a:avLst/>
          </a:prstGeom>
          <a:noFill/>
          <a:ln/>
        </p:spPr>
        <p:txBody>
          <a:bodyPr wrap="square" lIns="0" tIns="0" rIns="0" bIns="0" rtlCol="0" anchor="ctr">
            <a:normAutofit/>
          </a:bodyPr>
          <a:lstStyle/>
          <a:p>
            <a:pPr algn="ctr" indent="0" marL="0">
              <a:buNone/>
            </a:pPr>
            <a:r>
              <a:rPr lang="en-US" sz="1150" b="1" dirty="0">
                <a:solidFill>
                  <a:srgbClr val="F4F7FA"/>
                </a:solidFill>
                <a:latin typeface="Noto Sans CJK JP" pitchFamily="34" charset="0"/>
                <a:ea typeface="Noto Sans CJK JP" pitchFamily="34" charset="-122"/>
                <a:cs typeface="Noto Sans CJK JP" pitchFamily="34" charset="-120"/>
              </a:rPr>
              <a:t>テンソル網の厳密化</a:t>
            </a:r>
            <a:endParaRPr lang="en-US" sz="1150" dirty="0"/>
          </a:p>
        </p:txBody>
      </p:sp>
      <p:sp>
        <p:nvSpPr>
          <p:cNvPr id="38" name="Text 36"/>
          <p:cNvSpPr/>
          <p:nvPr/>
        </p:nvSpPr>
        <p:spPr>
          <a:xfrm>
            <a:off x="6272784" y="2724912"/>
            <a:ext cx="1088136" cy="438912"/>
          </a:xfrm>
          <a:prstGeom prst="rect">
            <a:avLst/>
          </a:prstGeom>
          <a:noFill/>
          <a:ln/>
        </p:spPr>
        <p:txBody>
          <a:bodyPr wrap="square" lIns="0" tIns="0" rIns="0" bIns="0" rtlCol="0" anchor="ctr">
            <a:normAutofit/>
          </a:bodyPr>
          <a:lstStyle/>
          <a:p>
            <a:pPr algn="ctr" indent="0" marL="0">
              <a:buNone/>
            </a:pPr>
            <a:r>
              <a:rPr lang="en-US" sz="970" dirty="0">
                <a:solidFill>
                  <a:srgbClr val="A9BBC9"/>
                </a:solidFill>
                <a:latin typeface="Noto Sans CJK JP" pitchFamily="34" charset="0"/>
                <a:ea typeface="Noto Sans CJK JP" pitchFamily="34" charset="-122"/>
                <a:cs typeface="Noto Sans CJK JP" pitchFamily="34" charset="-120"/>
              </a:rPr>
              <a:t>全相関関数を再現</a:t>
            </a:r>
            <a:endParaRPr lang="en-US" sz="970" dirty="0"/>
          </a:p>
          <a:p>
            <a:pPr algn="ctr" indent="0" marL="0">
              <a:buNone/>
            </a:pPr>
            <a:r>
              <a:rPr lang="en-US" sz="970" dirty="0">
                <a:solidFill>
                  <a:srgbClr val="A9BBC9"/>
                </a:solidFill>
                <a:latin typeface="Noto Sans CJK JP" pitchFamily="34" charset="0"/>
                <a:ea typeface="Noto Sans CJK JP" pitchFamily="34" charset="-122"/>
                <a:cs typeface="Noto Sans CJK JP" pitchFamily="34" charset="-120"/>
              </a:rPr>
              <a:t>Hungほか</a:t>
            </a:r>
            <a:endParaRPr lang="en-US" sz="970" dirty="0"/>
          </a:p>
        </p:txBody>
      </p:sp>
      <p:sp>
        <p:nvSpPr>
          <p:cNvPr id="39" name="Shape 37"/>
          <p:cNvSpPr/>
          <p:nvPr/>
        </p:nvSpPr>
        <p:spPr>
          <a:xfrm>
            <a:off x="6816852" y="3291840"/>
            <a:ext cx="0" cy="429768"/>
          </a:xfrm>
          <a:prstGeom prst="line">
            <a:avLst/>
          </a:prstGeom>
          <a:noFill/>
          <a:ln w="25400">
            <a:solidFill>
              <a:srgbClr val="55D8E0"/>
            </a:solidFill>
            <a:prstDash val="solid"/>
          </a:ln>
        </p:spPr>
      </p:sp>
      <p:sp>
        <p:nvSpPr>
          <p:cNvPr id="40" name="Shape 38"/>
          <p:cNvSpPr/>
          <p:nvPr/>
        </p:nvSpPr>
        <p:spPr>
          <a:xfrm>
            <a:off x="6739128" y="3611880"/>
            <a:ext cx="155448" cy="155448"/>
          </a:xfrm>
          <a:prstGeom prst="ellipse">
            <a:avLst/>
          </a:prstGeom>
          <a:solidFill>
            <a:srgbClr val="55D8E0"/>
          </a:solidFill>
          <a:ln w="12700">
            <a:solidFill>
              <a:srgbClr val="07131E"/>
            </a:solidFill>
            <a:prstDash val="solid"/>
          </a:ln>
        </p:spPr>
      </p:sp>
      <p:sp>
        <p:nvSpPr>
          <p:cNvPr id="41" name="Shape 39"/>
          <p:cNvSpPr/>
          <p:nvPr/>
        </p:nvSpPr>
        <p:spPr>
          <a:xfrm>
            <a:off x="7607808" y="3977640"/>
            <a:ext cx="1234440" cy="1508760"/>
          </a:xfrm>
          <a:prstGeom prst="roundRect">
            <a:avLst>
              <a:gd name="adj" fmla="val 8889"/>
            </a:avLst>
          </a:prstGeom>
          <a:solidFill>
            <a:srgbClr val="0D2231"/>
          </a:solidFill>
          <a:ln w="12700">
            <a:solidFill>
              <a:srgbClr val="F0806B"/>
            </a:solidFill>
            <a:prstDash val="solid"/>
          </a:ln>
        </p:spPr>
      </p:sp>
      <p:sp>
        <p:nvSpPr>
          <p:cNvPr id="42" name="Text 40"/>
          <p:cNvSpPr/>
          <p:nvPr/>
        </p:nvSpPr>
        <p:spPr>
          <a:xfrm>
            <a:off x="7680960" y="4087368"/>
            <a:ext cx="1088136" cy="301752"/>
          </a:xfrm>
          <a:prstGeom prst="rect">
            <a:avLst/>
          </a:prstGeom>
          <a:noFill/>
          <a:ln/>
        </p:spPr>
        <p:txBody>
          <a:bodyPr wrap="square" lIns="0" tIns="0" rIns="0" bIns="0" rtlCol="0" anchor="ctr">
            <a:normAutofit/>
          </a:bodyPr>
          <a:lstStyle/>
          <a:p>
            <a:pPr algn="ctr" indent="0" marL="0">
              <a:buNone/>
            </a:pPr>
            <a:r>
              <a:rPr lang="en-US" sz="1200" b="1" dirty="0">
                <a:solidFill>
                  <a:srgbClr val="F0806B"/>
                </a:solidFill>
                <a:latin typeface="Noto Sans Mono CJK JP" pitchFamily="34" charset="0"/>
                <a:ea typeface="Noto Sans Mono CJK JP" pitchFamily="34" charset="-122"/>
                <a:cs typeface="Noto Sans Mono CJK JP" pitchFamily="34" charset="-120"/>
              </a:rPr>
              <a:t>2021</a:t>
            </a:r>
            <a:endParaRPr lang="en-US" sz="1200" dirty="0"/>
          </a:p>
        </p:txBody>
      </p:sp>
      <p:sp>
        <p:nvSpPr>
          <p:cNvPr id="43" name="Text 41"/>
          <p:cNvSpPr/>
          <p:nvPr/>
        </p:nvSpPr>
        <p:spPr>
          <a:xfrm>
            <a:off x="7690104" y="4453128"/>
            <a:ext cx="1069848" cy="438912"/>
          </a:xfrm>
          <a:prstGeom prst="rect">
            <a:avLst/>
          </a:prstGeom>
          <a:noFill/>
          <a:ln/>
        </p:spPr>
        <p:txBody>
          <a:bodyPr wrap="square" lIns="0" tIns="0" rIns="0" bIns="0" rtlCol="0" anchor="ctr">
            <a:normAutofit/>
          </a:bodyPr>
          <a:lstStyle/>
          <a:p>
            <a:pPr algn="ctr" indent="0" marL="0">
              <a:buNone/>
            </a:pPr>
            <a:r>
              <a:rPr lang="en-US" sz="1150" b="1" dirty="0">
                <a:solidFill>
                  <a:srgbClr val="F4F7FA"/>
                </a:solidFill>
                <a:latin typeface="Noto Sans CJK JP" pitchFamily="34" charset="0"/>
                <a:ea typeface="Noto Sans CJK JP" pitchFamily="34" charset="-122"/>
                <a:cs typeface="Noto Sans CJK JP" pitchFamily="34" charset="-120"/>
              </a:rPr>
              <a:t>創発重力</a:t>
            </a:r>
            <a:endParaRPr lang="en-US" sz="1150" dirty="0"/>
          </a:p>
        </p:txBody>
      </p:sp>
      <p:sp>
        <p:nvSpPr>
          <p:cNvPr id="44" name="Text 42"/>
          <p:cNvSpPr/>
          <p:nvPr/>
        </p:nvSpPr>
        <p:spPr>
          <a:xfrm>
            <a:off x="7680960" y="4919472"/>
            <a:ext cx="1088136" cy="438912"/>
          </a:xfrm>
          <a:prstGeom prst="rect">
            <a:avLst/>
          </a:prstGeom>
          <a:noFill/>
          <a:ln/>
        </p:spPr>
        <p:txBody>
          <a:bodyPr wrap="square" lIns="0" tIns="0" rIns="0" bIns="0" rtlCol="0" anchor="ctr">
            <a:normAutofit/>
          </a:bodyPr>
          <a:lstStyle/>
          <a:p>
            <a:pPr algn="ctr" indent="0" marL="0">
              <a:buNone/>
            </a:pPr>
            <a:r>
              <a:rPr lang="en-US" sz="970" dirty="0">
                <a:solidFill>
                  <a:srgbClr val="A9BBC9"/>
                </a:solidFill>
                <a:latin typeface="Noto Sans CJK JP" pitchFamily="34" charset="0"/>
                <a:ea typeface="Noto Sans CJK JP" pitchFamily="34" charset="-122"/>
                <a:cs typeface="Noto Sans CJK JP" pitchFamily="34" charset="-120"/>
              </a:rPr>
              <a:t>グラフ版</a:t>
            </a:r>
            <a:endParaRPr lang="en-US" sz="970" dirty="0"/>
          </a:p>
          <a:p>
            <a:pPr algn="ctr" indent="0" marL="0">
              <a:buNone/>
            </a:pPr>
            <a:r>
              <a:rPr lang="en-US" sz="970" dirty="0">
                <a:solidFill>
                  <a:srgbClr val="A9BBC9"/>
                </a:solidFill>
                <a:latin typeface="Noto Sans CJK JP" pitchFamily="34" charset="0"/>
                <a:ea typeface="Noto Sans CJK JP" pitchFamily="34" charset="-122"/>
                <a:cs typeface="Noto Sans CJK JP" pitchFamily="34" charset="-120"/>
              </a:rPr>
              <a:t>Einstein方程式</a:t>
            </a:r>
            <a:endParaRPr lang="en-US" sz="970" dirty="0"/>
          </a:p>
        </p:txBody>
      </p:sp>
      <p:sp>
        <p:nvSpPr>
          <p:cNvPr id="45" name="Shape 43"/>
          <p:cNvSpPr/>
          <p:nvPr/>
        </p:nvSpPr>
        <p:spPr>
          <a:xfrm>
            <a:off x="8225028" y="3721608"/>
            <a:ext cx="0" cy="256032"/>
          </a:xfrm>
          <a:prstGeom prst="line">
            <a:avLst/>
          </a:prstGeom>
          <a:noFill/>
          <a:ln w="25400">
            <a:solidFill>
              <a:srgbClr val="F0806B"/>
            </a:solidFill>
            <a:prstDash val="solid"/>
          </a:ln>
        </p:spPr>
      </p:sp>
      <p:sp>
        <p:nvSpPr>
          <p:cNvPr id="46" name="Shape 44"/>
          <p:cNvSpPr/>
          <p:nvPr/>
        </p:nvSpPr>
        <p:spPr>
          <a:xfrm>
            <a:off x="8147304" y="3611880"/>
            <a:ext cx="155448" cy="155448"/>
          </a:xfrm>
          <a:prstGeom prst="ellipse">
            <a:avLst/>
          </a:prstGeom>
          <a:solidFill>
            <a:srgbClr val="F0806B"/>
          </a:solidFill>
          <a:ln w="12700">
            <a:solidFill>
              <a:srgbClr val="07131E"/>
            </a:solidFill>
            <a:prstDash val="solid"/>
          </a:ln>
        </p:spPr>
      </p:sp>
      <p:sp>
        <p:nvSpPr>
          <p:cNvPr id="47" name="Shape 45"/>
          <p:cNvSpPr/>
          <p:nvPr/>
        </p:nvSpPr>
        <p:spPr>
          <a:xfrm>
            <a:off x="9015984" y="1783080"/>
            <a:ext cx="1234440" cy="1508760"/>
          </a:xfrm>
          <a:prstGeom prst="roundRect">
            <a:avLst>
              <a:gd name="adj" fmla="val 8889"/>
            </a:avLst>
          </a:prstGeom>
          <a:solidFill>
            <a:srgbClr val="0D2231"/>
          </a:solidFill>
          <a:ln w="12700">
            <a:solidFill>
              <a:srgbClr val="F2B65D"/>
            </a:solidFill>
            <a:prstDash val="solid"/>
          </a:ln>
        </p:spPr>
      </p:sp>
      <p:sp>
        <p:nvSpPr>
          <p:cNvPr id="48" name="Text 46"/>
          <p:cNvSpPr/>
          <p:nvPr/>
        </p:nvSpPr>
        <p:spPr>
          <a:xfrm>
            <a:off x="9089136" y="1892808"/>
            <a:ext cx="1088136" cy="301752"/>
          </a:xfrm>
          <a:prstGeom prst="rect">
            <a:avLst/>
          </a:prstGeom>
          <a:noFill/>
          <a:ln/>
        </p:spPr>
        <p:txBody>
          <a:bodyPr wrap="square" lIns="0" tIns="0" rIns="0" bIns="0" rtlCol="0" anchor="ctr">
            <a:normAutofit/>
          </a:bodyPr>
          <a:lstStyle/>
          <a:p>
            <a:pPr algn="ctr" indent="0" marL="0">
              <a:buNone/>
            </a:pPr>
            <a:r>
              <a:rPr lang="en-US" sz="1200" b="1" dirty="0">
                <a:solidFill>
                  <a:srgbClr val="F2B65D"/>
                </a:solidFill>
                <a:latin typeface="Noto Sans Mono CJK JP" pitchFamily="34" charset="0"/>
                <a:ea typeface="Noto Sans Mono CJK JP" pitchFamily="34" charset="-122"/>
                <a:cs typeface="Noto Sans Mono CJK JP" pitchFamily="34" charset="-120"/>
              </a:rPr>
              <a:t>2025</a:t>
            </a:r>
            <a:endParaRPr lang="en-US" sz="1200" dirty="0"/>
          </a:p>
        </p:txBody>
      </p:sp>
      <p:sp>
        <p:nvSpPr>
          <p:cNvPr id="49" name="Text 47"/>
          <p:cNvSpPr/>
          <p:nvPr/>
        </p:nvSpPr>
        <p:spPr>
          <a:xfrm>
            <a:off x="9098280" y="2258568"/>
            <a:ext cx="1069848" cy="438912"/>
          </a:xfrm>
          <a:prstGeom prst="rect">
            <a:avLst/>
          </a:prstGeom>
          <a:noFill/>
          <a:ln/>
        </p:spPr>
        <p:txBody>
          <a:bodyPr wrap="square" lIns="0" tIns="0" rIns="0" bIns="0" rtlCol="0" anchor="ctr">
            <a:normAutofit/>
          </a:bodyPr>
          <a:lstStyle/>
          <a:p>
            <a:pPr algn="ctr" indent="0" marL="0">
              <a:buNone/>
            </a:pPr>
            <a:r>
              <a:rPr lang="en-US" sz="1150" b="1" dirty="0">
                <a:solidFill>
                  <a:srgbClr val="F4F7FA"/>
                </a:solidFill>
                <a:latin typeface="Noto Sans CJK JP" pitchFamily="34" charset="0"/>
                <a:ea typeface="Noto Sans CJK JP" pitchFamily="34" charset="-122"/>
                <a:cs typeface="Noto Sans CJK JP" pitchFamily="34" charset="-120"/>
              </a:rPr>
              <a:t>有限温度</a:t>
            </a:r>
            <a:endParaRPr lang="en-US" sz="1150" dirty="0"/>
          </a:p>
        </p:txBody>
      </p:sp>
      <p:sp>
        <p:nvSpPr>
          <p:cNvPr id="50" name="Text 48"/>
          <p:cNvSpPr/>
          <p:nvPr/>
        </p:nvSpPr>
        <p:spPr>
          <a:xfrm>
            <a:off x="9089136" y="2724912"/>
            <a:ext cx="1088136" cy="438912"/>
          </a:xfrm>
          <a:prstGeom prst="rect">
            <a:avLst/>
          </a:prstGeom>
          <a:noFill/>
          <a:ln/>
        </p:spPr>
        <p:txBody>
          <a:bodyPr wrap="square" lIns="0" tIns="0" rIns="0" bIns="0" rtlCol="0" anchor="ctr">
            <a:normAutofit/>
          </a:bodyPr>
          <a:lstStyle/>
          <a:p>
            <a:pPr algn="ctr" indent="0" marL="0">
              <a:buNone/>
            </a:pPr>
            <a:r>
              <a:rPr lang="en-US" sz="970" dirty="0">
                <a:solidFill>
                  <a:srgbClr val="A9BBC9"/>
                </a:solidFill>
                <a:latin typeface="Noto Sans CJK JP" pitchFamily="34" charset="0"/>
                <a:ea typeface="Noto Sans CJK JP" pitchFamily="34" charset="-122"/>
                <a:cs typeface="Noto Sans CJK JP" pitchFamily="34" charset="-120"/>
              </a:rPr>
              <a:t>Tate曲線</a:t>
            </a:r>
            <a:endParaRPr lang="en-US" sz="970" dirty="0"/>
          </a:p>
          <a:p>
            <a:pPr algn="ctr" indent="0" marL="0">
              <a:buNone/>
            </a:pPr>
            <a:r>
              <a:rPr lang="en-US" sz="970" dirty="0">
                <a:solidFill>
                  <a:srgbClr val="A9BBC9"/>
                </a:solidFill>
                <a:latin typeface="Noto Sans CJK JP" pitchFamily="34" charset="0"/>
                <a:ea typeface="Noto Sans CJK JP" pitchFamily="34" charset="-122"/>
                <a:cs typeface="Noto Sans CJK JP" pitchFamily="34" charset="-120"/>
              </a:rPr>
              <a:t>一ループ相関</a:t>
            </a:r>
            <a:endParaRPr lang="en-US" sz="970" dirty="0"/>
          </a:p>
        </p:txBody>
      </p:sp>
      <p:sp>
        <p:nvSpPr>
          <p:cNvPr id="51" name="Shape 49"/>
          <p:cNvSpPr/>
          <p:nvPr/>
        </p:nvSpPr>
        <p:spPr>
          <a:xfrm>
            <a:off x="9633204" y="3291840"/>
            <a:ext cx="0" cy="429768"/>
          </a:xfrm>
          <a:prstGeom prst="line">
            <a:avLst/>
          </a:prstGeom>
          <a:noFill/>
          <a:ln w="25400">
            <a:solidFill>
              <a:srgbClr val="F2B65D"/>
            </a:solidFill>
            <a:prstDash val="solid"/>
          </a:ln>
        </p:spPr>
      </p:sp>
      <p:sp>
        <p:nvSpPr>
          <p:cNvPr id="52" name="Shape 50"/>
          <p:cNvSpPr/>
          <p:nvPr/>
        </p:nvSpPr>
        <p:spPr>
          <a:xfrm>
            <a:off x="9555480" y="3611880"/>
            <a:ext cx="155448" cy="155448"/>
          </a:xfrm>
          <a:prstGeom prst="ellipse">
            <a:avLst/>
          </a:prstGeom>
          <a:solidFill>
            <a:srgbClr val="F2B65D"/>
          </a:solidFill>
          <a:ln w="12700">
            <a:solidFill>
              <a:srgbClr val="07131E"/>
            </a:solidFill>
            <a:prstDash val="solid"/>
          </a:ln>
        </p:spPr>
      </p:sp>
      <p:sp>
        <p:nvSpPr>
          <p:cNvPr id="53" name="Shape 51"/>
          <p:cNvSpPr/>
          <p:nvPr/>
        </p:nvSpPr>
        <p:spPr>
          <a:xfrm>
            <a:off x="10424160" y="3977640"/>
            <a:ext cx="1234440" cy="1508760"/>
          </a:xfrm>
          <a:prstGeom prst="roundRect">
            <a:avLst>
              <a:gd name="adj" fmla="val 8889"/>
            </a:avLst>
          </a:prstGeom>
          <a:solidFill>
            <a:srgbClr val="0D2231"/>
          </a:solidFill>
          <a:ln w="12700">
            <a:solidFill>
              <a:srgbClr val="67D3A5"/>
            </a:solidFill>
            <a:prstDash val="solid"/>
          </a:ln>
        </p:spPr>
      </p:sp>
      <p:sp>
        <p:nvSpPr>
          <p:cNvPr id="54" name="Text 52"/>
          <p:cNvSpPr/>
          <p:nvPr/>
        </p:nvSpPr>
        <p:spPr>
          <a:xfrm>
            <a:off x="10497312" y="4087368"/>
            <a:ext cx="1088136" cy="301752"/>
          </a:xfrm>
          <a:prstGeom prst="rect">
            <a:avLst/>
          </a:prstGeom>
          <a:noFill/>
          <a:ln/>
        </p:spPr>
        <p:txBody>
          <a:bodyPr wrap="square" lIns="0" tIns="0" rIns="0" bIns="0" rtlCol="0" anchor="ctr">
            <a:normAutofit/>
          </a:bodyPr>
          <a:lstStyle/>
          <a:p>
            <a:pPr algn="ctr" indent="0" marL="0">
              <a:buNone/>
            </a:pPr>
            <a:r>
              <a:rPr lang="en-US" sz="1200" b="1" dirty="0">
                <a:solidFill>
                  <a:srgbClr val="67D3A5"/>
                </a:solidFill>
                <a:latin typeface="Noto Sans Mono CJK JP" pitchFamily="34" charset="0"/>
                <a:ea typeface="Noto Sans Mono CJK JP" pitchFamily="34" charset="-122"/>
                <a:cs typeface="Noto Sans Mono CJK JP" pitchFamily="34" charset="-120"/>
              </a:rPr>
              <a:t>2026</a:t>
            </a:r>
            <a:endParaRPr lang="en-US" sz="1200" dirty="0"/>
          </a:p>
        </p:txBody>
      </p:sp>
      <p:sp>
        <p:nvSpPr>
          <p:cNvPr id="55" name="Text 53"/>
          <p:cNvSpPr/>
          <p:nvPr/>
        </p:nvSpPr>
        <p:spPr>
          <a:xfrm>
            <a:off x="10506456" y="4453128"/>
            <a:ext cx="1069848" cy="438912"/>
          </a:xfrm>
          <a:prstGeom prst="rect">
            <a:avLst/>
          </a:prstGeom>
          <a:noFill/>
          <a:ln/>
        </p:spPr>
        <p:txBody>
          <a:bodyPr wrap="square" lIns="0" tIns="0" rIns="0" bIns="0" rtlCol="0" anchor="ctr">
            <a:normAutofit/>
          </a:bodyPr>
          <a:lstStyle/>
          <a:p>
            <a:pPr algn="ctr" indent="0" marL="0">
              <a:buNone/>
            </a:pPr>
            <a:r>
              <a:rPr lang="en-US" sz="1150" b="1" dirty="0">
                <a:solidFill>
                  <a:srgbClr val="F4F7FA"/>
                </a:solidFill>
                <a:latin typeface="Noto Sans CJK JP" pitchFamily="34" charset="0"/>
                <a:ea typeface="Noto Sans CJK JP" pitchFamily="34" charset="-122"/>
                <a:cs typeface="Noto Sans CJK JP" pitchFamily="34" charset="-120"/>
              </a:rPr>
              <a:t>一ループp進弦</a:t>
            </a:r>
            <a:endParaRPr lang="en-US" sz="1150" dirty="0"/>
          </a:p>
        </p:txBody>
      </p:sp>
      <p:sp>
        <p:nvSpPr>
          <p:cNvPr id="56" name="Text 54"/>
          <p:cNvSpPr/>
          <p:nvPr/>
        </p:nvSpPr>
        <p:spPr>
          <a:xfrm>
            <a:off x="10497312" y="4919472"/>
            <a:ext cx="1088136" cy="438912"/>
          </a:xfrm>
          <a:prstGeom prst="rect">
            <a:avLst/>
          </a:prstGeom>
          <a:noFill/>
          <a:ln/>
        </p:spPr>
        <p:txBody>
          <a:bodyPr wrap="square" lIns="0" tIns="0" rIns="0" bIns="0" rtlCol="0" anchor="ctr">
            <a:normAutofit/>
          </a:bodyPr>
          <a:lstStyle/>
          <a:p>
            <a:pPr algn="ctr" indent="0" marL="0">
              <a:buNone/>
            </a:pPr>
            <a:r>
              <a:rPr lang="en-US" sz="970" dirty="0">
                <a:solidFill>
                  <a:srgbClr val="A9BBC9"/>
                </a:solidFill>
                <a:latin typeface="Noto Sans CJK JP" pitchFamily="34" charset="0"/>
                <a:ea typeface="Noto Sans CJK JP" pitchFamily="34" charset="-122"/>
                <a:cs typeface="Noto Sans CJK JP" pitchFamily="34" charset="-120"/>
              </a:rPr>
              <a:t>局所高さ関数との一致</a:t>
            </a:r>
            <a:endParaRPr lang="en-US" sz="970" dirty="0"/>
          </a:p>
          <a:p>
            <a:pPr algn="ctr" indent="0" marL="0">
              <a:buNone/>
            </a:pPr>
            <a:r>
              <a:rPr lang="en-US" sz="970" dirty="0">
                <a:solidFill>
                  <a:srgbClr val="A9BBC9"/>
                </a:solidFill>
                <a:latin typeface="Noto Sans CJK JP" pitchFamily="34" charset="0"/>
                <a:ea typeface="Noto Sans CJK JP" pitchFamily="34" charset="-122"/>
                <a:cs typeface="Noto Sans CJK JP" pitchFamily="34" charset="-120"/>
              </a:rPr>
              <a:t>プレプリント</a:t>
            </a:r>
            <a:endParaRPr lang="en-US" sz="970" dirty="0"/>
          </a:p>
        </p:txBody>
      </p:sp>
      <p:sp>
        <p:nvSpPr>
          <p:cNvPr id="57" name="Shape 55"/>
          <p:cNvSpPr/>
          <p:nvPr/>
        </p:nvSpPr>
        <p:spPr>
          <a:xfrm>
            <a:off x="11041380" y="3721608"/>
            <a:ext cx="0" cy="256032"/>
          </a:xfrm>
          <a:prstGeom prst="line">
            <a:avLst/>
          </a:prstGeom>
          <a:noFill/>
          <a:ln w="25400">
            <a:solidFill>
              <a:srgbClr val="67D3A5"/>
            </a:solidFill>
            <a:prstDash val="solid"/>
          </a:ln>
        </p:spPr>
      </p:sp>
      <p:sp>
        <p:nvSpPr>
          <p:cNvPr id="58" name="Shape 56"/>
          <p:cNvSpPr/>
          <p:nvPr/>
        </p:nvSpPr>
        <p:spPr>
          <a:xfrm>
            <a:off x="10963656" y="3611880"/>
            <a:ext cx="155448" cy="155448"/>
          </a:xfrm>
          <a:prstGeom prst="ellipse">
            <a:avLst/>
          </a:prstGeom>
          <a:solidFill>
            <a:srgbClr val="67D3A5"/>
          </a:solidFill>
          <a:ln w="12700">
            <a:solidFill>
              <a:srgbClr val="07131E"/>
            </a:solidFill>
            <a:prstDash val="solid"/>
          </a:ln>
        </p:spPr>
      </p:sp>
      <p:sp>
        <p:nvSpPr>
          <p:cNvPr id="59" name="Text 57"/>
          <p:cNvSpPr/>
          <p:nvPr/>
        </p:nvSpPr>
        <p:spPr>
          <a:xfrm>
            <a:off x="914400" y="5897880"/>
            <a:ext cx="2103120" cy="256032"/>
          </a:xfrm>
          <a:prstGeom prst="rect">
            <a:avLst/>
          </a:prstGeom>
          <a:noFill/>
          <a:ln/>
        </p:spPr>
        <p:txBody>
          <a:bodyPr wrap="square" lIns="0" tIns="0" rIns="0" bIns="0" rtlCol="0" anchor="ctr"/>
          <a:lstStyle/>
          <a:p>
            <a:pPr algn="ctr" indent="0" marL="0">
              <a:buNone/>
            </a:pPr>
            <a:r>
              <a:rPr lang="en-US" sz="1200" b="1" dirty="0">
                <a:solidFill>
                  <a:srgbClr val="F2B65D"/>
                </a:solidFill>
                <a:latin typeface="Noto Sans CJK JP" pitchFamily="34" charset="0"/>
                <a:ea typeface="Noto Sans CJK JP" pitchFamily="34" charset="-122"/>
                <a:cs typeface="Noto Sans CJK JP" pitchFamily="34" charset="-120"/>
              </a:rPr>
              <a:t>前半：弦の可解模型</a:t>
            </a:r>
            <a:endParaRPr lang="en-US" sz="1200" dirty="0"/>
          </a:p>
        </p:txBody>
      </p:sp>
      <p:sp>
        <p:nvSpPr>
          <p:cNvPr id="60" name="Text 58"/>
          <p:cNvSpPr/>
          <p:nvPr/>
        </p:nvSpPr>
        <p:spPr>
          <a:xfrm>
            <a:off x="6903720" y="5897880"/>
            <a:ext cx="3383280" cy="256032"/>
          </a:xfrm>
          <a:prstGeom prst="rect">
            <a:avLst/>
          </a:prstGeom>
          <a:noFill/>
          <a:ln/>
        </p:spPr>
        <p:txBody>
          <a:bodyPr wrap="square" lIns="0" tIns="0" rIns="0" bIns="0" rtlCol="0" anchor="ctr"/>
          <a:lstStyle/>
          <a:p>
            <a:pPr algn="ctr" indent="0" marL="0">
              <a:buNone/>
            </a:pPr>
            <a:r>
              <a:rPr lang="en-US" sz="1200" b="1" dirty="0">
                <a:solidFill>
                  <a:srgbClr val="A58AE8"/>
                </a:solidFill>
                <a:latin typeface="Noto Sans CJK JP" pitchFamily="34" charset="0"/>
                <a:ea typeface="Noto Sans CJK JP" pitchFamily="34" charset="-122"/>
                <a:cs typeface="Noto Sans CJK JP" pitchFamily="34" charset="-120"/>
              </a:rPr>
              <a:t>後半：ホログラフィー・量子情報・数論へ</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P-ADIC STRINGS</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p進弦理論：世界面境界の積分を置き換える</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標準的な対象は開いたボソン弦のタキオン振幅</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06</a:t>
            </a:r>
            <a:endParaRPr lang="en-US" sz="1000" dirty="0"/>
          </a:p>
        </p:txBody>
      </p:sp>
      <p:sp>
        <p:nvSpPr>
          <p:cNvPr id="8" name="Text 6"/>
          <p:cNvSpPr/>
          <p:nvPr/>
        </p:nvSpPr>
        <p:spPr>
          <a:xfrm>
            <a:off x="548640" y="6547104"/>
            <a:ext cx="9966960" cy="146304"/>
          </a:xfrm>
          <a:prstGeom prst="rect">
            <a:avLst/>
          </a:prstGeom>
          <a:noFill/>
          <a:ln/>
        </p:spPr>
        <p:txBody>
          <a:bodyPr wrap="square" lIns="0" tIns="0" rIns="0" bIns="0" rtlCol="0" anchor="ctr">
            <a:normAutofit/>
          </a:bodyPr>
          <a:lstStyle/>
          <a:p>
            <a:pPr indent="0" marL="0">
              <a:buNone/>
            </a:pPr>
            <a:r>
              <a:rPr lang="en-US" sz="730" dirty="0">
                <a:solidFill>
                  <a:srgbClr val="7890A1"/>
                </a:solidFill>
                <a:latin typeface="Noto Sans CJK JP" pitchFamily="34" charset="0"/>
                <a:ea typeface="Noto Sans CJK JP" pitchFamily="34" charset="-122"/>
                <a:cs typeface="Noto Sans CJK JP" pitchFamily="34" charset="-120"/>
              </a:rPr>
              <a:t>出典: Ghoshal &amp; Sen, Nucl. Phys. B 584 (2000), §2; Zabrodin, CMP 123 (1989)</a:t>
            </a:r>
            <a:endParaRPr lang="en-US" sz="730" dirty="0"/>
          </a:p>
        </p:txBody>
      </p:sp>
      <p:sp>
        <p:nvSpPr>
          <p:cNvPr id="9" name="Text 7"/>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6 / 24</a:t>
            </a:r>
            <a:endParaRPr lang="en-US" sz="750" dirty="0"/>
          </a:p>
        </p:txBody>
      </p:sp>
      <p:sp>
        <p:nvSpPr>
          <p:cNvPr id="10" name="Shape 8"/>
          <p:cNvSpPr/>
          <p:nvPr/>
        </p:nvSpPr>
        <p:spPr>
          <a:xfrm>
            <a:off x="566928" y="1691640"/>
            <a:ext cx="5303520" cy="2907792"/>
          </a:xfrm>
          <a:prstGeom prst="roundRect">
            <a:avLst>
              <a:gd name="adj" fmla="val 3774"/>
            </a:avLst>
          </a:prstGeom>
          <a:solidFill>
            <a:srgbClr val="0D2231"/>
          </a:solidFill>
          <a:ln w="12700">
            <a:solidFill>
              <a:srgbClr val="A9BBC9"/>
            </a:solidFill>
            <a:prstDash val="solid"/>
          </a:ln>
          <a:effectLst>
            <a:outerShdw sx="100000" sy="100000" kx="0" ky="0" algn="bl" rotWithShape="0" blurRad="12700" dist="50800" dir="2700000">
              <a:srgbClr val="000000">
                <a:alpha val="18000"/>
              </a:srgbClr>
            </a:outerShdw>
          </a:effectLst>
        </p:spPr>
      </p:sp>
      <p:sp>
        <p:nvSpPr>
          <p:cNvPr id="11" name="Shape 9"/>
          <p:cNvSpPr/>
          <p:nvPr/>
        </p:nvSpPr>
        <p:spPr>
          <a:xfrm>
            <a:off x="850392" y="1920240"/>
            <a:ext cx="1234440" cy="310896"/>
          </a:xfrm>
          <a:prstGeom prst="roundRect">
            <a:avLst/>
          </a:prstGeom>
          <a:solidFill>
            <a:srgbClr val="153246"/>
          </a:solidFill>
          <a:ln w="13970">
            <a:solidFill>
              <a:srgbClr val="A9BBC9"/>
            </a:solidFill>
            <a:prstDash val="solid"/>
          </a:ln>
        </p:spPr>
      </p:sp>
      <p:sp>
        <p:nvSpPr>
          <p:cNvPr id="12" name="Text 10"/>
          <p:cNvSpPr/>
          <p:nvPr/>
        </p:nvSpPr>
        <p:spPr>
          <a:xfrm>
            <a:off x="923544" y="1965960"/>
            <a:ext cx="1088136" cy="201168"/>
          </a:xfrm>
          <a:prstGeom prst="rect">
            <a:avLst/>
          </a:prstGeom>
          <a:noFill/>
          <a:ln/>
        </p:spPr>
        <p:txBody>
          <a:bodyPr wrap="square" lIns="0" tIns="0" rIns="0" bIns="0" rtlCol="0" anchor="ctr">
            <a:normAutofit/>
          </a:bodyPr>
          <a:lstStyle/>
          <a:p>
            <a:pPr algn="ctr" indent="0" marL="0">
              <a:buNone/>
            </a:pPr>
            <a:r>
              <a:rPr lang="en-US" sz="1000" b="1" dirty="0">
                <a:solidFill>
                  <a:srgbClr val="A9BBC9"/>
                </a:solidFill>
                <a:latin typeface="Noto Sans CJK JP" pitchFamily="34" charset="0"/>
                <a:ea typeface="Noto Sans CJK JP" pitchFamily="34" charset="-122"/>
                <a:cs typeface="Noto Sans CJK JP" pitchFamily="34" charset="-120"/>
              </a:rPr>
              <a:t>通常の開弦</a:t>
            </a:r>
            <a:endParaRPr lang="en-US" sz="1000" dirty="0"/>
          </a:p>
        </p:txBody>
      </p:sp>
      <p:sp>
        <p:nvSpPr>
          <p:cNvPr id="13" name="Shape 11"/>
          <p:cNvSpPr/>
          <p:nvPr/>
        </p:nvSpPr>
        <p:spPr>
          <a:xfrm rot="10800000">
            <a:off x="1051560" y="2423160"/>
            <a:ext cx="1965960" cy="1234440"/>
          </a:xfrm>
          <a:prstGeom prst="arc">
            <a:avLst/>
          </a:prstGeom>
          <a:solidFill>
            <a:srgbClr val="0B1C2A">
              <a:alpha val="0"/>
            </a:srgbClr>
          </a:solidFill>
          <a:ln w="38100">
            <a:solidFill>
              <a:srgbClr val="A9BBC9"/>
            </a:solidFill>
            <a:prstDash val="solid"/>
          </a:ln>
        </p:spPr>
      </p:sp>
      <p:sp>
        <p:nvSpPr>
          <p:cNvPr id="14" name="Shape 12"/>
          <p:cNvSpPr/>
          <p:nvPr/>
        </p:nvSpPr>
        <p:spPr>
          <a:xfrm>
            <a:off x="1024128" y="3611880"/>
            <a:ext cx="2057400" cy="0"/>
          </a:xfrm>
          <a:prstGeom prst="line">
            <a:avLst/>
          </a:prstGeom>
          <a:noFill/>
          <a:ln w="63500">
            <a:solidFill>
              <a:srgbClr val="F2B65D"/>
            </a:solidFill>
            <a:prstDash val="solid"/>
          </a:ln>
        </p:spPr>
      </p:sp>
      <p:sp>
        <p:nvSpPr>
          <p:cNvPr id="15" name="Text 13"/>
          <p:cNvSpPr/>
          <p:nvPr/>
        </p:nvSpPr>
        <p:spPr>
          <a:xfrm>
            <a:off x="960120" y="3840480"/>
            <a:ext cx="2286000" cy="283464"/>
          </a:xfrm>
          <a:prstGeom prst="rect">
            <a:avLst/>
          </a:prstGeom>
          <a:noFill/>
          <a:ln/>
        </p:spPr>
        <p:txBody>
          <a:bodyPr wrap="square" lIns="0" tIns="0" rIns="0" bIns="0" rtlCol="0" anchor="ctr"/>
          <a:lstStyle/>
          <a:p>
            <a:pPr algn="ctr" indent="0" marL="0">
              <a:buNone/>
            </a:pPr>
            <a:r>
              <a:rPr lang="en-US" sz="1300" b="1" dirty="0">
                <a:solidFill>
                  <a:srgbClr val="F4F7FA"/>
                </a:solidFill>
                <a:latin typeface="Noto Sans CJK JP" pitchFamily="34" charset="0"/>
                <a:ea typeface="Noto Sans CJK JP" pitchFamily="34" charset="-122"/>
                <a:cs typeface="Noto Sans CJK JP" pitchFamily="34" charset="-120"/>
              </a:rPr>
              <a:t>世界面の境界 ＝ 実数直線</a:t>
            </a:r>
            <a:endParaRPr lang="en-US" sz="1300" dirty="0"/>
          </a:p>
        </p:txBody>
      </p:sp>
      <p:pic>
        <p:nvPicPr>
          <p:cNvPr id="1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429000" y="2637348"/>
            <a:ext cx="1920240" cy="897503"/>
          </a:xfrm>
          <a:prstGeom prst="rect">
            <a:avLst/>
          </a:prstGeom>
        </p:spPr>
      </p:pic>
      <p:sp>
        <p:nvSpPr>
          <p:cNvPr id="17" name="Shape 14"/>
          <p:cNvSpPr/>
          <p:nvPr/>
        </p:nvSpPr>
        <p:spPr>
          <a:xfrm>
            <a:off x="6199632" y="1691640"/>
            <a:ext cx="5422392" cy="2907792"/>
          </a:xfrm>
          <a:prstGeom prst="roundRect">
            <a:avLst>
              <a:gd name="adj" fmla="val 3774"/>
            </a:avLst>
          </a:prstGeom>
          <a:solidFill>
            <a:srgbClr val="0D2231"/>
          </a:solidFill>
          <a:ln w="12700">
            <a:solidFill>
              <a:srgbClr val="F2B65D"/>
            </a:solidFill>
            <a:prstDash val="solid"/>
          </a:ln>
          <a:effectLst>
            <a:outerShdw sx="100000" sy="100000" kx="0" ky="0" algn="bl" rotWithShape="0" blurRad="12700" dist="50800" dir="2700000">
              <a:srgbClr val="000000">
                <a:alpha val="18000"/>
              </a:srgbClr>
            </a:outerShdw>
          </a:effectLst>
        </p:spPr>
      </p:sp>
      <p:sp>
        <p:nvSpPr>
          <p:cNvPr id="18" name="Shape 15"/>
          <p:cNvSpPr/>
          <p:nvPr/>
        </p:nvSpPr>
        <p:spPr>
          <a:xfrm>
            <a:off x="6473952" y="1920240"/>
            <a:ext cx="1143000" cy="310896"/>
          </a:xfrm>
          <a:prstGeom prst="roundRect">
            <a:avLst/>
          </a:prstGeom>
          <a:solidFill>
            <a:srgbClr val="153246"/>
          </a:solidFill>
          <a:ln w="13970">
            <a:solidFill>
              <a:srgbClr val="F2B65D"/>
            </a:solidFill>
            <a:prstDash val="solid"/>
          </a:ln>
        </p:spPr>
      </p:sp>
      <p:sp>
        <p:nvSpPr>
          <p:cNvPr id="19" name="Text 16"/>
          <p:cNvSpPr/>
          <p:nvPr/>
        </p:nvSpPr>
        <p:spPr>
          <a:xfrm>
            <a:off x="6547104" y="1965960"/>
            <a:ext cx="996696" cy="201168"/>
          </a:xfrm>
          <a:prstGeom prst="rect">
            <a:avLst/>
          </a:prstGeom>
          <a:noFill/>
          <a:ln/>
        </p:spPr>
        <p:txBody>
          <a:bodyPr wrap="square" lIns="0" tIns="0" rIns="0" bIns="0" rtlCol="0" anchor="ctr">
            <a:normAutofit/>
          </a:bodyPr>
          <a:lstStyle/>
          <a:p>
            <a:pPr algn="ctr" indent="0" marL="0">
              <a:buNone/>
            </a:pPr>
            <a:r>
              <a:rPr lang="en-US" sz="1000" b="1" dirty="0">
                <a:solidFill>
                  <a:srgbClr val="F2B65D"/>
                </a:solidFill>
                <a:latin typeface="Noto Sans CJK JP" pitchFamily="34" charset="0"/>
                <a:ea typeface="Noto Sans CJK JP" pitchFamily="34" charset="-122"/>
                <a:cs typeface="Noto Sans CJK JP" pitchFamily="34" charset="-120"/>
              </a:rPr>
              <a:t>p進開弦</a:t>
            </a:r>
            <a:endParaRPr lang="en-US" sz="10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83680" y="2240280"/>
            <a:ext cx="2514600" cy="1691640"/>
          </a:xfrm>
          <a:prstGeom prst="rect">
            <a:avLst/>
          </a:prstGeom>
        </p:spPr>
      </p:pic>
      <p:sp>
        <p:nvSpPr>
          <p:cNvPr id="21" name="Text 17"/>
          <p:cNvSpPr/>
          <p:nvPr/>
        </p:nvSpPr>
        <p:spPr>
          <a:xfrm>
            <a:off x="6629400" y="3794760"/>
            <a:ext cx="2423160" cy="438912"/>
          </a:xfrm>
          <a:prstGeom prst="rect">
            <a:avLst/>
          </a:prstGeom>
          <a:noFill/>
          <a:ln/>
        </p:spPr>
        <p:txBody>
          <a:bodyPr wrap="square" lIns="0" tIns="0" rIns="0" bIns="0" rtlCol="0" anchor="ctr"/>
          <a:lstStyle/>
          <a:p>
            <a:pPr algn="ctr" indent="0" marL="0">
              <a:buNone/>
            </a:pPr>
            <a:r>
              <a:rPr lang="en-US" sz="1300" b="1" dirty="0">
                <a:solidFill>
                  <a:srgbClr val="F4F7FA"/>
                </a:solidFill>
                <a:latin typeface="Noto Sans CJK JP" pitchFamily="34" charset="0"/>
                <a:ea typeface="Noto Sans CJK JP" pitchFamily="34" charset="-122"/>
                <a:cs typeface="Noto Sans CJK JP" pitchFamily="34" charset="-120"/>
              </a:rPr>
              <a:t>境界 ＝ p進数</a:t>
            </a:r>
            <a:endParaRPr lang="en-US" sz="1300" dirty="0"/>
          </a:p>
          <a:p>
            <a:pPr algn="ctr" indent="0" marL="0">
              <a:buNone/>
            </a:pPr>
            <a:r>
              <a:rPr lang="en-US" sz="1300" b="1" dirty="0">
                <a:solidFill>
                  <a:srgbClr val="F4F7FA"/>
                </a:solidFill>
                <a:latin typeface="Noto Sans CJK JP" pitchFamily="34" charset="0"/>
                <a:ea typeface="Noto Sans CJK JP" pitchFamily="34" charset="-122"/>
                <a:cs typeface="Noto Sans CJK JP" pitchFamily="34" charset="-120"/>
              </a:rPr>
              <a:t>内部 ＝ 木の世界面</a:t>
            </a:r>
            <a:endParaRPr lang="en-US" sz="1300" dirty="0"/>
          </a:p>
        </p:txBody>
      </p:sp>
      <p:pic>
        <p:nvPicPr>
          <p:cNvPr id="2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81160" y="2666565"/>
            <a:ext cx="1874520" cy="839071"/>
          </a:xfrm>
          <a:prstGeom prst="rect">
            <a:avLst/>
          </a:prstGeom>
        </p:spPr>
      </p:pic>
      <p:sp>
        <p:nvSpPr>
          <p:cNvPr id="23" name="Shape 18"/>
          <p:cNvSpPr/>
          <p:nvPr/>
        </p:nvSpPr>
        <p:spPr>
          <a:xfrm>
            <a:off x="685800" y="4828032"/>
            <a:ext cx="7498080" cy="1298448"/>
          </a:xfrm>
          <a:prstGeom prst="roundRect">
            <a:avLst>
              <a:gd name="adj" fmla="val 8451"/>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24" name="Text 19"/>
          <p:cNvSpPr/>
          <p:nvPr/>
        </p:nvSpPr>
        <p:spPr>
          <a:xfrm>
            <a:off x="850392" y="4937760"/>
            <a:ext cx="716889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四点タキオン振幅の代表的な積分表示（規約は文献に従う）</a:t>
            </a:r>
            <a:endParaRPr lang="en-US" sz="1050" dirty="0"/>
          </a:p>
        </p:txBody>
      </p:sp>
      <p:pic>
        <p:nvPicPr>
          <p:cNvPr id="2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77438" y="5221224"/>
            <a:ext cx="5314804" cy="795528"/>
          </a:xfrm>
          <a:prstGeom prst="rect">
            <a:avLst/>
          </a:prstGeom>
        </p:spPr>
      </p:pic>
      <p:sp>
        <p:nvSpPr>
          <p:cNvPr id="26" name="Shape 20"/>
          <p:cNvSpPr/>
          <p:nvPr/>
        </p:nvSpPr>
        <p:spPr>
          <a:xfrm>
            <a:off x="8394192" y="4828032"/>
            <a:ext cx="3108960" cy="1298448"/>
          </a:xfrm>
          <a:prstGeom prst="roundRect">
            <a:avLst>
              <a:gd name="adj" fmla="val 8451"/>
            </a:avLst>
          </a:prstGeom>
          <a:solidFill>
            <a:srgbClr val="0B1C2A"/>
          </a:solidFill>
          <a:ln w="12700">
            <a:solidFill>
              <a:srgbClr val="55D8E0"/>
            </a:solidFill>
            <a:prstDash val="solid"/>
          </a:ln>
        </p:spPr>
      </p:sp>
      <p:sp>
        <p:nvSpPr>
          <p:cNvPr id="27" name="Text 21"/>
          <p:cNvSpPr/>
          <p:nvPr/>
        </p:nvSpPr>
        <p:spPr>
          <a:xfrm>
            <a:off x="8595360" y="4983480"/>
            <a:ext cx="914400" cy="228600"/>
          </a:xfrm>
          <a:prstGeom prst="rect">
            <a:avLst/>
          </a:prstGeom>
          <a:noFill/>
          <a:ln/>
        </p:spPr>
        <p:txBody>
          <a:bodyPr wrap="square" lIns="0" tIns="0" rIns="0" bIns="0" rtlCol="0" anchor="ctr"/>
          <a:lstStyle/>
          <a:p>
            <a:pPr indent="0" marL="0">
              <a:buNone/>
            </a:pPr>
            <a:r>
              <a:rPr lang="en-US" sz="1100" b="1" dirty="0">
                <a:solidFill>
                  <a:srgbClr val="55D8E0"/>
                </a:solidFill>
                <a:latin typeface="Noto Sans CJK JP" pitchFamily="34" charset="0"/>
                <a:ea typeface="Noto Sans CJK JP" pitchFamily="34" charset="-122"/>
                <a:cs typeface="Noto Sans CJK JP" pitchFamily="34" charset="-120"/>
              </a:rPr>
              <a:t>変わるもの</a:t>
            </a:r>
            <a:endParaRPr lang="en-US" sz="1100" dirty="0"/>
          </a:p>
        </p:txBody>
      </p:sp>
      <p:sp>
        <p:nvSpPr>
          <p:cNvPr id="28" name="Text 22"/>
          <p:cNvSpPr/>
          <p:nvPr/>
        </p:nvSpPr>
        <p:spPr>
          <a:xfrm>
            <a:off x="8595360" y="5285232"/>
            <a:ext cx="2423160" cy="246888"/>
          </a:xfrm>
          <a:prstGeom prst="rect">
            <a:avLst/>
          </a:prstGeom>
          <a:noFill/>
          <a:ln/>
        </p:spPr>
        <p:txBody>
          <a:bodyPr wrap="square" lIns="0" tIns="0" rIns="0" bIns="0" rtlCol="0" anchor="ctr"/>
          <a:lstStyle/>
          <a:p>
            <a:pPr indent="0" marL="0">
              <a:buNone/>
            </a:pPr>
            <a:r>
              <a:rPr lang="en-US" sz="1320" b="1" dirty="0">
                <a:solidFill>
                  <a:srgbClr val="F4F7FA"/>
                </a:solidFill>
                <a:latin typeface="Noto Sans CJK JP" pitchFamily="34" charset="0"/>
                <a:ea typeface="Noto Sans CJK JP" pitchFamily="34" charset="-122"/>
                <a:cs typeface="Noto Sans CJK JP" pitchFamily="34" charset="-120"/>
              </a:rPr>
              <a:t>世界面の解析・積分領域</a:t>
            </a:r>
            <a:endParaRPr lang="en-US" sz="1320" dirty="0"/>
          </a:p>
        </p:txBody>
      </p:sp>
      <p:sp>
        <p:nvSpPr>
          <p:cNvPr id="29" name="Text 23"/>
          <p:cNvSpPr/>
          <p:nvPr/>
        </p:nvSpPr>
        <p:spPr>
          <a:xfrm>
            <a:off x="8595360" y="5605272"/>
            <a:ext cx="1097280" cy="228600"/>
          </a:xfrm>
          <a:prstGeom prst="rect">
            <a:avLst/>
          </a:prstGeom>
          <a:noFill/>
          <a:ln/>
        </p:spPr>
        <p:txBody>
          <a:bodyPr wrap="square" lIns="0" tIns="0" rIns="0" bIns="0" rtlCol="0" anchor="ctr"/>
          <a:lstStyle/>
          <a:p>
            <a:pPr indent="0" marL="0">
              <a:buNone/>
            </a:pPr>
            <a:r>
              <a:rPr lang="en-US" sz="1100" b="1" dirty="0">
                <a:solidFill>
                  <a:srgbClr val="F2B65D"/>
                </a:solidFill>
                <a:latin typeface="Noto Sans CJK JP" pitchFamily="34" charset="0"/>
                <a:ea typeface="Noto Sans CJK JP" pitchFamily="34" charset="-122"/>
                <a:cs typeface="Noto Sans CJK JP" pitchFamily="34" charset="-120"/>
              </a:rPr>
              <a:t>変わらないもの</a:t>
            </a:r>
            <a:endParaRPr lang="en-US" sz="1100" dirty="0"/>
          </a:p>
        </p:txBody>
      </p:sp>
      <p:sp>
        <p:nvSpPr>
          <p:cNvPr id="30" name="Text 24"/>
          <p:cNvSpPr/>
          <p:nvPr/>
        </p:nvSpPr>
        <p:spPr>
          <a:xfrm>
            <a:off x="8595360" y="5870448"/>
            <a:ext cx="2423160" cy="228600"/>
          </a:xfrm>
          <a:prstGeom prst="rect">
            <a:avLst/>
          </a:prstGeom>
          <a:noFill/>
          <a:ln/>
        </p:spPr>
        <p:txBody>
          <a:bodyPr wrap="square" lIns="0" tIns="0" rIns="0" bIns="0" rtlCol="0" anchor="ctr">
            <a:normAutofit/>
          </a:bodyPr>
          <a:lstStyle/>
          <a:p>
            <a:pPr indent="0" marL="0">
              <a:buNone/>
            </a:pPr>
            <a:r>
              <a:rPr lang="en-US" sz="1220" dirty="0">
                <a:solidFill>
                  <a:srgbClr val="F4F7FA"/>
                </a:solidFill>
                <a:latin typeface="Noto Sans CJK JP" pitchFamily="34" charset="0"/>
                <a:ea typeface="Noto Sans CJK JP" pitchFamily="34" charset="-122"/>
                <a:cs typeface="Noto Sans CJK JP" pitchFamily="34" charset="-120"/>
              </a:rPr>
              <a:t>標的時空・運動量は通常は実数</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P-ADIC STRINGS</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散乱振幅とアデール的関係</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実数の場所と、すべての素数の場所を同列に並べる</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07</a:t>
            </a:r>
            <a:endParaRPr lang="en-US" sz="1000" dirty="0"/>
          </a:p>
        </p:txBody>
      </p:sp>
      <p:sp>
        <p:nvSpPr>
          <p:cNvPr id="8" name="Text 6"/>
          <p:cNvSpPr/>
          <p:nvPr/>
        </p:nvSpPr>
        <p:spPr>
          <a:xfrm>
            <a:off x="548640" y="6547104"/>
            <a:ext cx="9966960" cy="146304"/>
          </a:xfrm>
          <a:prstGeom prst="rect">
            <a:avLst/>
          </a:prstGeom>
          <a:noFill/>
          <a:ln/>
        </p:spPr>
        <p:txBody>
          <a:bodyPr wrap="square" lIns="0" tIns="0" rIns="0" bIns="0" rtlCol="0" anchor="ctr">
            <a:normAutofit/>
          </a:bodyPr>
          <a:lstStyle/>
          <a:p>
            <a:pPr indent="0" marL="0">
              <a:buNone/>
            </a:pPr>
            <a:r>
              <a:rPr lang="en-US" sz="730" dirty="0">
                <a:solidFill>
                  <a:srgbClr val="7890A1"/>
                </a:solidFill>
                <a:latin typeface="Noto Sans CJK JP" pitchFamily="34" charset="0"/>
                <a:ea typeface="Noto Sans CJK JP" pitchFamily="34" charset="-122"/>
                <a:cs typeface="Noto Sans CJK JP" pitchFamily="34" charset="-120"/>
              </a:rPr>
              <a:t>出典: Freund &amp; Witten, Phys. Lett. B 199 (1987); Jepsen, Nucl. Phys. B 987 (2023)</a:t>
            </a:r>
            <a:endParaRPr lang="en-US" sz="730" dirty="0"/>
          </a:p>
        </p:txBody>
      </p:sp>
      <p:sp>
        <p:nvSpPr>
          <p:cNvPr id="9" name="Text 7"/>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7 / 24</a:t>
            </a:r>
            <a:endParaRPr lang="en-US" sz="750" dirty="0"/>
          </a:p>
        </p:txBody>
      </p:sp>
      <p:sp>
        <p:nvSpPr>
          <p:cNvPr id="10" name="Shape 8"/>
          <p:cNvSpPr/>
          <p:nvPr/>
        </p:nvSpPr>
        <p:spPr>
          <a:xfrm>
            <a:off x="621792" y="1719072"/>
            <a:ext cx="2743200" cy="1170432"/>
          </a:xfrm>
          <a:prstGeom prst="roundRect">
            <a:avLst>
              <a:gd name="adj" fmla="val 9375"/>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11" name="Text 9"/>
          <p:cNvSpPr/>
          <p:nvPr/>
        </p:nvSpPr>
        <p:spPr>
          <a:xfrm>
            <a:off x="786384" y="1828800"/>
            <a:ext cx="241401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局所ゼータ関数</a:t>
            </a:r>
            <a:endParaRPr lang="en-US" sz="1050" dirty="0"/>
          </a:p>
        </p:txBody>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37792" y="2112264"/>
            <a:ext cx="2111201" cy="667512"/>
          </a:xfrm>
          <a:prstGeom prst="rect">
            <a:avLst/>
          </a:prstGeom>
        </p:spPr>
      </p:pic>
      <p:sp>
        <p:nvSpPr>
          <p:cNvPr id="13" name="Shape 10"/>
          <p:cNvSpPr/>
          <p:nvPr/>
        </p:nvSpPr>
        <p:spPr>
          <a:xfrm>
            <a:off x="3584448" y="1719072"/>
            <a:ext cx="7973568" cy="1170432"/>
          </a:xfrm>
          <a:prstGeom prst="roundRect">
            <a:avLst>
              <a:gd name="adj" fmla="val 9375"/>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14" name="Text 11"/>
          <p:cNvSpPr/>
          <p:nvPr/>
        </p:nvSpPr>
        <p:spPr>
          <a:xfrm>
            <a:off x="3749040" y="1828800"/>
            <a:ext cx="7644384"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p進四点振幅の閉形式</a:t>
            </a:r>
            <a:endParaRPr lang="en-US" sz="1050" dirty="0"/>
          </a:p>
        </p:txBody>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48847" y="2112264"/>
            <a:ext cx="4644771" cy="667512"/>
          </a:xfrm>
          <a:prstGeom prst="rect">
            <a:avLst/>
          </a:prstGeom>
        </p:spPr>
      </p:pic>
      <p:sp>
        <p:nvSpPr>
          <p:cNvPr id="16" name="Shape 12"/>
          <p:cNvSpPr/>
          <p:nvPr/>
        </p:nvSpPr>
        <p:spPr>
          <a:xfrm>
            <a:off x="621792" y="3127248"/>
            <a:ext cx="6492240" cy="2606040"/>
          </a:xfrm>
          <a:prstGeom prst="roundRect">
            <a:avLst>
              <a:gd name="adj" fmla="val 4211"/>
            </a:avLst>
          </a:prstGeom>
          <a:solidFill>
            <a:srgbClr val="0D2231"/>
          </a:solidFill>
          <a:ln w="12700">
            <a:solidFill>
              <a:srgbClr val="A58AE8"/>
            </a:solidFill>
            <a:prstDash val="solid"/>
          </a:ln>
          <a:effectLst>
            <a:outerShdw sx="100000" sy="100000" kx="0" ky="0" algn="bl" rotWithShape="0" blurRad="12700" dist="50800" dir="2700000">
              <a:srgbClr val="000000">
                <a:alpha val="18000"/>
              </a:srgbClr>
            </a:outerShdw>
          </a:effectLst>
        </p:spPr>
      </p:sp>
      <p:sp>
        <p:nvSpPr>
          <p:cNvPr id="17" name="Text 13"/>
          <p:cNvSpPr/>
          <p:nvPr/>
        </p:nvSpPr>
        <p:spPr>
          <a:xfrm>
            <a:off x="896112" y="3383280"/>
            <a:ext cx="1417320" cy="256032"/>
          </a:xfrm>
          <a:prstGeom prst="rect">
            <a:avLst/>
          </a:prstGeom>
          <a:noFill/>
          <a:ln/>
        </p:spPr>
        <p:txBody>
          <a:bodyPr wrap="square" lIns="0" tIns="0" rIns="0" bIns="0" rtlCol="0" anchor="ctr"/>
          <a:lstStyle/>
          <a:p>
            <a:pPr indent="0" marL="0">
              <a:buNone/>
            </a:pPr>
            <a:r>
              <a:rPr lang="en-US" sz="1500" b="1" dirty="0">
                <a:solidFill>
                  <a:srgbClr val="A58AE8"/>
                </a:solidFill>
                <a:latin typeface="Noto Sans CJK JP" pitchFamily="34" charset="0"/>
                <a:ea typeface="Noto Sans CJK JP" pitchFamily="34" charset="-122"/>
                <a:cs typeface="Noto Sans CJK JP" pitchFamily="34" charset="-120"/>
              </a:rPr>
              <a:t>「場所」という見方</a:t>
            </a:r>
            <a:endParaRPr lang="en-US" sz="1500" dirty="0"/>
          </a:p>
        </p:txBody>
      </p:sp>
      <p:sp>
        <p:nvSpPr>
          <p:cNvPr id="18" name="Shape 14"/>
          <p:cNvSpPr/>
          <p:nvPr/>
        </p:nvSpPr>
        <p:spPr>
          <a:xfrm>
            <a:off x="1234440" y="4251960"/>
            <a:ext cx="5212080" cy="0"/>
          </a:xfrm>
          <a:prstGeom prst="line">
            <a:avLst/>
          </a:prstGeom>
          <a:noFill/>
          <a:ln w="50800">
            <a:solidFill>
              <a:srgbClr val="2B4658"/>
            </a:solidFill>
            <a:prstDash val="solid"/>
          </a:ln>
        </p:spPr>
      </p:sp>
      <p:sp>
        <p:nvSpPr>
          <p:cNvPr id="19" name="Shape 15"/>
          <p:cNvSpPr/>
          <p:nvPr/>
        </p:nvSpPr>
        <p:spPr>
          <a:xfrm>
            <a:off x="1097280" y="4005072"/>
            <a:ext cx="475488" cy="475488"/>
          </a:xfrm>
          <a:prstGeom prst="ellipse">
            <a:avLst/>
          </a:prstGeom>
          <a:solidFill>
            <a:srgbClr val="A9BBC9"/>
          </a:solidFill>
          <a:ln w="25400">
            <a:solidFill>
              <a:srgbClr val="07131E"/>
            </a:solidFill>
            <a:prstDash val="solid"/>
          </a:ln>
        </p:spPr>
      </p:sp>
      <p:sp>
        <p:nvSpPr>
          <p:cNvPr id="20" name="Text 16"/>
          <p:cNvSpPr/>
          <p:nvPr/>
        </p:nvSpPr>
        <p:spPr>
          <a:xfrm>
            <a:off x="1097280" y="4096512"/>
            <a:ext cx="475488" cy="164592"/>
          </a:xfrm>
          <a:prstGeom prst="rect">
            <a:avLst/>
          </a:prstGeom>
          <a:noFill/>
          <a:ln/>
        </p:spPr>
        <p:txBody>
          <a:bodyPr wrap="square" lIns="0" tIns="0" rIns="0" bIns="0" rtlCol="0" anchor="ctr"/>
          <a:lstStyle/>
          <a:p>
            <a:pPr algn="ctr" indent="0" marL="0">
              <a:buNone/>
            </a:pPr>
            <a:r>
              <a:rPr lang="en-US" sz="1200" b="1" dirty="0">
                <a:solidFill>
                  <a:srgbClr val="07131E"/>
                </a:solidFill>
                <a:latin typeface="Noto Sans Mono CJK JP" pitchFamily="34" charset="0"/>
                <a:ea typeface="Noto Sans Mono CJK JP" pitchFamily="34" charset="-122"/>
                <a:cs typeface="Noto Sans Mono CJK JP" pitchFamily="34" charset="-120"/>
              </a:rPr>
              <a:t>∞</a:t>
            </a:r>
            <a:endParaRPr lang="en-US" sz="1200" dirty="0"/>
          </a:p>
        </p:txBody>
      </p:sp>
      <p:sp>
        <p:nvSpPr>
          <p:cNvPr id="21" name="Text 17"/>
          <p:cNvSpPr/>
          <p:nvPr/>
        </p:nvSpPr>
        <p:spPr>
          <a:xfrm>
            <a:off x="960120" y="4617720"/>
            <a:ext cx="749808" cy="228600"/>
          </a:xfrm>
          <a:prstGeom prst="rect">
            <a:avLst/>
          </a:prstGeom>
          <a:noFill/>
          <a:ln/>
        </p:spPr>
        <p:txBody>
          <a:bodyPr wrap="square" lIns="0" tIns="0" rIns="0" bIns="0" rtlCol="0" anchor="ctr"/>
          <a:lstStyle/>
          <a:p>
            <a:pPr algn="ctr" indent="0" marL="0">
              <a:buNone/>
            </a:pPr>
            <a:r>
              <a:rPr lang="en-US" sz="1050" dirty="0">
                <a:solidFill>
                  <a:srgbClr val="A9BBC9"/>
                </a:solidFill>
                <a:latin typeface="Noto Sans CJK JP" pitchFamily="34" charset="0"/>
                <a:ea typeface="Noto Sans CJK JP" pitchFamily="34" charset="-122"/>
                <a:cs typeface="Noto Sans CJK JP" pitchFamily="34" charset="-120"/>
              </a:rPr>
              <a:t>実数</a:t>
            </a:r>
            <a:endParaRPr lang="en-US" sz="1050" dirty="0"/>
          </a:p>
        </p:txBody>
      </p:sp>
      <p:sp>
        <p:nvSpPr>
          <p:cNvPr id="22" name="Shape 18"/>
          <p:cNvSpPr/>
          <p:nvPr/>
        </p:nvSpPr>
        <p:spPr>
          <a:xfrm>
            <a:off x="2148840" y="4005072"/>
            <a:ext cx="475488" cy="475488"/>
          </a:xfrm>
          <a:prstGeom prst="ellipse">
            <a:avLst/>
          </a:prstGeom>
          <a:solidFill>
            <a:srgbClr val="55D8E0"/>
          </a:solidFill>
          <a:ln w="25400">
            <a:solidFill>
              <a:srgbClr val="07131E"/>
            </a:solidFill>
            <a:prstDash val="solid"/>
          </a:ln>
        </p:spPr>
      </p:sp>
      <p:sp>
        <p:nvSpPr>
          <p:cNvPr id="23" name="Text 19"/>
          <p:cNvSpPr/>
          <p:nvPr/>
        </p:nvSpPr>
        <p:spPr>
          <a:xfrm>
            <a:off x="2148840" y="4096512"/>
            <a:ext cx="475488" cy="164592"/>
          </a:xfrm>
          <a:prstGeom prst="rect">
            <a:avLst/>
          </a:prstGeom>
          <a:noFill/>
          <a:ln/>
        </p:spPr>
        <p:txBody>
          <a:bodyPr wrap="square" lIns="0" tIns="0" rIns="0" bIns="0" rtlCol="0" anchor="ctr"/>
          <a:lstStyle/>
          <a:p>
            <a:pPr algn="ctr" indent="0" marL="0">
              <a:buNone/>
            </a:pPr>
            <a:r>
              <a:rPr lang="en-US" sz="1200" b="1" dirty="0">
                <a:solidFill>
                  <a:srgbClr val="07131E"/>
                </a:solidFill>
                <a:latin typeface="Noto Sans Mono CJK JP" pitchFamily="34" charset="0"/>
                <a:ea typeface="Noto Sans Mono CJK JP" pitchFamily="34" charset="-122"/>
                <a:cs typeface="Noto Sans Mono CJK JP" pitchFamily="34" charset="-120"/>
              </a:rPr>
              <a:t>2</a:t>
            </a:r>
            <a:endParaRPr lang="en-US" sz="1200" dirty="0"/>
          </a:p>
        </p:txBody>
      </p:sp>
      <p:sp>
        <p:nvSpPr>
          <p:cNvPr id="24" name="Text 20"/>
          <p:cNvSpPr/>
          <p:nvPr/>
        </p:nvSpPr>
        <p:spPr>
          <a:xfrm>
            <a:off x="2011680" y="4617720"/>
            <a:ext cx="749808" cy="228600"/>
          </a:xfrm>
          <a:prstGeom prst="rect">
            <a:avLst/>
          </a:prstGeom>
          <a:noFill/>
          <a:ln/>
        </p:spPr>
        <p:txBody>
          <a:bodyPr wrap="square" lIns="0" tIns="0" rIns="0" bIns="0" rtlCol="0" anchor="ctr"/>
          <a:lstStyle/>
          <a:p>
            <a:pPr algn="ctr" indent="0" marL="0">
              <a:buNone/>
            </a:pPr>
            <a:r>
              <a:rPr lang="en-US" sz="1050" dirty="0">
                <a:solidFill>
                  <a:srgbClr val="A9BBC9"/>
                </a:solidFill>
                <a:latin typeface="Noto Sans CJK JP" pitchFamily="34" charset="0"/>
                <a:ea typeface="Noto Sans CJK JP" pitchFamily="34" charset="-122"/>
                <a:cs typeface="Noto Sans CJK JP" pitchFamily="34" charset="-120"/>
              </a:rPr>
              <a:t>2進</a:t>
            </a:r>
            <a:endParaRPr lang="en-US" sz="1050" dirty="0"/>
          </a:p>
        </p:txBody>
      </p:sp>
      <p:sp>
        <p:nvSpPr>
          <p:cNvPr id="25" name="Shape 21"/>
          <p:cNvSpPr/>
          <p:nvPr/>
        </p:nvSpPr>
        <p:spPr>
          <a:xfrm>
            <a:off x="3200400" y="4005072"/>
            <a:ext cx="475488" cy="475488"/>
          </a:xfrm>
          <a:prstGeom prst="ellipse">
            <a:avLst/>
          </a:prstGeom>
          <a:solidFill>
            <a:srgbClr val="67D3A5"/>
          </a:solidFill>
          <a:ln w="25400">
            <a:solidFill>
              <a:srgbClr val="07131E"/>
            </a:solidFill>
            <a:prstDash val="solid"/>
          </a:ln>
        </p:spPr>
      </p:sp>
      <p:sp>
        <p:nvSpPr>
          <p:cNvPr id="26" name="Text 22"/>
          <p:cNvSpPr/>
          <p:nvPr/>
        </p:nvSpPr>
        <p:spPr>
          <a:xfrm>
            <a:off x="3200400" y="4096512"/>
            <a:ext cx="475488" cy="164592"/>
          </a:xfrm>
          <a:prstGeom prst="rect">
            <a:avLst/>
          </a:prstGeom>
          <a:noFill/>
          <a:ln/>
        </p:spPr>
        <p:txBody>
          <a:bodyPr wrap="square" lIns="0" tIns="0" rIns="0" bIns="0" rtlCol="0" anchor="ctr"/>
          <a:lstStyle/>
          <a:p>
            <a:pPr algn="ctr" indent="0" marL="0">
              <a:buNone/>
            </a:pPr>
            <a:r>
              <a:rPr lang="en-US" sz="1200" b="1" dirty="0">
                <a:solidFill>
                  <a:srgbClr val="07131E"/>
                </a:solidFill>
                <a:latin typeface="Noto Sans Mono CJK JP" pitchFamily="34" charset="0"/>
                <a:ea typeface="Noto Sans Mono CJK JP" pitchFamily="34" charset="-122"/>
                <a:cs typeface="Noto Sans Mono CJK JP" pitchFamily="34" charset="-120"/>
              </a:rPr>
              <a:t>3</a:t>
            </a:r>
            <a:endParaRPr lang="en-US" sz="1200" dirty="0"/>
          </a:p>
        </p:txBody>
      </p:sp>
      <p:sp>
        <p:nvSpPr>
          <p:cNvPr id="27" name="Text 23"/>
          <p:cNvSpPr/>
          <p:nvPr/>
        </p:nvSpPr>
        <p:spPr>
          <a:xfrm>
            <a:off x="3063240" y="4617720"/>
            <a:ext cx="749808" cy="228600"/>
          </a:xfrm>
          <a:prstGeom prst="rect">
            <a:avLst/>
          </a:prstGeom>
          <a:noFill/>
          <a:ln/>
        </p:spPr>
        <p:txBody>
          <a:bodyPr wrap="square" lIns="0" tIns="0" rIns="0" bIns="0" rtlCol="0" anchor="ctr"/>
          <a:lstStyle/>
          <a:p>
            <a:pPr algn="ctr" indent="0" marL="0">
              <a:buNone/>
            </a:pPr>
            <a:r>
              <a:rPr lang="en-US" sz="1050" dirty="0">
                <a:solidFill>
                  <a:srgbClr val="A9BBC9"/>
                </a:solidFill>
                <a:latin typeface="Noto Sans CJK JP" pitchFamily="34" charset="0"/>
                <a:ea typeface="Noto Sans CJK JP" pitchFamily="34" charset="-122"/>
                <a:cs typeface="Noto Sans CJK JP" pitchFamily="34" charset="-120"/>
              </a:rPr>
              <a:t>3進</a:t>
            </a:r>
            <a:endParaRPr lang="en-US" sz="1050" dirty="0"/>
          </a:p>
        </p:txBody>
      </p:sp>
      <p:sp>
        <p:nvSpPr>
          <p:cNvPr id="28" name="Shape 24"/>
          <p:cNvSpPr/>
          <p:nvPr/>
        </p:nvSpPr>
        <p:spPr>
          <a:xfrm>
            <a:off x="4251960" y="4005072"/>
            <a:ext cx="475488" cy="475488"/>
          </a:xfrm>
          <a:prstGeom prst="ellipse">
            <a:avLst/>
          </a:prstGeom>
          <a:solidFill>
            <a:srgbClr val="F2B65D"/>
          </a:solidFill>
          <a:ln w="25400">
            <a:solidFill>
              <a:srgbClr val="07131E"/>
            </a:solidFill>
            <a:prstDash val="solid"/>
          </a:ln>
        </p:spPr>
      </p:sp>
      <p:sp>
        <p:nvSpPr>
          <p:cNvPr id="29" name="Text 25"/>
          <p:cNvSpPr/>
          <p:nvPr/>
        </p:nvSpPr>
        <p:spPr>
          <a:xfrm>
            <a:off x="4251960" y="4096512"/>
            <a:ext cx="475488" cy="164592"/>
          </a:xfrm>
          <a:prstGeom prst="rect">
            <a:avLst/>
          </a:prstGeom>
          <a:noFill/>
          <a:ln/>
        </p:spPr>
        <p:txBody>
          <a:bodyPr wrap="square" lIns="0" tIns="0" rIns="0" bIns="0" rtlCol="0" anchor="ctr"/>
          <a:lstStyle/>
          <a:p>
            <a:pPr algn="ctr" indent="0" marL="0">
              <a:buNone/>
            </a:pPr>
            <a:r>
              <a:rPr lang="en-US" sz="1200" b="1" dirty="0">
                <a:solidFill>
                  <a:srgbClr val="07131E"/>
                </a:solidFill>
                <a:latin typeface="Noto Sans Mono CJK JP" pitchFamily="34" charset="0"/>
                <a:ea typeface="Noto Sans Mono CJK JP" pitchFamily="34" charset="-122"/>
                <a:cs typeface="Noto Sans Mono CJK JP" pitchFamily="34" charset="-120"/>
              </a:rPr>
              <a:t>5</a:t>
            </a:r>
            <a:endParaRPr lang="en-US" sz="1200" dirty="0"/>
          </a:p>
        </p:txBody>
      </p:sp>
      <p:sp>
        <p:nvSpPr>
          <p:cNvPr id="30" name="Text 26"/>
          <p:cNvSpPr/>
          <p:nvPr/>
        </p:nvSpPr>
        <p:spPr>
          <a:xfrm>
            <a:off x="4114800" y="4617720"/>
            <a:ext cx="749808" cy="228600"/>
          </a:xfrm>
          <a:prstGeom prst="rect">
            <a:avLst/>
          </a:prstGeom>
          <a:noFill/>
          <a:ln/>
        </p:spPr>
        <p:txBody>
          <a:bodyPr wrap="square" lIns="0" tIns="0" rIns="0" bIns="0" rtlCol="0" anchor="ctr"/>
          <a:lstStyle/>
          <a:p>
            <a:pPr algn="ctr" indent="0" marL="0">
              <a:buNone/>
            </a:pPr>
            <a:r>
              <a:rPr lang="en-US" sz="1050" dirty="0">
                <a:solidFill>
                  <a:srgbClr val="A9BBC9"/>
                </a:solidFill>
                <a:latin typeface="Noto Sans CJK JP" pitchFamily="34" charset="0"/>
                <a:ea typeface="Noto Sans CJK JP" pitchFamily="34" charset="-122"/>
                <a:cs typeface="Noto Sans CJK JP" pitchFamily="34" charset="-120"/>
              </a:rPr>
              <a:t>5進</a:t>
            </a:r>
            <a:endParaRPr lang="en-US" sz="1050" dirty="0"/>
          </a:p>
        </p:txBody>
      </p:sp>
      <p:sp>
        <p:nvSpPr>
          <p:cNvPr id="31" name="Shape 27"/>
          <p:cNvSpPr/>
          <p:nvPr/>
        </p:nvSpPr>
        <p:spPr>
          <a:xfrm>
            <a:off x="5303520" y="4005072"/>
            <a:ext cx="475488" cy="475488"/>
          </a:xfrm>
          <a:prstGeom prst="ellipse">
            <a:avLst/>
          </a:prstGeom>
          <a:solidFill>
            <a:srgbClr val="F0806B"/>
          </a:solidFill>
          <a:ln w="25400">
            <a:solidFill>
              <a:srgbClr val="07131E"/>
            </a:solidFill>
            <a:prstDash val="solid"/>
          </a:ln>
        </p:spPr>
      </p:sp>
      <p:sp>
        <p:nvSpPr>
          <p:cNvPr id="32" name="Text 28"/>
          <p:cNvSpPr/>
          <p:nvPr/>
        </p:nvSpPr>
        <p:spPr>
          <a:xfrm>
            <a:off x="5303520" y="4096512"/>
            <a:ext cx="475488" cy="164592"/>
          </a:xfrm>
          <a:prstGeom prst="rect">
            <a:avLst/>
          </a:prstGeom>
          <a:noFill/>
          <a:ln/>
        </p:spPr>
        <p:txBody>
          <a:bodyPr wrap="square" lIns="0" tIns="0" rIns="0" bIns="0" rtlCol="0" anchor="ctr"/>
          <a:lstStyle/>
          <a:p>
            <a:pPr algn="ctr" indent="0" marL="0">
              <a:buNone/>
            </a:pPr>
            <a:r>
              <a:rPr lang="en-US" sz="1200" b="1" dirty="0">
                <a:solidFill>
                  <a:srgbClr val="07131E"/>
                </a:solidFill>
                <a:latin typeface="Noto Sans Mono CJK JP" pitchFamily="34" charset="0"/>
                <a:ea typeface="Noto Sans Mono CJK JP" pitchFamily="34" charset="-122"/>
                <a:cs typeface="Noto Sans Mono CJK JP" pitchFamily="34" charset="-120"/>
              </a:rPr>
              <a:t>7</a:t>
            </a:r>
            <a:endParaRPr lang="en-US" sz="1200" dirty="0"/>
          </a:p>
        </p:txBody>
      </p:sp>
      <p:sp>
        <p:nvSpPr>
          <p:cNvPr id="33" name="Text 29"/>
          <p:cNvSpPr/>
          <p:nvPr/>
        </p:nvSpPr>
        <p:spPr>
          <a:xfrm>
            <a:off x="5166360" y="4617720"/>
            <a:ext cx="749808" cy="228600"/>
          </a:xfrm>
          <a:prstGeom prst="rect">
            <a:avLst/>
          </a:prstGeom>
          <a:noFill/>
          <a:ln/>
        </p:spPr>
        <p:txBody>
          <a:bodyPr wrap="square" lIns="0" tIns="0" rIns="0" bIns="0" rtlCol="0" anchor="ctr"/>
          <a:lstStyle/>
          <a:p>
            <a:pPr algn="ctr" indent="0" marL="0">
              <a:buNone/>
            </a:pPr>
            <a:r>
              <a:rPr lang="en-US" sz="1050" dirty="0">
                <a:solidFill>
                  <a:srgbClr val="A9BBC9"/>
                </a:solidFill>
                <a:latin typeface="Noto Sans CJK JP" pitchFamily="34" charset="0"/>
                <a:ea typeface="Noto Sans CJK JP" pitchFamily="34" charset="-122"/>
                <a:cs typeface="Noto Sans CJK JP" pitchFamily="34" charset="-120"/>
              </a:rPr>
              <a:t>7進</a:t>
            </a:r>
            <a:endParaRPr lang="en-US" sz="1050" dirty="0"/>
          </a:p>
        </p:txBody>
      </p:sp>
      <p:sp>
        <p:nvSpPr>
          <p:cNvPr id="34" name="Shape 30"/>
          <p:cNvSpPr/>
          <p:nvPr/>
        </p:nvSpPr>
        <p:spPr>
          <a:xfrm>
            <a:off x="6355080" y="4005072"/>
            <a:ext cx="475488" cy="475488"/>
          </a:xfrm>
          <a:prstGeom prst="ellipse">
            <a:avLst/>
          </a:prstGeom>
          <a:solidFill>
            <a:srgbClr val="A58AE8"/>
          </a:solidFill>
          <a:ln w="25400">
            <a:solidFill>
              <a:srgbClr val="07131E"/>
            </a:solidFill>
            <a:prstDash val="solid"/>
          </a:ln>
        </p:spPr>
      </p:sp>
      <p:sp>
        <p:nvSpPr>
          <p:cNvPr id="35" name="Text 31"/>
          <p:cNvSpPr/>
          <p:nvPr/>
        </p:nvSpPr>
        <p:spPr>
          <a:xfrm>
            <a:off x="6355080" y="4096512"/>
            <a:ext cx="475488" cy="164592"/>
          </a:xfrm>
          <a:prstGeom prst="rect">
            <a:avLst/>
          </a:prstGeom>
          <a:noFill/>
          <a:ln/>
        </p:spPr>
        <p:txBody>
          <a:bodyPr wrap="square" lIns="0" tIns="0" rIns="0" bIns="0" rtlCol="0" anchor="ctr"/>
          <a:lstStyle/>
          <a:p>
            <a:pPr algn="ctr" indent="0" marL="0">
              <a:buNone/>
            </a:pPr>
            <a:r>
              <a:rPr lang="en-US" sz="1200" b="1" dirty="0">
                <a:solidFill>
                  <a:srgbClr val="07131E"/>
                </a:solidFill>
                <a:latin typeface="Noto Sans Mono CJK JP" pitchFamily="34" charset="0"/>
                <a:ea typeface="Noto Sans Mono CJK JP" pitchFamily="34" charset="-122"/>
                <a:cs typeface="Noto Sans Mono CJK JP" pitchFamily="34" charset="-120"/>
              </a:rPr>
              <a:t>…</a:t>
            </a:r>
            <a:endParaRPr lang="en-US" sz="1200" dirty="0"/>
          </a:p>
        </p:txBody>
      </p:sp>
      <p:sp>
        <p:nvSpPr>
          <p:cNvPr id="36" name="Text 32"/>
          <p:cNvSpPr/>
          <p:nvPr/>
        </p:nvSpPr>
        <p:spPr>
          <a:xfrm>
            <a:off x="6217920" y="4617720"/>
            <a:ext cx="749808" cy="228600"/>
          </a:xfrm>
          <a:prstGeom prst="rect">
            <a:avLst/>
          </a:prstGeom>
          <a:noFill/>
          <a:ln/>
        </p:spPr>
        <p:txBody>
          <a:bodyPr wrap="square" lIns="0" tIns="0" rIns="0" bIns="0" rtlCol="0" anchor="ctr"/>
          <a:lstStyle/>
          <a:p>
            <a:pPr algn="ctr" indent="0" marL="0">
              <a:buNone/>
            </a:pPr>
            <a:r>
              <a:rPr lang="en-US" sz="1050" dirty="0">
                <a:solidFill>
                  <a:srgbClr val="A9BBC9"/>
                </a:solidFill>
                <a:latin typeface="Noto Sans CJK JP" pitchFamily="34" charset="0"/>
                <a:ea typeface="Noto Sans CJK JP" pitchFamily="34" charset="-122"/>
                <a:cs typeface="Noto Sans CJK JP" pitchFamily="34" charset="-120"/>
              </a:rPr>
              <a:t>全素数</a:t>
            </a:r>
            <a:endParaRPr lang="en-US" sz="1050" dirty="0"/>
          </a:p>
        </p:txBody>
      </p:sp>
      <p:sp>
        <p:nvSpPr>
          <p:cNvPr id="37" name="Text 33"/>
          <p:cNvSpPr/>
          <p:nvPr/>
        </p:nvSpPr>
        <p:spPr>
          <a:xfrm>
            <a:off x="960120" y="5148072"/>
            <a:ext cx="5806440" cy="301752"/>
          </a:xfrm>
          <a:prstGeom prst="rect">
            <a:avLst/>
          </a:prstGeom>
          <a:noFill/>
          <a:ln/>
        </p:spPr>
        <p:txBody>
          <a:bodyPr wrap="square" lIns="0" tIns="0" rIns="0" bIns="0" rtlCol="0" anchor="ctr"/>
          <a:lstStyle/>
          <a:p>
            <a:pPr algn="ctr" indent="0" marL="0">
              <a:buNone/>
            </a:pPr>
            <a:r>
              <a:rPr lang="en-US" sz="1330" dirty="0">
                <a:solidFill>
                  <a:srgbClr val="F4F7FA"/>
                </a:solidFill>
                <a:latin typeface="Noto Sans CJK JP" pitchFamily="34" charset="0"/>
                <a:ea typeface="Noto Sans CJK JP" pitchFamily="34" charset="-122"/>
                <a:cs typeface="Noto Sans CJK JP" pitchFamily="34" charset="-120"/>
              </a:rPr>
              <a:t>数論では実数も「無限素点」という一つの場所として扱う</a:t>
            </a:r>
            <a:endParaRPr lang="en-US" sz="1330" dirty="0"/>
          </a:p>
        </p:txBody>
      </p:sp>
      <p:sp>
        <p:nvSpPr>
          <p:cNvPr id="38" name="Shape 34"/>
          <p:cNvSpPr/>
          <p:nvPr/>
        </p:nvSpPr>
        <p:spPr>
          <a:xfrm>
            <a:off x="7333488" y="3127248"/>
            <a:ext cx="4224528" cy="1298448"/>
          </a:xfrm>
          <a:prstGeom prst="roundRect">
            <a:avLst>
              <a:gd name="adj" fmla="val 8451"/>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39" name="Text 35"/>
          <p:cNvSpPr/>
          <p:nvPr/>
        </p:nvSpPr>
        <p:spPr>
          <a:xfrm>
            <a:off x="7498080" y="3236976"/>
            <a:ext cx="3895344"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Freund–Witten の象徴的な積関係</a:t>
            </a:r>
            <a:endParaRPr lang="en-US" sz="1050" dirty="0"/>
          </a:p>
        </p:txBody>
      </p:sp>
      <p:pic>
        <p:nvPicPr>
          <p:cNvPr id="4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24990" y="3520440"/>
            <a:ext cx="3441523" cy="795528"/>
          </a:xfrm>
          <a:prstGeom prst="rect">
            <a:avLst/>
          </a:prstGeom>
        </p:spPr>
      </p:pic>
      <p:sp>
        <p:nvSpPr>
          <p:cNvPr id="41" name="Shape 36"/>
          <p:cNvSpPr/>
          <p:nvPr/>
        </p:nvSpPr>
        <p:spPr>
          <a:xfrm>
            <a:off x="7333488" y="4590288"/>
            <a:ext cx="4224528" cy="1143000"/>
          </a:xfrm>
          <a:prstGeom prst="roundRect">
            <a:avLst>
              <a:gd name="adj" fmla="val 9600"/>
            </a:avLst>
          </a:prstGeom>
          <a:solidFill>
            <a:srgbClr val="2B1E1D"/>
          </a:solidFill>
          <a:ln w="12700">
            <a:solidFill>
              <a:srgbClr val="F0806B"/>
            </a:solidFill>
            <a:prstDash val="solid"/>
          </a:ln>
        </p:spPr>
      </p:sp>
      <p:sp>
        <p:nvSpPr>
          <p:cNvPr id="42" name="Text 37"/>
          <p:cNvSpPr/>
          <p:nvPr/>
        </p:nvSpPr>
        <p:spPr>
          <a:xfrm>
            <a:off x="7571232" y="4754880"/>
            <a:ext cx="502920" cy="237744"/>
          </a:xfrm>
          <a:prstGeom prst="rect">
            <a:avLst/>
          </a:prstGeom>
          <a:noFill/>
          <a:ln/>
        </p:spPr>
        <p:txBody>
          <a:bodyPr wrap="square" lIns="0" tIns="0" rIns="0" bIns="0" rtlCol="0" anchor="ctr"/>
          <a:lstStyle/>
          <a:p>
            <a:pPr indent="0" marL="0">
              <a:buNone/>
            </a:pPr>
            <a:r>
              <a:rPr lang="en-US" sz="1200" b="1" dirty="0">
                <a:solidFill>
                  <a:srgbClr val="F0806B"/>
                </a:solidFill>
                <a:latin typeface="Noto Sans CJK JP" pitchFamily="34" charset="0"/>
                <a:ea typeface="Noto Sans CJK JP" pitchFamily="34" charset="-122"/>
                <a:cs typeface="Noto Sans CJK JP" pitchFamily="34" charset="-120"/>
              </a:rPr>
              <a:t>注意</a:t>
            </a:r>
            <a:endParaRPr lang="en-US" sz="1200" dirty="0"/>
          </a:p>
        </p:txBody>
      </p:sp>
      <p:sp>
        <p:nvSpPr>
          <p:cNvPr id="43" name="Text 38"/>
          <p:cNvSpPr/>
          <p:nvPr/>
        </p:nvSpPr>
        <p:spPr>
          <a:xfrm>
            <a:off x="8138160" y="4727448"/>
            <a:ext cx="3017520" cy="658368"/>
          </a:xfrm>
          <a:prstGeom prst="rect">
            <a:avLst/>
          </a:prstGeom>
          <a:noFill/>
          <a:ln/>
        </p:spPr>
        <p:txBody>
          <a:bodyPr wrap="square" lIns="0" tIns="0" rIns="0" bIns="0" rtlCol="0" anchor="ctr">
            <a:normAutofit/>
          </a:bodyPr>
          <a:lstStyle/>
          <a:p>
            <a:pPr indent="0" marL="0">
              <a:buNone/>
            </a:pPr>
            <a:r>
              <a:rPr lang="en-US" sz="1220" dirty="0">
                <a:solidFill>
                  <a:srgbClr val="F4F7FA"/>
                </a:solidFill>
                <a:latin typeface="Noto Sans CJK JP" pitchFamily="34" charset="0"/>
                <a:ea typeface="Noto Sans CJK JP" pitchFamily="34" charset="-122"/>
                <a:cs typeface="Noto Sans CJK JP" pitchFamily="34" charset="-120"/>
              </a:rPr>
              <a:t>無限積は規格化・収束領域・正則化に依存する。</a:t>
            </a:r>
            <a:endParaRPr lang="en-US" sz="1220" dirty="0"/>
          </a:p>
          <a:p>
            <a:pPr indent="0" marL="0">
              <a:buNone/>
            </a:pPr>
            <a:r>
              <a:rPr lang="en-US" sz="1220" dirty="0">
                <a:solidFill>
                  <a:srgbClr val="F4F7FA"/>
                </a:solidFill>
                <a:latin typeface="Noto Sans CJK JP" pitchFamily="34" charset="0"/>
                <a:ea typeface="Noto Sans CJK JP" pitchFamily="34" charset="-122"/>
                <a:cs typeface="Noto Sans CJK JP" pitchFamily="34" charset="-120"/>
              </a:rPr>
              <a:t>部分積への分解を機械的に行うのは危険。</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P-ADIC STRINGS</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厳密に書ける非局所タキオン作用</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弦の全タキオン散乱を再現する時空有効作用</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08</a:t>
            </a:r>
            <a:endParaRPr lang="en-US" sz="1000" dirty="0"/>
          </a:p>
        </p:txBody>
      </p:sp>
      <p:sp>
        <p:nvSpPr>
          <p:cNvPr id="8" name="Text 6"/>
          <p:cNvSpPr/>
          <p:nvPr/>
        </p:nvSpPr>
        <p:spPr>
          <a:xfrm>
            <a:off x="548640" y="6547104"/>
            <a:ext cx="9966960" cy="146304"/>
          </a:xfrm>
          <a:prstGeom prst="rect">
            <a:avLst/>
          </a:prstGeom>
          <a:noFill/>
          <a:ln/>
        </p:spPr>
        <p:txBody>
          <a:bodyPr wrap="square" lIns="0" tIns="0" rIns="0" bIns="0" rtlCol="0" anchor="ctr">
            <a:normAutofit/>
          </a:bodyPr>
          <a:lstStyle/>
          <a:p>
            <a:pPr indent="0" marL="0">
              <a:buNone/>
            </a:pPr>
            <a:r>
              <a:rPr lang="en-US" sz="730" dirty="0">
                <a:solidFill>
                  <a:srgbClr val="7890A1"/>
                </a:solidFill>
                <a:latin typeface="Noto Sans CJK JP" pitchFamily="34" charset="0"/>
                <a:ea typeface="Noto Sans CJK JP" pitchFamily="34" charset="-122"/>
                <a:cs typeface="Noto Sans CJK JP" pitchFamily="34" charset="-120"/>
              </a:rPr>
              <a:t>出典: Brekke et al., Nucl. Phys. B 302 (1988); Ghoshal &amp; Sen, Nucl. Phys. B 584 (2000)</a:t>
            </a:r>
            <a:endParaRPr lang="en-US" sz="730" dirty="0"/>
          </a:p>
        </p:txBody>
      </p:sp>
      <p:sp>
        <p:nvSpPr>
          <p:cNvPr id="9" name="Text 7"/>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8 / 24</a:t>
            </a:r>
            <a:endParaRPr lang="en-US" sz="750" dirty="0"/>
          </a:p>
        </p:txBody>
      </p:sp>
      <p:sp>
        <p:nvSpPr>
          <p:cNvPr id="10" name="Shape 8"/>
          <p:cNvSpPr/>
          <p:nvPr/>
        </p:nvSpPr>
        <p:spPr>
          <a:xfrm>
            <a:off x="594360" y="1737360"/>
            <a:ext cx="10972800" cy="1389888"/>
          </a:xfrm>
          <a:prstGeom prst="roundRect">
            <a:avLst>
              <a:gd name="adj" fmla="val 7895"/>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11" name="Text 9"/>
          <p:cNvSpPr/>
          <p:nvPr/>
        </p:nvSpPr>
        <p:spPr>
          <a:xfrm>
            <a:off x="758952" y="1847088"/>
            <a:ext cx="1064361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開いたp進弦のタキオン作用</a:t>
            </a:r>
            <a:endParaRPr lang="en-US" sz="1050" dirty="0"/>
          </a:p>
        </p:txBody>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004482" y="2130552"/>
            <a:ext cx="8152557" cy="886968"/>
          </a:xfrm>
          <a:prstGeom prst="rect">
            <a:avLst/>
          </a:prstGeom>
        </p:spPr>
      </p:pic>
      <p:sp>
        <p:nvSpPr>
          <p:cNvPr id="13" name="Shape 10"/>
          <p:cNvSpPr/>
          <p:nvPr/>
        </p:nvSpPr>
        <p:spPr>
          <a:xfrm>
            <a:off x="594360" y="3337560"/>
            <a:ext cx="3657600" cy="1152144"/>
          </a:xfrm>
          <a:prstGeom prst="roundRect">
            <a:avLst>
              <a:gd name="adj" fmla="val 9524"/>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14" name="Text 11"/>
          <p:cNvSpPr/>
          <p:nvPr/>
        </p:nvSpPr>
        <p:spPr>
          <a:xfrm>
            <a:off x="758952" y="3447288"/>
            <a:ext cx="332841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運動方程式</a:t>
            </a:r>
            <a:endParaRPr lang="en-US" sz="1050" dirty="0"/>
          </a:p>
        </p:txBody>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3386" y="3730752"/>
            <a:ext cx="3039549" cy="649224"/>
          </a:xfrm>
          <a:prstGeom prst="rect">
            <a:avLst/>
          </a:prstGeom>
        </p:spPr>
      </p:pic>
      <p:sp>
        <p:nvSpPr>
          <p:cNvPr id="16" name="Shape 12"/>
          <p:cNvSpPr/>
          <p:nvPr/>
        </p:nvSpPr>
        <p:spPr>
          <a:xfrm>
            <a:off x="4480560" y="3337560"/>
            <a:ext cx="3383280" cy="1152144"/>
          </a:xfrm>
          <a:prstGeom prst="roundRect">
            <a:avLst>
              <a:gd name="adj" fmla="val 9524"/>
            </a:avLst>
          </a:prstGeom>
          <a:solidFill>
            <a:srgbClr val="0D2231"/>
          </a:solidFill>
          <a:ln w="12700">
            <a:solidFill>
              <a:srgbClr val="55D8E0"/>
            </a:solidFill>
            <a:prstDash val="solid"/>
          </a:ln>
        </p:spPr>
      </p:sp>
      <p:sp>
        <p:nvSpPr>
          <p:cNvPr id="17" name="Text 13"/>
          <p:cNvSpPr/>
          <p:nvPr/>
        </p:nvSpPr>
        <p:spPr>
          <a:xfrm>
            <a:off x="4736592" y="3566160"/>
            <a:ext cx="1417320" cy="246888"/>
          </a:xfrm>
          <a:prstGeom prst="rect">
            <a:avLst/>
          </a:prstGeom>
          <a:noFill/>
          <a:ln/>
        </p:spPr>
        <p:txBody>
          <a:bodyPr wrap="square" lIns="0" tIns="0" rIns="0" bIns="0" rtlCol="0" anchor="ctr"/>
          <a:lstStyle/>
          <a:p>
            <a:pPr indent="0" marL="0">
              <a:buNone/>
            </a:pPr>
            <a:r>
              <a:rPr lang="en-US" sz="1300" b="1" dirty="0">
                <a:solidFill>
                  <a:srgbClr val="55D8E0"/>
                </a:solidFill>
                <a:latin typeface="Noto Sans CJK JP" pitchFamily="34" charset="0"/>
                <a:ea typeface="Noto Sans CJK JP" pitchFamily="34" charset="-122"/>
                <a:cs typeface="Noto Sans CJK JP" pitchFamily="34" charset="-120"/>
              </a:rPr>
              <a:t>なぜ「非局所」か</a:t>
            </a:r>
            <a:endParaRPr lang="en-US" sz="1300" dirty="0"/>
          </a:p>
        </p:txBody>
      </p:sp>
      <p:sp>
        <p:nvSpPr>
          <p:cNvPr id="18" name="Text 14"/>
          <p:cNvSpPr/>
          <p:nvPr/>
        </p:nvSpPr>
        <p:spPr>
          <a:xfrm>
            <a:off x="4736592" y="3913632"/>
            <a:ext cx="2743200" cy="393192"/>
          </a:xfrm>
          <a:prstGeom prst="rect">
            <a:avLst/>
          </a:prstGeom>
          <a:noFill/>
          <a:ln/>
        </p:spPr>
        <p:txBody>
          <a:bodyPr wrap="square" lIns="0" tIns="0" rIns="0" bIns="0" rtlCol="0" anchor="ctr">
            <a:normAutofit/>
          </a:bodyPr>
          <a:lstStyle/>
          <a:p>
            <a:pPr indent="0" marL="0">
              <a:buNone/>
            </a:pPr>
            <a:r>
              <a:rPr lang="en-US" sz="1230" dirty="0">
                <a:solidFill>
                  <a:srgbClr val="F4F7FA"/>
                </a:solidFill>
                <a:latin typeface="Noto Sans CJK JP" pitchFamily="34" charset="0"/>
                <a:ea typeface="Noto Sans CJK JP" pitchFamily="34" charset="-122"/>
                <a:cs typeface="Noto Sans CJK JP" pitchFamily="34" charset="-120"/>
              </a:rPr>
              <a:t>微分作用素の指数が、有限距離の点だけでなく離れた点を結合する</a:t>
            </a:r>
            <a:endParaRPr lang="en-US" sz="1230" dirty="0"/>
          </a:p>
        </p:txBody>
      </p:sp>
      <p:sp>
        <p:nvSpPr>
          <p:cNvPr id="19" name="Shape 15"/>
          <p:cNvSpPr/>
          <p:nvPr/>
        </p:nvSpPr>
        <p:spPr>
          <a:xfrm>
            <a:off x="8092440" y="3337560"/>
            <a:ext cx="3474720" cy="1152144"/>
          </a:xfrm>
          <a:prstGeom prst="roundRect">
            <a:avLst>
              <a:gd name="adj" fmla="val 9524"/>
            </a:avLst>
          </a:prstGeom>
          <a:solidFill>
            <a:srgbClr val="0D2231"/>
          </a:solidFill>
          <a:ln w="12700">
            <a:solidFill>
              <a:srgbClr val="F2B65D"/>
            </a:solidFill>
            <a:prstDash val="solid"/>
          </a:ln>
        </p:spPr>
      </p:sp>
      <p:sp>
        <p:nvSpPr>
          <p:cNvPr id="20" name="Text 16"/>
          <p:cNvSpPr/>
          <p:nvPr/>
        </p:nvSpPr>
        <p:spPr>
          <a:xfrm>
            <a:off x="8339328" y="3566160"/>
            <a:ext cx="1645920" cy="246888"/>
          </a:xfrm>
          <a:prstGeom prst="rect">
            <a:avLst/>
          </a:prstGeom>
          <a:noFill/>
          <a:ln/>
        </p:spPr>
        <p:txBody>
          <a:bodyPr wrap="square" lIns="0" tIns="0" rIns="0" bIns="0" rtlCol="0" anchor="ctr"/>
          <a:lstStyle/>
          <a:p>
            <a:pPr indent="0" marL="0">
              <a:buNone/>
            </a:pPr>
            <a:r>
              <a:rPr lang="en-US" sz="1300" b="1" dirty="0">
                <a:solidFill>
                  <a:srgbClr val="F2B65D"/>
                </a:solidFill>
                <a:latin typeface="Noto Sans CJK JP" pitchFamily="34" charset="0"/>
                <a:ea typeface="Noto Sans CJK JP" pitchFamily="34" charset="-122"/>
                <a:cs typeface="Noto Sans CJK JP" pitchFamily="34" charset="-120"/>
              </a:rPr>
              <a:t>通常の弦理論との違い</a:t>
            </a:r>
            <a:endParaRPr lang="en-US" sz="1300" dirty="0"/>
          </a:p>
        </p:txBody>
      </p:sp>
      <p:sp>
        <p:nvSpPr>
          <p:cNvPr id="21" name="Text 17"/>
          <p:cNvSpPr/>
          <p:nvPr/>
        </p:nvSpPr>
        <p:spPr>
          <a:xfrm>
            <a:off x="8339328" y="3913632"/>
            <a:ext cx="2743200" cy="393192"/>
          </a:xfrm>
          <a:prstGeom prst="rect">
            <a:avLst/>
          </a:prstGeom>
          <a:noFill/>
          <a:ln/>
        </p:spPr>
        <p:txBody>
          <a:bodyPr wrap="square" lIns="0" tIns="0" rIns="0" bIns="0" rtlCol="0" anchor="ctr">
            <a:normAutofit/>
          </a:bodyPr>
          <a:lstStyle/>
          <a:p>
            <a:pPr indent="0" marL="0">
              <a:buNone/>
            </a:pPr>
            <a:r>
              <a:rPr lang="en-US" sz="1230" dirty="0">
                <a:solidFill>
                  <a:srgbClr val="F4F7FA"/>
                </a:solidFill>
                <a:latin typeface="Noto Sans CJK JP" pitchFamily="34" charset="0"/>
                <a:ea typeface="Noto Sans CJK JP" pitchFamily="34" charset="-122"/>
                <a:cs typeface="Noto Sans CJK JP" pitchFamily="34" charset="-120"/>
              </a:rPr>
              <a:t>近似展開ではなく、樹木レベルのタキオン部門を閉じた形で扱える</a:t>
            </a:r>
            <a:endParaRPr lang="en-US" sz="1230" dirty="0"/>
          </a:p>
        </p:txBody>
      </p:sp>
      <p:sp>
        <p:nvSpPr>
          <p:cNvPr id="22" name="Shape 18"/>
          <p:cNvSpPr/>
          <p:nvPr/>
        </p:nvSpPr>
        <p:spPr>
          <a:xfrm>
            <a:off x="594360" y="4709160"/>
            <a:ext cx="10972800" cy="1417320"/>
          </a:xfrm>
          <a:prstGeom prst="roundRect">
            <a:avLst>
              <a:gd name="adj" fmla="val 7742"/>
            </a:avLst>
          </a:prstGeom>
          <a:solidFill>
            <a:srgbClr val="0D2231"/>
          </a:solidFill>
          <a:ln w="12700">
            <a:solidFill>
              <a:srgbClr val="2B4658"/>
            </a:solidFill>
            <a:prstDash val="solid"/>
          </a:ln>
          <a:effectLst>
            <a:outerShdw sx="100000" sy="100000" kx="0" ky="0" algn="bl" rotWithShape="0" blurRad="12700" dist="50800" dir="2700000">
              <a:srgbClr val="000000">
                <a:alpha val="18000"/>
              </a:srgbClr>
            </a:outerShdw>
          </a:effectLst>
        </p:spPr>
      </p:sp>
      <p:pic>
        <p:nvPicPr>
          <p:cNvPr id="2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34440" y="4800600"/>
            <a:ext cx="6675120" cy="1078992"/>
          </a:xfrm>
          <a:prstGeom prst="rect">
            <a:avLst/>
          </a:prstGeom>
        </p:spPr>
      </p:pic>
      <p:sp>
        <p:nvSpPr>
          <p:cNvPr id="24" name="Text 19"/>
          <p:cNvSpPr/>
          <p:nvPr/>
        </p:nvSpPr>
        <p:spPr>
          <a:xfrm>
            <a:off x="8138160" y="5166360"/>
            <a:ext cx="2971800" cy="393192"/>
          </a:xfrm>
          <a:prstGeom prst="rect">
            <a:avLst/>
          </a:prstGeom>
          <a:noFill/>
          <a:ln/>
        </p:spPr>
        <p:txBody>
          <a:bodyPr wrap="square" lIns="0" tIns="0" rIns="0" bIns="0" rtlCol="0" anchor="ctr">
            <a:normAutofit/>
          </a:bodyPr>
          <a:lstStyle/>
          <a:p>
            <a:pPr algn="ctr" indent="0" marL="0">
              <a:buNone/>
            </a:pPr>
            <a:r>
              <a:rPr lang="en-US" sz="1350" b="1" dirty="0">
                <a:solidFill>
                  <a:srgbClr val="F4F7FA"/>
                </a:solidFill>
                <a:latin typeface="Noto Sans CJK JP" pitchFamily="34" charset="0"/>
                <a:ea typeface="Noto Sans CJK JP" pitchFamily="34" charset="-122"/>
                <a:cs typeface="Noto Sans CJK JP" pitchFamily="34" charset="-120"/>
              </a:rPr>
              <a:t>解析的に扱いやすい一方、局所的な粒子場とは違う直観が必要</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P-ADIC STRINGS</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タキオン凝縮とDブレーン lump</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不安定なブレーンが消える真空と、低次元ブレーンを同じ作用で表す</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09</a:t>
            </a:r>
            <a:endParaRPr lang="en-US" sz="1000" dirty="0"/>
          </a:p>
        </p:txBody>
      </p:sp>
      <p:sp>
        <p:nvSpPr>
          <p:cNvPr id="8" name="Text 6"/>
          <p:cNvSpPr/>
          <p:nvPr/>
        </p:nvSpPr>
        <p:spPr>
          <a:xfrm>
            <a:off x="548640" y="6547104"/>
            <a:ext cx="9966960" cy="146304"/>
          </a:xfrm>
          <a:prstGeom prst="rect">
            <a:avLst/>
          </a:prstGeom>
          <a:noFill/>
          <a:ln/>
        </p:spPr>
        <p:txBody>
          <a:bodyPr wrap="square" lIns="0" tIns="0" rIns="0" bIns="0" rtlCol="0" anchor="ctr">
            <a:normAutofit/>
          </a:bodyPr>
          <a:lstStyle/>
          <a:p>
            <a:pPr indent="0" marL="0">
              <a:buNone/>
            </a:pPr>
            <a:r>
              <a:rPr lang="en-US" sz="730" dirty="0">
                <a:solidFill>
                  <a:srgbClr val="7890A1"/>
                </a:solidFill>
                <a:latin typeface="Noto Sans CJK JP" pitchFamily="34" charset="0"/>
                <a:ea typeface="Noto Sans CJK JP" pitchFamily="34" charset="-122"/>
                <a:cs typeface="Noto Sans CJK JP" pitchFamily="34" charset="-120"/>
              </a:rPr>
              <a:t>出典: Ghoshal &amp; Sen, Nucl. Phys. B 584 (2000)</a:t>
            </a:r>
            <a:endParaRPr lang="en-US" sz="730" dirty="0"/>
          </a:p>
        </p:txBody>
      </p:sp>
      <p:sp>
        <p:nvSpPr>
          <p:cNvPr id="9" name="Text 7"/>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9 / 24</a:t>
            </a:r>
            <a:endParaRPr lang="en-US" sz="750" dirty="0"/>
          </a:p>
        </p:txBody>
      </p:sp>
      <p:sp>
        <p:nvSpPr>
          <p:cNvPr id="10" name="Shape 8"/>
          <p:cNvSpPr/>
          <p:nvPr/>
        </p:nvSpPr>
        <p:spPr>
          <a:xfrm>
            <a:off x="594360" y="1691640"/>
            <a:ext cx="3749040" cy="4434840"/>
          </a:xfrm>
          <a:prstGeom prst="roundRect">
            <a:avLst>
              <a:gd name="adj" fmla="val 2927"/>
            </a:avLst>
          </a:prstGeom>
          <a:solidFill>
            <a:srgbClr val="0D2231"/>
          </a:solidFill>
          <a:ln w="12700">
            <a:solidFill>
              <a:srgbClr val="F2B65D"/>
            </a:solidFill>
            <a:prstDash val="solid"/>
          </a:ln>
          <a:effectLst>
            <a:outerShdw sx="100000" sy="100000" kx="0" ky="0" algn="bl" rotWithShape="0" blurRad="12700" dist="50800" dir="2700000">
              <a:srgbClr val="000000">
                <a:alpha val="18000"/>
              </a:srgbClr>
            </a:outerShdw>
          </a:effectLst>
        </p:spPr>
      </p:sp>
      <p:sp>
        <p:nvSpPr>
          <p:cNvPr id="11" name="Shape 9"/>
          <p:cNvSpPr/>
          <p:nvPr/>
        </p:nvSpPr>
        <p:spPr>
          <a:xfrm>
            <a:off x="868680" y="1920240"/>
            <a:ext cx="1234440" cy="310896"/>
          </a:xfrm>
          <a:prstGeom prst="roundRect">
            <a:avLst/>
          </a:prstGeom>
          <a:solidFill>
            <a:srgbClr val="153246"/>
          </a:solidFill>
          <a:ln w="13970">
            <a:solidFill>
              <a:srgbClr val="F2B65D"/>
            </a:solidFill>
            <a:prstDash val="solid"/>
          </a:ln>
        </p:spPr>
      </p:sp>
      <p:sp>
        <p:nvSpPr>
          <p:cNvPr id="12" name="Text 10"/>
          <p:cNvSpPr/>
          <p:nvPr/>
        </p:nvSpPr>
        <p:spPr>
          <a:xfrm>
            <a:off x="941832" y="1965960"/>
            <a:ext cx="1088136" cy="201168"/>
          </a:xfrm>
          <a:prstGeom prst="rect">
            <a:avLst/>
          </a:prstGeom>
          <a:noFill/>
          <a:ln/>
        </p:spPr>
        <p:txBody>
          <a:bodyPr wrap="square" lIns="0" tIns="0" rIns="0" bIns="0" rtlCol="0" anchor="ctr">
            <a:normAutofit/>
          </a:bodyPr>
          <a:lstStyle/>
          <a:p>
            <a:pPr algn="ctr" indent="0" marL="0">
              <a:buNone/>
            </a:pPr>
            <a:r>
              <a:rPr lang="en-US" sz="1000" b="1" dirty="0">
                <a:solidFill>
                  <a:srgbClr val="F2B65D"/>
                </a:solidFill>
                <a:latin typeface="Noto Sans CJK JP" pitchFamily="34" charset="0"/>
                <a:ea typeface="Noto Sans CJK JP" pitchFamily="34" charset="-122"/>
                <a:cs typeface="Noto Sans CJK JP" pitchFamily="34" charset="-120"/>
              </a:rPr>
              <a:t>二つの定数解</a:t>
            </a:r>
            <a:endParaRPr lang="en-US" sz="1000" dirty="0"/>
          </a:p>
        </p:txBody>
      </p:sp>
      <p:sp>
        <p:nvSpPr>
          <p:cNvPr id="13" name="Shape 11"/>
          <p:cNvSpPr/>
          <p:nvPr/>
        </p:nvSpPr>
        <p:spPr>
          <a:xfrm>
            <a:off x="896112" y="2423160"/>
            <a:ext cx="1417320" cy="987552"/>
          </a:xfrm>
          <a:prstGeom prst="roundRect">
            <a:avLst>
              <a:gd name="adj" fmla="val 11111"/>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14" name="Text 12"/>
          <p:cNvSpPr/>
          <p:nvPr/>
        </p:nvSpPr>
        <p:spPr>
          <a:xfrm>
            <a:off x="1060704" y="2532888"/>
            <a:ext cx="108813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元のDブレーン背景</a:t>
            </a:r>
            <a:endParaRPr lang="en-US" sz="1050" dirty="0"/>
          </a:p>
        </p:txBody>
      </p:sp>
      <p:pic>
        <p:nvPicPr>
          <p:cNvPr id="1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97280" y="2875107"/>
            <a:ext cx="1014984" cy="367122"/>
          </a:xfrm>
          <a:prstGeom prst="rect">
            <a:avLst/>
          </a:prstGeom>
        </p:spPr>
      </p:pic>
      <p:sp>
        <p:nvSpPr>
          <p:cNvPr id="16" name="Shape 13"/>
          <p:cNvSpPr/>
          <p:nvPr/>
        </p:nvSpPr>
        <p:spPr>
          <a:xfrm>
            <a:off x="2587752" y="2423160"/>
            <a:ext cx="1417320" cy="987552"/>
          </a:xfrm>
          <a:prstGeom prst="roundRect">
            <a:avLst>
              <a:gd name="adj" fmla="val 11111"/>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17" name="Text 14"/>
          <p:cNvSpPr/>
          <p:nvPr/>
        </p:nvSpPr>
        <p:spPr>
          <a:xfrm>
            <a:off x="2752344" y="2532888"/>
            <a:ext cx="108813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ブレーンのない真空</a:t>
            </a:r>
            <a:endParaRPr lang="en-US" sz="1050" dirty="0"/>
          </a:p>
        </p:txBody>
      </p:sp>
      <p:pic>
        <p:nvPicPr>
          <p:cNvPr id="1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88920" y="2875107"/>
            <a:ext cx="1014984" cy="367122"/>
          </a:xfrm>
          <a:prstGeom prst="rect">
            <a:avLst/>
          </a:prstGeom>
        </p:spPr>
      </p:pic>
      <p:sp>
        <p:nvSpPr>
          <p:cNvPr id="19" name="Shape 15"/>
          <p:cNvSpPr/>
          <p:nvPr/>
        </p:nvSpPr>
        <p:spPr>
          <a:xfrm>
            <a:off x="1764792" y="3657600"/>
            <a:ext cx="1280160" cy="502920"/>
          </a:xfrm>
          <a:prstGeom prst="chevron">
            <a:avLst/>
          </a:prstGeom>
          <a:solidFill>
            <a:srgbClr val="55D8E0"/>
          </a:solidFill>
          <a:ln w="12700">
            <a:solidFill>
              <a:srgbClr val="55D8E0"/>
            </a:solidFill>
            <a:prstDash val="solid"/>
          </a:ln>
        </p:spPr>
      </p:sp>
      <p:sp>
        <p:nvSpPr>
          <p:cNvPr id="20" name="Text 16"/>
          <p:cNvSpPr/>
          <p:nvPr/>
        </p:nvSpPr>
        <p:spPr>
          <a:xfrm>
            <a:off x="1719072" y="3785616"/>
            <a:ext cx="1371600" cy="201168"/>
          </a:xfrm>
          <a:prstGeom prst="rect">
            <a:avLst/>
          </a:prstGeom>
          <a:noFill/>
          <a:ln/>
        </p:spPr>
        <p:txBody>
          <a:bodyPr wrap="square" lIns="0" tIns="0" rIns="0" bIns="0" rtlCol="0" anchor="ctr"/>
          <a:lstStyle/>
          <a:p>
            <a:pPr algn="ctr" indent="0" marL="0">
              <a:buNone/>
            </a:pPr>
            <a:r>
              <a:rPr lang="en-US" sz="1200" b="1" dirty="0">
                <a:solidFill>
                  <a:srgbClr val="07131E"/>
                </a:solidFill>
                <a:latin typeface="Noto Sans CJK JP" pitchFamily="34" charset="0"/>
                <a:ea typeface="Noto Sans CJK JP" pitchFamily="34" charset="-122"/>
                <a:cs typeface="Noto Sans CJK JP" pitchFamily="34" charset="-120"/>
              </a:rPr>
              <a:t>タキオン凝縮</a:t>
            </a:r>
            <a:endParaRPr lang="en-US" sz="1200" dirty="0"/>
          </a:p>
        </p:txBody>
      </p:sp>
      <p:sp>
        <p:nvSpPr>
          <p:cNvPr id="21" name="Text 17"/>
          <p:cNvSpPr/>
          <p:nvPr/>
        </p:nvSpPr>
        <p:spPr>
          <a:xfrm>
            <a:off x="1005840" y="4498848"/>
            <a:ext cx="2926080" cy="621792"/>
          </a:xfrm>
          <a:prstGeom prst="rect">
            <a:avLst/>
          </a:prstGeom>
          <a:noFill/>
          <a:ln/>
        </p:spPr>
        <p:txBody>
          <a:bodyPr wrap="square" lIns="0" tIns="0" rIns="0" bIns="0" rtlCol="0" anchor="ctr">
            <a:normAutofit/>
          </a:bodyPr>
          <a:lstStyle/>
          <a:p>
            <a:pPr algn="ctr" indent="0" marL="0">
              <a:buNone/>
            </a:pPr>
            <a:r>
              <a:rPr lang="en-US" sz="1400" b="1" dirty="0">
                <a:solidFill>
                  <a:srgbClr val="F4F7FA"/>
                </a:solidFill>
                <a:latin typeface="Noto Sans CJK JP" pitchFamily="34" charset="0"/>
                <a:ea typeface="Noto Sans CJK JP" pitchFamily="34" charset="-122"/>
                <a:cs typeface="Noto Sans CJK JP" pitchFamily="34" charset="-120"/>
              </a:rPr>
              <a:t>真空まわりには</a:t>
            </a:r>
            <a:endParaRPr lang="en-US" sz="1400" dirty="0"/>
          </a:p>
          <a:p>
            <a:pPr algn="ctr" indent="0" marL="0">
              <a:buNone/>
            </a:pPr>
            <a:r>
              <a:rPr lang="en-US" sz="1400" b="1" dirty="0">
                <a:solidFill>
                  <a:srgbClr val="F4F7FA"/>
                </a:solidFill>
                <a:latin typeface="Noto Sans CJK JP" pitchFamily="34" charset="0"/>
                <a:ea typeface="Noto Sans CJK JP" pitchFamily="34" charset="-122"/>
                <a:cs typeface="Noto Sans CJK JP" pitchFamily="34" charset="-120"/>
              </a:rPr>
              <a:t>摂動的な開弦励起がない</a:t>
            </a:r>
            <a:endParaRPr lang="en-US" sz="1400" dirty="0"/>
          </a:p>
        </p:txBody>
      </p:sp>
      <p:sp>
        <p:nvSpPr>
          <p:cNvPr id="22" name="Text 18"/>
          <p:cNvSpPr/>
          <p:nvPr/>
        </p:nvSpPr>
        <p:spPr>
          <a:xfrm>
            <a:off x="987552" y="5349240"/>
            <a:ext cx="2971800" cy="438912"/>
          </a:xfrm>
          <a:prstGeom prst="rect">
            <a:avLst/>
          </a:prstGeom>
          <a:noFill/>
          <a:ln/>
        </p:spPr>
        <p:txBody>
          <a:bodyPr wrap="square" lIns="0" tIns="0" rIns="0" bIns="0" rtlCol="0" anchor="ctr">
            <a:normAutofit/>
          </a:bodyPr>
          <a:lstStyle/>
          <a:p>
            <a:pPr algn="ctr" indent="0" marL="0">
              <a:buNone/>
            </a:pPr>
            <a:r>
              <a:rPr lang="en-US" sz="1250" dirty="0">
                <a:solidFill>
                  <a:srgbClr val="A9BBC9"/>
                </a:solidFill>
                <a:latin typeface="Noto Sans CJK JP" pitchFamily="34" charset="0"/>
                <a:ea typeface="Noto Sans CJK JP" pitchFamily="34" charset="-122"/>
                <a:cs typeface="Noto Sans CJK JP" pitchFamily="34" charset="-120"/>
              </a:rPr>
              <a:t>Sen のタキオン凝縮予想を、可解模型の中で明示的に実現</a:t>
            </a:r>
            <a:endParaRPr lang="en-US" sz="1250" dirty="0"/>
          </a:p>
        </p:txBody>
      </p:sp>
      <p:sp>
        <p:nvSpPr>
          <p:cNvPr id="23" name="Shape 19"/>
          <p:cNvSpPr/>
          <p:nvPr/>
        </p:nvSpPr>
        <p:spPr>
          <a:xfrm>
            <a:off x="4590288" y="1691640"/>
            <a:ext cx="6967728" cy="4434840"/>
          </a:xfrm>
          <a:prstGeom prst="roundRect">
            <a:avLst>
              <a:gd name="adj" fmla="val 2474"/>
            </a:avLst>
          </a:prstGeom>
          <a:solidFill>
            <a:srgbClr val="0D2231"/>
          </a:solidFill>
          <a:ln w="12700">
            <a:solidFill>
              <a:srgbClr val="55D8E0"/>
            </a:solidFill>
            <a:prstDash val="solid"/>
          </a:ln>
          <a:effectLst>
            <a:outerShdw sx="100000" sy="100000" kx="0" ky="0" algn="bl" rotWithShape="0" blurRad="12700" dist="50800" dir="2700000">
              <a:srgbClr val="000000">
                <a:alpha val="18000"/>
              </a:srgbClr>
            </a:outerShdw>
          </a:effectLst>
        </p:spPr>
      </p:sp>
      <p:sp>
        <p:nvSpPr>
          <p:cNvPr id="24" name="Shape 20"/>
          <p:cNvSpPr/>
          <p:nvPr/>
        </p:nvSpPr>
        <p:spPr>
          <a:xfrm>
            <a:off x="4864608" y="1920240"/>
            <a:ext cx="1234440" cy="310896"/>
          </a:xfrm>
          <a:prstGeom prst="roundRect">
            <a:avLst/>
          </a:prstGeom>
          <a:solidFill>
            <a:srgbClr val="153246"/>
          </a:solidFill>
          <a:ln w="13970">
            <a:solidFill>
              <a:srgbClr val="55D8E0"/>
            </a:solidFill>
            <a:prstDash val="solid"/>
          </a:ln>
        </p:spPr>
      </p:sp>
      <p:sp>
        <p:nvSpPr>
          <p:cNvPr id="25" name="Text 21"/>
          <p:cNvSpPr/>
          <p:nvPr/>
        </p:nvSpPr>
        <p:spPr>
          <a:xfrm>
            <a:off x="4937760" y="1965960"/>
            <a:ext cx="1088136" cy="201168"/>
          </a:xfrm>
          <a:prstGeom prst="rect">
            <a:avLst/>
          </a:prstGeom>
          <a:noFill/>
          <a:ln/>
        </p:spPr>
        <p:txBody>
          <a:bodyPr wrap="square" lIns="0" tIns="0" rIns="0" bIns="0" rtlCol="0" anchor="ctr">
            <a:normAutofit/>
          </a:bodyPr>
          <a:lstStyle/>
          <a:p>
            <a:pPr algn="ctr" indent="0" marL="0">
              <a:buNone/>
            </a:pPr>
            <a:r>
              <a:rPr lang="en-US" sz="1000" b="1" dirty="0">
                <a:solidFill>
                  <a:srgbClr val="55D8E0"/>
                </a:solidFill>
                <a:latin typeface="Noto Sans CJK JP" pitchFamily="34" charset="0"/>
                <a:ea typeface="Noto Sans CJK JP" pitchFamily="34" charset="-122"/>
                <a:cs typeface="Noto Sans CJK JP" pitchFamily="34" charset="-120"/>
              </a:rPr>
              <a:t>ガウス型 lump</a:t>
            </a:r>
            <a:endParaRPr lang="en-US" sz="1000" dirty="0"/>
          </a:p>
        </p:txBody>
      </p:sp>
      <p:sp>
        <p:nvSpPr>
          <p:cNvPr id="26" name="Shape 22"/>
          <p:cNvSpPr/>
          <p:nvPr/>
        </p:nvSpPr>
        <p:spPr>
          <a:xfrm>
            <a:off x="4864608" y="2395728"/>
            <a:ext cx="6355080" cy="1097280"/>
          </a:xfrm>
          <a:prstGeom prst="roundRect">
            <a:avLst>
              <a:gd name="adj" fmla="val 10000"/>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27" name="Text 23"/>
          <p:cNvSpPr/>
          <p:nvPr/>
        </p:nvSpPr>
        <p:spPr>
          <a:xfrm>
            <a:off x="5029200" y="2505456"/>
            <a:ext cx="602589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一方向の局在プロファイル</a:t>
            </a:r>
            <a:endParaRPr lang="en-US" sz="1050" dirty="0"/>
          </a:p>
        </p:txBody>
      </p:sp>
      <p:pic>
        <p:nvPicPr>
          <p:cNvPr id="2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23672" y="2788920"/>
            <a:ext cx="3436951" cy="594360"/>
          </a:xfrm>
          <a:prstGeom prst="rect">
            <a:avLst/>
          </a:prstGeom>
        </p:spPr>
      </p:pic>
      <p:pic>
        <p:nvPicPr>
          <p:cNvPr id="2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74920" y="3675888"/>
            <a:ext cx="3429000" cy="1874520"/>
          </a:xfrm>
          <a:prstGeom prst="rect">
            <a:avLst/>
          </a:prstGeom>
        </p:spPr>
      </p:pic>
      <p:sp>
        <p:nvSpPr>
          <p:cNvPr id="30" name="Shape 24"/>
          <p:cNvSpPr/>
          <p:nvPr/>
        </p:nvSpPr>
        <p:spPr>
          <a:xfrm>
            <a:off x="8732520" y="4315968"/>
            <a:ext cx="777240" cy="502920"/>
          </a:xfrm>
          <a:prstGeom prst="chevron">
            <a:avLst/>
          </a:prstGeom>
          <a:solidFill>
            <a:srgbClr val="2B4658"/>
          </a:solidFill>
          <a:ln w="12700">
            <a:solidFill>
              <a:srgbClr val="2B4658"/>
            </a:solidFill>
            <a:prstDash val="solid"/>
          </a:ln>
        </p:spPr>
      </p:sp>
      <p:sp>
        <p:nvSpPr>
          <p:cNvPr id="31" name="Shape 25"/>
          <p:cNvSpPr/>
          <p:nvPr/>
        </p:nvSpPr>
        <p:spPr>
          <a:xfrm>
            <a:off x="9646920" y="3749040"/>
            <a:ext cx="1417320" cy="1737360"/>
          </a:xfrm>
          <a:prstGeom prst="roundRect">
            <a:avLst>
              <a:gd name="adj" fmla="val 7742"/>
            </a:avLst>
          </a:prstGeom>
          <a:solidFill>
            <a:srgbClr val="0B1C2A"/>
          </a:solidFill>
          <a:ln w="12700">
            <a:solidFill>
              <a:srgbClr val="67D3A5"/>
            </a:solidFill>
            <a:prstDash val="solid"/>
          </a:ln>
        </p:spPr>
      </p:sp>
      <p:sp>
        <p:nvSpPr>
          <p:cNvPr id="32" name="Text 26"/>
          <p:cNvSpPr/>
          <p:nvPr/>
        </p:nvSpPr>
        <p:spPr>
          <a:xfrm>
            <a:off x="9829800" y="4023360"/>
            <a:ext cx="1051560" cy="502920"/>
          </a:xfrm>
          <a:prstGeom prst="rect">
            <a:avLst/>
          </a:prstGeom>
          <a:noFill/>
          <a:ln/>
        </p:spPr>
        <p:txBody>
          <a:bodyPr wrap="square" lIns="0" tIns="0" rIns="0" bIns="0" rtlCol="0" anchor="ctr"/>
          <a:lstStyle/>
          <a:p>
            <a:pPr algn="ctr" indent="0" marL="0">
              <a:buNone/>
            </a:pPr>
            <a:r>
              <a:rPr lang="en-US" sz="1300" b="1" dirty="0">
                <a:solidFill>
                  <a:srgbClr val="F4F7FA"/>
                </a:solidFill>
                <a:latin typeface="Noto Sans CJK JP" pitchFamily="34" charset="0"/>
                <a:ea typeface="Noto Sans CJK JP" pitchFamily="34" charset="-122"/>
                <a:cs typeface="Noto Sans CJK JP" pitchFamily="34" charset="-120"/>
              </a:rPr>
              <a:t>高次元</a:t>
            </a:r>
            <a:endParaRPr lang="en-US" sz="1300" dirty="0"/>
          </a:p>
          <a:p>
            <a:pPr algn="ctr" indent="0" marL="0">
              <a:buNone/>
            </a:pPr>
            <a:r>
              <a:rPr lang="en-US" sz="1300" b="1" dirty="0">
                <a:solidFill>
                  <a:srgbClr val="F4F7FA"/>
                </a:solidFill>
                <a:latin typeface="Noto Sans CJK JP" pitchFamily="34" charset="0"/>
                <a:ea typeface="Noto Sans CJK JP" pitchFamily="34" charset="-122"/>
                <a:cs typeface="Noto Sans CJK JP" pitchFamily="34" charset="-120"/>
              </a:rPr>
              <a:t>Dブレーン</a:t>
            </a:r>
            <a:endParaRPr lang="en-US" sz="1300" dirty="0"/>
          </a:p>
        </p:txBody>
      </p:sp>
      <p:sp>
        <p:nvSpPr>
          <p:cNvPr id="33" name="Shape 27"/>
          <p:cNvSpPr/>
          <p:nvPr/>
        </p:nvSpPr>
        <p:spPr>
          <a:xfrm rot="5400000">
            <a:off x="9966960" y="4617720"/>
            <a:ext cx="777240" cy="292608"/>
          </a:xfrm>
          <a:prstGeom prst="chevron">
            <a:avLst/>
          </a:prstGeom>
          <a:solidFill>
            <a:srgbClr val="67D3A5"/>
          </a:solidFill>
          <a:ln w="12700">
            <a:solidFill>
              <a:srgbClr val="67D3A5"/>
            </a:solidFill>
            <a:prstDash val="solid"/>
          </a:ln>
        </p:spPr>
      </p:sp>
      <p:sp>
        <p:nvSpPr>
          <p:cNvPr id="34" name="Text 28"/>
          <p:cNvSpPr/>
          <p:nvPr/>
        </p:nvSpPr>
        <p:spPr>
          <a:xfrm>
            <a:off x="9829800" y="4919472"/>
            <a:ext cx="1051560" cy="411480"/>
          </a:xfrm>
          <a:prstGeom prst="rect">
            <a:avLst/>
          </a:prstGeom>
          <a:noFill/>
          <a:ln/>
        </p:spPr>
        <p:txBody>
          <a:bodyPr wrap="square" lIns="0" tIns="0" rIns="0" bIns="0" rtlCol="0" anchor="ctr"/>
          <a:lstStyle/>
          <a:p>
            <a:pPr algn="ctr" indent="0" marL="0">
              <a:buNone/>
            </a:pPr>
            <a:r>
              <a:rPr lang="en-US" sz="1300" b="1" dirty="0">
                <a:solidFill>
                  <a:srgbClr val="67D3A5"/>
                </a:solidFill>
                <a:latin typeface="Noto Sans CJK JP" pitchFamily="34" charset="0"/>
                <a:ea typeface="Noto Sans CJK JP" pitchFamily="34" charset="-122"/>
                <a:cs typeface="Noto Sans CJK JP" pitchFamily="34" charset="-120"/>
              </a:rPr>
              <a:t>低次元</a:t>
            </a:r>
            <a:endParaRPr lang="en-US" sz="1300" dirty="0"/>
          </a:p>
          <a:p>
            <a:pPr algn="ctr" indent="0" marL="0">
              <a:buNone/>
            </a:pPr>
            <a:r>
              <a:rPr lang="en-US" sz="1300" b="1" dirty="0">
                <a:solidFill>
                  <a:srgbClr val="67D3A5"/>
                </a:solidFill>
                <a:latin typeface="Noto Sans CJK JP" pitchFamily="34" charset="0"/>
                <a:ea typeface="Noto Sans CJK JP" pitchFamily="34" charset="-122"/>
                <a:cs typeface="Noto Sans CJK JP" pitchFamily="34" charset="-120"/>
              </a:rPr>
              <a:t>Dブレーン</a:t>
            </a:r>
            <a:endParaRPr lang="en-US" sz="1300" dirty="0"/>
          </a:p>
        </p:txBody>
      </p:sp>
      <p:sp>
        <p:nvSpPr>
          <p:cNvPr id="35" name="Text 29"/>
          <p:cNvSpPr/>
          <p:nvPr/>
        </p:nvSpPr>
        <p:spPr>
          <a:xfrm>
            <a:off x="6675120" y="5650992"/>
            <a:ext cx="4114800" cy="274320"/>
          </a:xfrm>
          <a:prstGeom prst="rect">
            <a:avLst/>
          </a:prstGeom>
          <a:noFill/>
          <a:ln/>
        </p:spPr>
        <p:txBody>
          <a:bodyPr wrap="square" lIns="0" tIns="0" rIns="0" bIns="0" rtlCol="0" anchor="ctr">
            <a:normAutofit/>
          </a:bodyPr>
          <a:lstStyle/>
          <a:p>
            <a:pPr algn="ctr" indent="0" marL="0">
              <a:buNone/>
            </a:pPr>
            <a:r>
              <a:rPr lang="en-US" sz="1250" dirty="0">
                <a:solidFill>
                  <a:srgbClr val="A9BBC9"/>
                </a:solidFill>
                <a:latin typeface="Noto Sans CJK JP" pitchFamily="34" charset="0"/>
                <a:ea typeface="Noto Sans CJK JP" pitchFamily="34" charset="-122"/>
                <a:cs typeface="Noto Sans CJK JP" pitchFamily="34" charset="-120"/>
              </a:rPr>
              <a:t>lump の張力比と励起スペクトルが、Dブレーン降下関係を再現</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GEOMETRY</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Bruhat–Tits木：p進境界を持つ離散双曲空間</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p進的な精度の階層を、正則木の距離として幾何化する</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10</a:t>
            </a:r>
            <a:endParaRPr lang="en-US" sz="1000" dirty="0"/>
          </a:p>
        </p:txBody>
      </p:sp>
      <p:sp>
        <p:nvSpPr>
          <p:cNvPr id="8" name="Text 6"/>
          <p:cNvSpPr/>
          <p:nvPr/>
        </p:nvSpPr>
        <p:spPr>
          <a:xfrm>
            <a:off x="548640" y="6547104"/>
            <a:ext cx="9966960" cy="146304"/>
          </a:xfrm>
          <a:prstGeom prst="rect">
            <a:avLst/>
          </a:prstGeom>
          <a:noFill/>
          <a:ln/>
        </p:spPr>
        <p:txBody>
          <a:bodyPr wrap="square" lIns="0" tIns="0" rIns="0" bIns="0" rtlCol="0" anchor="ctr">
            <a:normAutofit/>
          </a:bodyPr>
          <a:lstStyle/>
          <a:p>
            <a:pPr indent="0" marL="0">
              <a:buNone/>
            </a:pPr>
            <a:r>
              <a:rPr lang="en-US" sz="730" dirty="0">
                <a:solidFill>
                  <a:srgbClr val="7890A1"/>
                </a:solidFill>
                <a:latin typeface="Noto Sans CJK JP" pitchFamily="34" charset="0"/>
                <a:ea typeface="Noto Sans CJK JP" pitchFamily="34" charset="-122"/>
                <a:cs typeface="Noto Sans CJK JP" pitchFamily="34" charset="-120"/>
              </a:rPr>
              <a:t>出典: Gubser et al. (2017), §2; Heydeman et al., ATMP 22 (2018)</a:t>
            </a:r>
            <a:endParaRPr lang="en-US" sz="730" dirty="0"/>
          </a:p>
        </p:txBody>
      </p:sp>
      <p:sp>
        <p:nvSpPr>
          <p:cNvPr id="9" name="Text 7"/>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10 / 24</a:t>
            </a:r>
            <a:endParaRPr lang="en-US" sz="750" dirty="0"/>
          </a:p>
        </p:txBody>
      </p:sp>
      <p:sp>
        <p:nvSpPr>
          <p:cNvPr id="10" name="Shape 8"/>
          <p:cNvSpPr/>
          <p:nvPr/>
        </p:nvSpPr>
        <p:spPr>
          <a:xfrm>
            <a:off x="548640" y="1664208"/>
            <a:ext cx="6629400" cy="4526280"/>
          </a:xfrm>
          <a:prstGeom prst="roundRect">
            <a:avLst>
              <a:gd name="adj" fmla="val 2424"/>
            </a:avLst>
          </a:prstGeom>
          <a:solidFill>
            <a:srgbClr val="0D2231"/>
          </a:solidFill>
          <a:ln w="12700">
            <a:solidFill>
              <a:srgbClr val="55D8E0"/>
            </a:solidFill>
            <a:prstDash val="solid"/>
          </a:ln>
          <a:effectLst>
            <a:outerShdw sx="100000" sy="100000" kx="0" ky="0" algn="bl" rotWithShape="0" blurRad="12700" dist="50800" dir="2700000">
              <a:srgbClr val="000000">
                <a:alpha val="18000"/>
              </a:srgbClr>
            </a:outerShdw>
          </a:effectLst>
        </p:spPr>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8680" y="1856232"/>
            <a:ext cx="5989320" cy="3977640"/>
          </a:xfrm>
          <a:prstGeom prst="rect">
            <a:avLst/>
          </a:prstGeom>
        </p:spPr>
      </p:pic>
      <p:sp>
        <p:nvSpPr>
          <p:cNvPr id="12" name="Text 9"/>
          <p:cNvSpPr/>
          <p:nvPr/>
        </p:nvSpPr>
        <p:spPr>
          <a:xfrm>
            <a:off x="1280160" y="1792224"/>
            <a:ext cx="2651760" cy="274320"/>
          </a:xfrm>
          <a:prstGeom prst="rect">
            <a:avLst/>
          </a:prstGeom>
          <a:noFill/>
          <a:ln/>
        </p:spPr>
        <p:txBody>
          <a:bodyPr wrap="square" lIns="0" tIns="0" rIns="0" bIns="0" rtlCol="0" anchor="ctr"/>
          <a:lstStyle/>
          <a:p>
            <a:pPr algn="ctr" indent="0" marL="0">
              <a:buNone/>
            </a:pPr>
            <a:r>
              <a:rPr lang="en-US" sz="1250" b="1" dirty="0">
                <a:solidFill>
                  <a:srgbClr val="F2B65D"/>
                </a:solidFill>
                <a:latin typeface="Noto Sans CJK JP" pitchFamily="34" charset="0"/>
                <a:ea typeface="Noto Sans CJK JP" pitchFamily="34" charset="-122"/>
                <a:cs typeface="Noto Sans CJK JP" pitchFamily="34" charset="-120"/>
              </a:rPr>
              <a:t>境界：無限に続く枝の終点</a:t>
            </a:r>
            <a:endParaRPr lang="en-US" sz="1250" dirty="0"/>
          </a:p>
        </p:txBody>
      </p:sp>
      <p:sp>
        <p:nvSpPr>
          <p:cNvPr id="13" name="Text 10"/>
          <p:cNvSpPr/>
          <p:nvPr/>
        </p:nvSpPr>
        <p:spPr>
          <a:xfrm>
            <a:off x="1965960" y="5742432"/>
            <a:ext cx="3474720" cy="274320"/>
          </a:xfrm>
          <a:prstGeom prst="rect">
            <a:avLst/>
          </a:prstGeom>
          <a:noFill/>
          <a:ln/>
        </p:spPr>
        <p:txBody>
          <a:bodyPr wrap="square" lIns="0" tIns="0" rIns="0" bIns="0" rtlCol="0" anchor="ctr"/>
          <a:lstStyle/>
          <a:p>
            <a:pPr algn="ctr" indent="0" marL="0">
              <a:buNone/>
            </a:pPr>
            <a:r>
              <a:rPr lang="en-US" sz="1300" b="1" dirty="0">
                <a:solidFill>
                  <a:srgbClr val="55D8E0"/>
                </a:solidFill>
                <a:latin typeface="Noto Sans CJK JP" pitchFamily="34" charset="0"/>
                <a:ea typeface="Noto Sans CJK JP" pitchFamily="34" charset="-122"/>
                <a:cs typeface="Noto Sans CJK JP" pitchFamily="34" charset="-120"/>
              </a:rPr>
              <a:t>深さ ＝ p進精度 ＝ RGスケール</a:t>
            </a:r>
            <a:endParaRPr lang="en-US" sz="1300" dirty="0"/>
          </a:p>
        </p:txBody>
      </p:sp>
      <p:sp>
        <p:nvSpPr>
          <p:cNvPr id="14" name="Shape 11"/>
          <p:cNvSpPr/>
          <p:nvPr/>
        </p:nvSpPr>
        <p:spPr>
          <a:xfrm>
            <a:off x="7424928" y="1737360"/>
            <a:ext cx="4160520" cy="1051560"/>
          </a:xfrm>
          <a:prstGeom prst="roundRect">
            <a:avLst>
              <a:gd name="adj" fmla="val 10435"/>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15" name="Text 12"/>
          <p:cNvSpPr/>
          <p:nvPr/>
        </p:nvSpPr>
        <p:spPr>
          <a:xfrm>
            <a:off x="7589520" y="1847088"/>
            <a:ext cx="383133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境界</a:t>
            </a:r>
            <a:endParaRPr lang="en-US" sz="1050" dirty="0"/>
          </a:p>
        </p:txBody>
      </p:sp>
      <p:pic>
        <p:nvPicPr>
          <p:cNvPr id="1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3588" y="2130552"/>
            <a:ext cx="2743200" cy="548640"/>
          </a:xfrm>
          <a:prstGeom prst="rect">
            <a:avLst/>
          </a:prstGeom>
        </p:spPr>
      </p:pic>
      <p:sp>
        <p:nvSpPr>
          <p:cNvPr id="17" name="Shape 13"/>
          <p:cNvSpPr/>
          <p:nvPr/>
        </p:nvSpPr>
        <p:spPr>
          <a:xfrm>
            <a:off x="7424928" y="2999232"/>
            <a:ext cx="4160520" cy="1051560"/>
          </a:xfrm>
          <a:prstGeom prst="roundRect">
            <a:avLst>
              <a:gd name="adj" fmla="val 10435"/>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18" name="Text 14"/>
          <p:cNvSpPr/>
          <p:nvPr/>
        </p:nvSpPr>
        <p:spPr>
          <a:xfrm>
            <a:off x="7589520" y="3108960"/>
            <a:ext cx="383133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群による表示</a:t>
            </a:r>
            <a:endParaRPr lang="en-US" sz="1050" dirty="0"/>
          </a:p>
        </p:txBody>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26096" y="3492473"/>
            <a:ext cx="3758184" cy="348541"/>
          </a:xfrm>
          <a:prstGeom prst="rect">
            <a:avLst/>
          </a:prstGeom>
        </p:spPr>
      </p:pic>
      <p:sp>
        <p:nvSpPr>
          <p:cNvPr id="20" name="Shape 15"/>
          <p:cNvSpPr/>
          <p:nvPr/>
        </p:nvSpPr>
        <p:spPr>
          <a:xfrm>
            <a:off x="7424928" y="4261104"/>
            <a:ext cx="4160520" cy="1051560"/>
          </a:xfrm>
          <a:prstGeom prst="roundRect">
            <a:avLst>
              <a:gd name="adj" fmla="val 10435"/>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21" name="Text 16"/>
          <p:cNvSpPr/>
          <p:nvPr/>
        </p:nvSpPr>
        <p:spPr>
          <a:xfrm>
            <a:off x="7589520" y="4370832"/>
            <a:ext cx="383133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正則性</a:t>
            </a:r>
            <a:endParaRPr lang="en-US" sz="1050" dirty="0"/>
          </a:p>
        </p:txBody>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26096" y="4837538"/>
            <a:ext cx="3758184" cy="182157"/>
          </a:xfrm>
          <a:prstGeom prst="rect">
            <a:avLst/>
          </a:prstGeom>
        </p:spPr>
      </p:pic>
      <p:sp>
        <p:nvSpPr>
          <p:cNvPr id="23" name="Shape 17"/>
          <p:cNvSpPr/>
          <p:nvPr/>
        </p:nvSpPr>
        <p:spPr>
          <a:xfrm>
            <a:off x="7424928" y="5504688"/>
            <a:ext cx="4160520" cy="685800"/>
          </a:xfrm>
          <a:prstGeom prst="roundRect">
            <a:avLst>
              <a:gd name="adj" fmla="val 16000"/>
            </a:avLst>
          </a:prstGeom>
          <a:solidFill>
            <a:srgbClr val="0B1C2A"/>
          </a:solidFill>
          <a:ln w="12700">
            <a:solidFill>
              <a:srgbClr val="67D3A5"/>
            </a:solidFill>
            <a:prstDash val="solid"/>
          </a:ln>
        </p:spPr>
      </p:sp>
      <p:sp>
        <p:nvSpPr>
          <p:cNvPr id="24" name="Text 18"/>
          <p:cNvSpPr/>
          <p:nvPr/>
        </p:nvSpPr>
        <p:spPr>
          <a:xfrm>
            <a:off x="7662672" y="5687568"/>
            <a:ext cx="3685032" cy="274320"/>
          </a:xfrm>
          <a:prstGeom prst="rect">
            <a:avLst/>
          </a:prstGeom>
          <a:noFill/>
          <a:ln/>
        </p:spPr>
        <p:txBody>
          <a:bodyPr wrap="square" lIns="0" tIns="0" rIns="0" bIns="0" rtlCol="0" anchor="ctr">
            <a:normAutofit/>
          </a:bodyPr>
          <a:lstStyle/>
          <a:p>
            <a:pPr algn="ctr" indent="0" marL="0">
              <a:buNone/>
            </a:pPr>
            <a:r>
              <a:rPr lang="en-US" sz="1250" b="1" dirty="0">
                <a:solidFill>
                  <a:srgbClr val="67D3A5"/>
                </a:solidFill>
                <a:latin typeface="Noto Sans CJK JP" pitchFamily="34" charset="0"/>
                <a:ea typeface="Noto Sans CJK JP" pitchFamily="34" charset="-122"/>
                <a:cs typeface="Noto Sans CJK JP" pitchFamily="34" charset="-120"/>
              </a:rPr>
              <a:t>連続的な曲率の代わりに、分岐とグラフ距離が双曲性を担う</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BRIDGE</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木の内部を消去すると、境界に非局所作用が残る</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Zabrodin の世界面構成が、後のp進ホログラフィーの原型になる</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11</a:t>
            </a:r>
            <a:endParaRPr lang="en-US" sz="1000" dirty="0"/>
          </a:p>
        </p:txBody>
      </p:sp>
      <p:sp>
        <p:nvSpPr>
          <p:cNvPr id="8" name="Text 6"/>
          <p:cNvSpPr/>
          <p:nvPr/>
        </p:nvSpPr>
        <p:spPr>
          <a:xfrm>
            <a:off x="548640" y="6547104"/>
            <a:ext cx="9966960" cy="146304"/>
          </a:xfrm>
          <a:prstGeom prst="rect">
            <a:avLst/>
          </a:prstGeom>
          <a:noFill/>
          <a:ln/>
        </p:spPr>
        <p:txBody>
          <a:bodyPr wrap="square" lIns="0" tIns="0" rIns="0" bIns="0" rtlCol="0" anchor="ctr">
            <a:normAutofit/>
          </a:bodyPr>
          <a:lstStyle/>
          <a:p>
            <a:pPr indent="0" marL="0">
              <a:buNone/>
            </a:pPr>
            <a:r>
              <a:rPr lang="en-US" sz="730" dirty="0">
                <a:solidFill>
                  <a:srgbClr val="7890A1"/>
                </a:solidFill>
                <a:latin typeface="Noto Sans CJK JP" pitchFamily="34" charset="0"/>
                <a:ea typeface="Noto Sans CJK JP" pitchFamily="34" charset="-122"/>
                <a:cs typeface="Noto Sans CJK JP" pitchFamily="34" charset="-120"/>
              </a:rPr>
              <a:t>出典: Zabrodin, Commun. Math. Phys. 123 (1989); Huang &amp; Jepsen, arXiv:2604.00970 (2026)</a:t>
            </a:r>
            <a:endParaRPr lang="en-US" sz="730" dirty="0"/>
          </a:p>
        </p:txBody>
      </p:sp>
      <p:sp>
        <p:nvSpPr>
          <p:cNvPr id="9" name="Text 7"/>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11 / 24</a:t>
            </a:r>
            <a:endParaRPr lang="en-US" sz="750" dirty="0"/>
          </a:p>
        </p:txBody>
      </p:sp>
      <p:sp>
        <p:nvSpPr>
          <p:cNvPr id="10" name="Shape 8"/>
          <p:cNvSpPr/>
          <p:nvPr/>
        </p:nvSpPr>
        <p:spPr>
          <a:xfrm>
            <a:off x="594360" y="1700784"/>
            <a:ext cx="4572000" cy="4407408"/>
          </a:xfrm>
          <a:prstGeom prst="roundRect">
            <a:avLst>
              <a:gd name="adj" fmla="val 2490"/>
            </a:avLst>
          </a:prstGeom>
          <a:solidFill>
            <a:srgbClr val="0D2231"/>
          </a:solidFill>
          <a:ln w="12700">
            <a:solidFill>
              <a:srgbClr val="55D8E0"/>
            </a:solidFill>
            <a:prstDash val="solid"/>
          </a:ln>
          <a:effectLst>
            <a:outerShdw sx="100000" sy="100000" kx="0" ky="0" algn="bl" rotWithShape="0" blurRad="12700" dist="50800" dir="2700000">
              <a:srgbClr val="000000">
                <a:alpha val="18000"/>
              </a:srgbClr>
            </a:outerShdw>
          </a:effectLst>
        </p:spPr>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400" y="1993392"/>
            <a:ext cx="3913632" cy="2788920"/>
          </a:xfrm>
          <a:prstGeom prst="rect">
            <a:avLst/>
          </a:prstGeom>
        </p:spPr>
      </p:pic>
      <p:sp>
        <p:nvSpPr>
          <p:cNvPr id="12" name="Shape 9"/>
          <p:cNvSpPr/>
          <p:nvPr/>
        </p:nvSpPr>
        <p:spPr>
          <a:xfrm>
            <a:off x="2039112" y="4800600"/>
            <a:ext cx="1645920" cy="566928"/>
          </a:xfrm>
          <a:prstGeom prst="chevron">
            <a:avLst/>
          </a:prstGeom>
          <a:solidFill>
            <a:srgbClr val="F2B65D"/>
          </a:solidFill>
          <a:ln w="12700">
            <a:solidFill>
              <a:srgbClr val="F2B65D"/>
            </a:solidFill>
            <a:prstDash val="solid"/>
          </a:ln>
        </p:spPr>
      </p:sp>
      <p:sp>
        <p:nvSpPr>
          <p:cNvPr id="13" name="Text 10"/>
          <p:cNvSpPr/>
          <p:nvPr/>
        </p:nvSpPr>
        <p:spPr>
          <a:xfrm>
            <a:off x="1993392" y="4965192"/>
            <a:ext cx="1755648" cy="228600"/>
          </a:xfrm>
          <a:prstGeom prst="rect">
            <a:avLst/>
          </a:prstGeom>
          <a:noFill/>
          <a:ln/>
        </p:spPr>
        <p:txBody>
          <a:bodyPr wrap="square" lIns="0" tIns="0" rIns="0" bIns="0" rtlCol="0" anchor="ctr"/>
          <a:lstStyle/>
          <a:p>
            <a:pPr algn="ctr" indent="0" marL="0">
              <a:buNone/>
            </a:pPr>
            <a:r>
              <a:rPr lang="en-US" sz="1150" b="1" dirty="0">
                <a:solidFill>
                  <a:srgbClr val="07131E"/>
                </a:solidFill>
                <a:latin typeface="Noto Sans CJK JP" pitchFamily="34" charset="0"/>
                <a:ea typeface="Noto Sans CJK JP" pitchFamily="34" charset="-122"/>
                <a:cs typeface="Noto Sans CJK JP" pitchFamily="34" charset="-120"/>
              </a:rPr>
              <a:t>内部自由度を積分消去</a:t>
            </a:r>
            <a:endParaRPr lang="en-US" sz="1150" dirty="0"/>
          </a:p>
        </p:txBody>
      </p:sp>
      <p:sp>
        <p:nvSpPr>
          <p:cNvPr id="14" name="Text 11"/>
          <p:cNvSpPr/>
          <p:nvPr/>
        </p:nvSpPr>
        <p:spPr>
          <a:xfrm>
            <a:off x="1170432" y="5522976"/>
            <a:ext cx="3429000" cy="274320"/>
          </a:xfrm>
          <a:prstGeom prst="rect">
            <a:avLst/>
          </a:prstGeom>
          <a:noFill/>
          <a:ln/>
        </p:spPr>
        <p:txBody>
          <a:bodyPr wrap="square" lIns="0" tIns="0" rIns="0" bIns="0" rtlCol="0" anchor="ctr"/>
          <a:lstStyle/>
          <a:p>
            <a:pPr algn="ctr" indent="0" marL="0">
              <a:buNone/>
            </a:pPr>
            <a:r>
              <a:rPr lang="en-US" sz="1300" b="1" dirty="0">
                <a:solidFill>
                  <a:srgbClr val="F4F7FA"/>
                </a:solidFill>
                <a:latin typeface="Noto Sans CJK JP" pitchFamily="34" charset="0"/>
                <a:ea typeface="Noto Sans CJK JP" pitchFamily="34" charset="-122"/>
                <a:cs typeface="Noto Sans CJK JP" pitchFamily="34" charset="-120"/>
              </a:rPr>
              <a:t>境界の点どうしに長距離結合が生じる</a:t>
            </a:r>
            <a:endParaRPr lang="en-US" sz="1300" dirty="0"/>
          </a:p>
        </p:txBody>
      </p:sp>
      <p:sp>
        <p:nvSpPr>
          <p:cNvPr id="15" name="Shape 12"/>
          <p:cNvSpPr/>
          <p:nvPr/>
        </p:nvSpPr>
        <p:spPr>
          <a:xfrm>
            <a:off x="5422392" y="1737360"/>
            <a:ext cx="6126480" cy="1143000"/>
          </a:xfrm>
          <a:prstGeom prst="roundRect">
            <a:avLst>
              <a:gd name="adj" fmla="val 9600"/>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16" name="Text 13"/>
          <p:cNvSpPr/>
          <p:nvPr/>
        </p:nvSpPr>
        <p:spPr>
          <a:xfrm>
            <a:off x="5586984" y="1847088"/>
            <a:ext cx="579729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境界作用</a:t>
            </a:r>
            <a:endParaRPr lang="en-US" sz="10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96522" y="2130552"/>
            <a:ext cx="2778220" cy="640080"/>
          </a:xfrm>
          <a:prstGeom prst="rect">
            <a:avLst/>
          </a:prstGeom>
        </p:spPr>
      </p:pic>
      <p:sp>
        <p:nvSpPr>
          <p:cNvPr id="18" name="Shape 14"/>
          <p:cNvSpPr/>
          <p:nvPr/>
        </p:nvSpPr>
        <p:spPr>
          <a:xfrm>
            <a:off x="5422392" y="3127248"/>
            <a:ext cx="6126480" cy="1325880"/>
          </a:xfrm>
          <a:prstGeom prst="roundRect">
            <a:avLst>
              <a:gd name="adj" fmla="val 8276"/>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19" name="Text 15"/>
          <p:cNvSpPr/>
          <p:nvPr/>
        </p:nvSpPr>
        <p:spPr>
          <a:xfrm>
            <a:off x="5586984" y="3236976"/>
            <a:ext cx="579729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Vladimirov型の非局所微分</a:t>
            </a:r>
            <a:endParaRPr lang="en-US" sz="1050" dirty="0"/>
          </a:p>
        </p:txBody>
      </p:sp>
      <p:pic>
        <p:nvPicPr>
          <p:cNvPr id="2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03039" y="3520440"/>
            <a:ext cx="4165185" cy="822960"/>
          </a:xfrm>
          <a:prstGeom prst="rect">
            <a:avLst/>
          </a:prstGeom>
        </p:spPr>
      </p:pic>
      <p:sp>
        <p:nvSpPr>
          <p:cNvPr id="21" name="Shape 16"/>
          <p:cNvSpPr/>
          <p:nvPr/>
        </p:nvSpPr>
        <p:spPr>
          <a:xfrm>
            <a:off x="5422392" y="4700016"/>
            <a:ext cx="6126480" cy="1408176"/>
          </a:xfrm>
          <a:prstGeom prst="roundRect">
            <a:avLst>
              <a:gd name="adj" fmla="val 7792"/>
            </a:avLst>
          </a:prstGeom>
          <a:solidFill>
            <a:srgbClr val="0B1C2A"/>
          </a:solidFill>
          <a:ln w="12700">
            <a:solidFill>
              <a:srgbClr val="A58AE8"/>
            </a:solidFill>
            <a:prstDash val="solid"/>
          </a:ln>
        </p:spPr>
      </p:sp>
      <p:sp>
        <p:nvSpPr>
          <p:cNvPr id="22" name="Text 17"/>
          <p:cNvSpPr/>
          <p:nvPr/>
        </p:nvSpPr>
        <p:spPr>
          <a:xfrm>
            <a:off x="5696712" y="4919472"/>
            <a:ext cx="1554480" cy="256032"/>
          </a:xfrm>
          <a:prstGeom prst="rect">
            <a:avLst/>
          </a:prstGeom>
          <a:noFill/>
          <a:ln/>
        </p:spPr>
        <p:txBody>
          <a:bodyPr wrap="square" lIns="0" tIns="0" rIns="0" bIns="0" rtlCol="0" anchor="ctr"/>
          <a:lstStyle/>
          <a:p>
            <a:pPr indent="0" marL="0">
              <a:buNone/>
            </a:pPr>
            <a:r>
              <a:rPr lang="en-US" sz="1400" b="1" dirty="0">
                <a:solidFill>
                  <a:srgbClr val="A58AE8"/>
                </a:solidFill>
                <a:latin typeface="Noto Sans CJK JP" pitchFamily="34" charset="0"/>
                <a:ea typeface="Noto Sans CJK JP" pitchFamily="34" charset="-122"/>
                <a:cs typeface="Noto Sans CJK JP" pitchFamily="34" charset="-120"/>
              </a:rPr>
              <a:t>同じ木、異なる役割</a:t>
            </a:r>
            <a:endParaRPr lang="en-US" sz="1400" dirty="0"/>
          </a:p>
        </p:txBody>
      </p:sp>
      <p:sp>
        <p:nvSpPr>
          <p:cNvPr id="23" name="Text 18"/>
          <p:cNvSpPr/>
          <p:nvPr/>
        </p:nvSpPr>
        <p:spPr>
          <a:xfrm>
            <a:off x="5715000" y="5349240"/>
            <a:ext cx="1051560" cy="246888"/>
          </a:xfrm>
          <a:prstGeom prst="rect">
            <a:avLst/>
          </a:prstGeom>
          <a:noFill/>
          <a:ln/>
        </p:spPr>
        <p:txBody>
          <a:bodyPr wrap="square" lIns="0" tIns="0" rIns="0" bIns="0" rtlCol="0" anchor="ctr"/>
          <a:lstStyle/>
          <a:p>
            <a:pPr indent="0" marL="0">
              <a:buNone/>
            </a:pPr>
            <a:r>
              <a:rPr lang="en-US" sz="1200" b="1" dirty="0">
                <a:solidFill>
                  <a:srgbClr val="F2B65D"/>
                </a:solidFill>
                <a:latin typeface="Noto Sans CJK JP" pitchFamily="34" charset="0"/>
                <a:ea typeface="Noto Sans CJK JP" pitchFamily="34" charset="-122"/>
                <a:cs typeface="Noto Sans CJK JP" pitchFamily="34" charset="-120"/>
              </a:rPr>
              <a:t>p進弦理論</a:t>
            </a:r>
            <a:endParaRPr lang="en-US" sz="1200" dirty="0"/>
          </a:p>
        </p:txBody>
      </p:sp>
      <p:sp>
        <p:nvSpPr>
          <p:cNvPr id="24" name="Text 19"/>
          <p:cNvSpPr/>
          <p:nvPr/>
        </p:nvSpPr>
        <p:spPr>
          <a:xfrm>
            <a:off x="6784848" y="5340096"/>
            <a:ext cx="1600200" cy="246888"/>
          </a:xfrm>
          <a:prstGeom prst="rect">
            <a:avLst/>
          </a:prstGeom>
          <a:noFill/>
          <a:ln/>
        </p:spPr>
        <p:txBody>
          <a:bodyPr wrap="square" lIns="0" tIns="0" rIns="0" bIns="0" rtlCol="0" anchor="ctr"/>
          <a:lstStyle/>
          <a:p>
            <a:pPr indent="0" marL="0">
              <a:buNone/>
            </a:pPr>
            <a:r>
              <a:rPr lang="en-US" sz="1200" dirty="0">
                <a:solidFill>
                  <a:srgbClr val="F4F7FA"/>
                </a:solidFill>
                <a:latin typeface="Noto Sans CJK JP" pitchFamily="34" charset="0"/>
                <a:ea typeface="Noto Sans CJK JP" pitchFamily="34" charset="-122"/>
                <a:cs typeface="Noto Sans CJK JP" pitchFamily="34" charset="-120"/>
              </a:rPr>
              <a:t>木は世界面の内部</a:t>
            </a:r>
            <a:endParaRPr lang="en-US" sz="1200" dirty="0"/>
          </a:p>
        </p:txBody>
      </p:sp>
      <p:sp>
        <p:nvSpPr>
          <p:cNvPr id="25" name="Text 20"/>
          <p:cNvSpPr/>
          <p:nvPr/>
        </p:nvSpPr>
        <p:spPr>
          <a:xfrm>
            <a:off x="8458200" y="5349240"/>
            <a:ext cx="1143000" cy="246888"/>
          </a:xfrm>
          <a:prstGeom prst="rect">
            <a:avLst/>
          </a:prstGeom>
          <a:noFill/>
          <a:ln/>
        </p:spPr>
        <p:txBody>
          <a:bodyPr wrap="square" lIns="0" tIns="0" rIns="0" bIns="0" rtlCol="0" anchor="ctr"/>
          <a:lstStyle/>
          <a:p>
            <a:pPr indent="0" marL="0">
              <a:buNone/>
            </a:pPr>
            <a:r>
              <a:rPr lang="en-US" sz="1200" b="1" dirty="0">
                <a:solidFill>
                  <a:srgbClr val="55D8E0"/>
                </a:solidFill>
                <a:latin typeface="Noto Sans CJK JP" pitchFamily="34" charset="0"/>
                <a:ea typeface="Noto Sans CJK JP" pitchFamily="34" charset="-122"/>
                <a:cs typeface="Noto Sans CJK JP" pitchFamily="34" charset="-120"/>
              </a:rPr>
              <a:t>p進 AdS/CFT</a:t>
            </a:r>
            <a:endParaRPr lang="en-US" sz="1200" dirty="0"/>
          </a:p>
        </p:txBody>
      </p:sp>
      <p:sp>
        <p:nvSpPr>
          <p:cNvPr id="26" name="Text 21"/>
          <p:cNvSpPr/>
          <p:nvPr/>
        </p:nvSpPr>
        <p:spPr>
          <a:xfrm>
            <a:off x="9619488" y="5340096"/>
            <a:ext cx="1417320" cy="246888"/>
          </a:xfrm>
          <a:prstGeom prst="rect">
            <a:avLst/>
          </a:prstGeom>
          <a:noFill/>
          <a:ln/>
        </p:spPr>
        <p:txBody>
          <a:bodyPr wrap="square" lIns="0" tIns="0" rIns="0" bIns="0" rtlCol="0" anchor="ctr"/>
          <a:lstStyle/>
          <a:p>
            <a:pPr indent="0" marL="0">
              <a:buNone/>
            </a:pPr>
            <a:r>
              <a:rPr lang="en-US" sz="1200" dirty="0">
                <a:solidFill>
                  <a:srgbClr val="F4F7FA"/>
                </a:solidFill>
                <a:latin typeface="Noto Sans CJK JP" pitchFamily="34" charset="0"/>
                <a:ea typeface="Noto Sans CJK JP" pitchFamily="34" charset="-122"/>
                <a:cs typeface="Noto Sans CJK JP" pitchFamily="34" charset="-120"/>
              </a:rPr>
              <a:t>木はバルク時空</a:t>
            </a:r>
            <a:endParaRPr lang="en-US" sz="1200" dirty="0"/>
          </a:p>
        </p:txBody>
      </p:sp>
      <p:sp>
        <p:nvSpPr>
          <p:cNvPr id="27" name="Text 22"/>
          <p:cNvSpPr/>
          <p:nvPr/>
        </p:nvSpPr>
        <p:spPr>
          <a:xfrm>
            <a:off x="6400800" y="5751576"/>
            <a:ext cx="4251960" cy="228600"/>
          </a:xfrm>
          <a:prstGeom prst="rect">
            <a:avLst/>
          </a:prstGeom>
          <a:noFill/>
          <a:ln/>
        </p:spPr>
        <p:txBody>
          <a:bodyPr wrap="square" lIns="0" tIns="0" rIns="0" bIns="0" rtlCol="0" anchor="ctr"/>
          <a:lstStyle/>
          <a:p>
            <a:pPr algn="ctr" indent="0" marL="0">
              <a:buNone/>
            </a:pPr>
            <a:r>
              <a:rPr lang="en-US" sz="1180" dirty="0">
                <a:solidFill>
                  <a:srgbClr val="A9BBC9"/>
                </a:solidFill>
                <a:latin typeface="Noto Sans CJK JP" pitchFamily="34" charset="0"/>
                <a:ea typeface="Noto Sans CJK JP" pitchFamily="34" charset="-122"/>
                <a:cs typeface="Noto Sans CJK JP" pitchFamily="34" charset="-120"/>
              </a:rPr>
              <a:t>数学的な仕組みは共通だが、物理的解釈は分ける</a:t>
            </a:r>
            <a:endParaRPr lang="en-US" sz="11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P-ADIC CFT</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p進 CFT：局所性を弱め、全球対称性を残す</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連続的な微小変換より、分数線形変換とOPEデータが中心</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12</a:t>
            </a:r>
            <a:endParaRPr lang="en-US" sz="1000" dirty="0"/>
          </a:p>
        </p:txBody>
      </p:sp>
      <p:sp>
        <p:nvSpPr>
          <p:cNvPr id="8" name="Text 6"/>
          <p:cNvSpPr/>
          <p:nvPr/>
        </p:nvSpPr>
        <p:spPr>
          <a:xfrm>
            <a:off x="548640" y="6547104"/>
            <a:ext cx="9966960" cy="146304"/>
          </a:xfrm>
          <a:prstGeom prst="rect">
            <a:avLst/>
          </a:prstGeom>
          <a:noFill/>
          <a:ln/>
        </p:spPr>
        <p:txBody>
          <a:bodyPr wrap="square" lIns="0" tIns="0" rIns="0" bIns="0" rtlCol="0" anchor="ctr">
            <a:normAutofit/>
          </a:bodyPr>
          <a:lstStyle/>
          <a:p>
            <a:pPr indent="0" marL="0">
              <a:buNone/>
            </a:pPr>
            <a:r>
              <a:rPr lang="en-US" sz="730" dirty="0">
                <a:solidFill>
                  <a:srgbClr val="7890A1"/>
                </a:solidFill>
                <a:latin typeface="Noto Sans CJK JP" pitchFamily="34" charset="0"/>
                <a:ea typeface="Noto Sans CJK JP" pitchFamily="34" charset="-122"/>
                <a:cs typeface="Noto Sans CJK JP" pitchFamily="34" charset="-120"/>
              </a:rPr>
              <a:t>出典: Heydeman et al., ATMP 22 (2018), §2; Gubser et al. (2017)</a:t>
            </a:r>
            <a:endParaRPr lang="en-US" sz="730" dirty="0"/>
          </a:p>
        </p:txBody>
      </p:sp>
      <p:sp>
        <p:nvSpPr>
          <p:cNvPr id="9" name="Text 7"/>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12 / 24</a:t>
            </a:r>
            <a:endParaRPr lang="en-US" sz="750" dirty="0"/>
          </a:p>
        </p:txBody>
      </p:sp>
      <p:sp>
        <p:nvSpPr>
          <p:cNvPr id="10" name="Shape 8"/>
          <p:cNvSpPr/>
          <p:nvPr/>
        </p:nvSpPr>
        <p:spPr>
          <a:xfrm>
            <a:off x="594360" y="1737360"/>
            <a:ext cx="5486400" cy="1261872"/>
          </a:xfrm>
          <a:prstGeom prst="roundRect">
            <a:avLst>
              <a:gd name="adj" fmla="val 8696"/>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11" name="Text 9"/>
          <p:cNvSpPr/>
          <p:nvPr/>
        </p:nvSpPr>
        <p:spPr>
          <a:xfrm>
            <a:off x="758952" y="1847088"/>
            <a:ext cx="515721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全球共形変換</a:t>
            </a:r>
            <a:endParaRPr lang="en-US" sz="1050" dirty="0"/>
          </a:p>
        </p:txBody>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5528" y="2175932"/>
            <a:ext cx="5084064" cy="668191"/>
          </a:xfrm>
          <a:prstGeom prst="rect">
            <a:avLst/>
          </a:prstGeom>
        </p:spPr>
      </p:pic>
      <p:sp>
        <p:nvSpPr>
          <p:cNvPr id="13" name="Shape 10"/>
          <p:cNvSpPr/>
          <p:nvPr/>
        </p:nvSpPr>
        <p:spPr>
          <a:xfrm>
            <a:off x="6309360" y="1737360"/>
            <a:ext cx="5257800" cy="1261872"/>
          </a:xfrm>
          <a:prstGeom prst="roundRect">
            <a:avLst>
              <a:gd name="adj" fmla="val 8696"/>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14" name="Text 11"/>
          <p:cNvSpPr/>
          <p:nvPr/>
        </p:nvSpPr>
        <p:spPr>
          <a:xfrm>
            <a:off x="6473952" y="1847088"/>
            <a:ext cx="492861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スカラー一次演算子の二点関数</a:t>
            </a:r>
            <a:endParaRPr lang="en-US" sz="1050" dirty="0"/>
          </a:p>
        </p:txBody>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32974" y="2130552"/>
            <a:ext cx="3810571" cy="758952"/>
          </a:xfrm>
          <a:prstGeom prst="rect">
            <a:avLst/>
          </a:prstGeom>
        </p:spPr>
      </p:pic>
      <p:sp>
        <p:nvSpPr>
          <p:cNvPr id="16" name="Shape 12"/>
          <p:cNvSpPr/>
          <p:nvPr/>
        </p:nvSpPr>
        <p:spPr>
          <a:xfrm>
            <a:off x="594360" y="3273552"/>
            <a:ext cx="3520440" cy="2606040"/>
          </a:xfrm>
          <a:prstGeom prst="roundRect">
            <a:avLst>
              <a:gd name="adj" fmla="val 4211"/>
            </a:avLst>
          </a:prstGeom>
          <a:solidFill>
            <a:srgbClr val="0D2231"/>
          </a:solidFill>
          <a:ln w="12700">
            <a:solidFill>
              <a:srgbClr val="55D8E0"/>
            </a:solidFill>
            <a:prstDash val="solid"/>
          </a:ln>
          <a:effectLst>
            <a:outerShdw sx="100000" sy="100000" kx="0" ky="0" algn="bl" rotWithShape="0" blurRad="12700" dist="50800" dir="2700000">
              <a:srgbClr val="000000">
                <a:alpha val="18000"/>
              </a:srgbClr>
            </a:outerShdw>
          </a:effectLst>
        </p:spPr>
      </p:sp>
      <p:sp>
        <p:nvSpPr>
          <p:cNvPr id="17" name="Shape 13"/>
          <p:cNvSpPr/>
          <p:nvPr/>
        </p:nvSpPr>
        <p:spPr>
          <a:xfrm>
            <a:off x="868680" y="3511296"/>
            <a:ext cx="960120" cy="310896"/>
          </a:xfrm>
          <a:prstGeom prst="roundRect">
            <a:avLst/>
          </a:prstGeom>
          <a:solidFill>
            <a:srgbClr val="153246"/>
          </a:solidFill>
          <a:ln w="13970">
            <a:solidFill>
              <a:srgbClr val="55D8E0"/>
            </a:solidFill>
            <a:prstDash val="solid"/>
          </a:ln>
        </p:spPr>
      </p:sp>
      <p:sp>
        <p:nvSpPr>
          <p:cNvPr id="18" name="Text 14"/>
          <p:cNvSpPr/>
          <p:nvPr/>
        </p:nvSpPr>
        <p:spPr>
          <a:xfrm>
            <a:off x="941832" y="3557016"/>
            <a:ext cx="813816" cy="201168"/>
          </a:xfrm>
          <a:prstGeom prst="rect">
            <a:avLst/>
          </a:prstGeom>
          <a:noFill/>
          <a:ln/>
        </p:spPr>
        <p:txBody>
          <a:bodyPr wrap="square" lIns="0" tIns="0" rIns="0" bIns="0" rtlCol="0" anchor="ctr">
            <a:normAutofit/>
          </a:bodyPr>
          <a:lstStyle/>
          <a:p>
            <a:pPr algn="ctr" indent="0" marL="0">
              <a:buNone/>
            </a:pPr>
            <a:r>
              <a:rPr lang="en-US" sz="1000" b="1" dirty="0">
                <a:solidFill>
                  <a:srgbClr val="55D8E0"/>
                </a:solidFill>
                <a:latin typeface="Noto Sans CJK JP" pitchFamily="34" charset="0"/>
                <a:ea typeface="Noto Sans CJK JP" pitchFamily="34" charset="-122"/>
                <a:cs typeface="Noto Sans CJK JP" pitchFamily="34" charset="-120"/>
              </a:rPr>
              <a:t>残るもの</a:t>
            </a:r>
            <a:endParaRPr lang="en-US" sz="1000" dirty="0"/>
          </a:p>
        </p:txBody>
      </p:sp>
      <p:sp>
        <p:nvSpPr>
          <p:cNvPr id="19" name="Shape 15"/>
          <p:cNvSpPr/>
          <p:nvPr/>
        </p:nvSpPr>
        <p:spPr>
          <a:xfrm>
            <a:off x="896112" y="4160520"/>
            <a:ext cx="91440" cy="91440"/>
          </a:xfrm>
          <a:prstGeom prst="ellipse">
            <a:avLst/>
          </a:prstGeom>
          <a:solidFill>
            <a:srgbClr val="55D8E0"/>
          </a:solidFill>
          <a:ln w="12700">
            <a:solidFill>
              <a:srgbClr val="55D8E0"/>
            </a:solidFill>
            <a:prstDash val="solid"/>
          </a:ln>
        </p:spPr>
      </p:sp>
      <p:sp>
        <p:nvSpPr>
          <p:cNvPr id="20" name="Text 16"/>
          <p:cNvSpPr/>
          <p:nvPr/>
        </p:nvSpPr>
        <p:spPr>
          <a:xfrm>
            <a:off x="1078992" y="4041648"/>
            <a:ext cx="2651760" cy="429768"/>
          </a:xfrm>
          <a:prstGeom prst="rect">
            <a:avLst/>
          </a:prstGeom>
          <a:noFill/>
          <a:ln/>
        </p:spPr>
        <p:txBody>
          <a:bodyPr wrap="square" lIns="0" tIns="0" rIns="0" bIns="0" rtlCol="0" anchor="ctr">
            <a:normAutofit/>
          </a:bodyPr>
          <a:lstStyle/>
          <a:p>
            <a:pPr indent="0" marL="0">
              <a:buNone/>
            </a:pPr>
            <a:r>
              <a:rPr lang="en-US" sz="1320" dirty="0">
                <a:solidFill>
                  <a:srgbClr val="F4F7FA"/>
                </a:solidFill>
                <a:latin typeface="Noto Sans CJK JP" pitchFamily="34" charset="0"/>
                <a:ea typeface="Noto Sans CJK JP" pitchFamily="34" charset="-122"/>
                <a:cs typeface="Noto Sans CJK JP" pitchFamily="34" charset="-120"/>
              </a:rPr>
              <a:t>PGL による全球共形対称性</a:t>
            </a:r>
            <a:endParaRPr lang="en-US" sz="1320" dirty="0"/>
          </a:p>
        </p:txBody>
      </p:sp>
      <p:sp>
        <p:nvSpPr>
          <p:cNvPr id="21" name="Shape 17"/>
          <p:cNvSpPr/>
          <p:nvPr/>
        </p:nvSpPr>
        <p:spPr>
          <a:xfrm>
            <a:off x="896112" y="4590288"/>
            <a:ext cx="91440" cy="91440"/>
          </a:xfrm>
          <a:prstGeom prst="ellipse">
            <a:avLst/>
          </a:prstGeom>
          <a:solidFill>
            <a:srgbClr val="55D8E0"/>
          </a:solidFill>
          <a:ln w="12700">
            <a:solidFill>
              <a:srgbClr val="55D8E0"/>
            </a:solidFill>
            <a:prstDash val="solid"/>
          </a:ln>
        </p:spPr>
      </p:sp>
      <p:sp>
        <p:nvSpPr>
          <p:cNvPr id="22" name="Text 18"/>
          <p:cNvSpPr/>
          <p:nvPr/>
        </p:nvSpPr>
        <p:spPr>
          <a:xfrm>
            <a:off x="1078992" y="4471416"/>
            <a:ext cx="2651760" cy="429768"/>
          </a:xfrm>
          <a:prstGeom prst="rect">
            <a:avLst/>
          </a:prstGeom>
          <a:noFill/>
          <a:ln/>
        </p:spPr>
        <p:txBody>
          <a:bodyPr wrap="square" lIns="0" tIns="0" rIns="0" bIns="0" rtlCol="0" anchor="ctr">
            <a:normAutofit/>
          </a:bodyPr>
          <a:lstStyle/>
          <a:p>
            <a:pPr indent="0" marL="0">
              <a:buNone/>
            </a:pPr>
            <a:r>
              <a:rPr lang="en-US" sz="1320" dirty="0">
                <a:solidFill>
                  <a:srgbClr val="F4F7FA"/>
                </a:solidFill>
                <a:latin typeface="Noto Sans CJK JP" pitchFamily="34" charset="0"/>
                <a:ea typeface="Noto Sans CJK JP" pitchFamily="34" charset="-122"/>
                <a:cs typeface="Noto Sans CJK JP" pitchFamily="34" charset="-120"/>
              </a:rPr>
              <a:t>スケーリング次元とOPE係数</a:t>
            </a:r>
            <a:endParaRPr lang="en-US" sz="1320" dirty="0"/>
          </a:p>
        </p:txBody>
      </p:sp>
      <p:sp>
        <p:nvSpPr>
          <p:cNvPr id="23" name="Shape 19"/>
          <p:cNvSpPr/>
          <p:nvPr/>
        </p:nvSpPr>
        <p:spPr>
          <a:xfrm>
            <a:off x="896112" y="5020056"/>
            <a:ext cx="91440" cy="91440"/>
          </a:xfrm>
          <a:prstGeom prst="ellipse">
            <a:avLst/>
          </a:prstGeom>
          <a:solidFill>
            <a:srgbClr val="55D8E0"/>
          </a:solidFill>
          <a:ln w="12700">
            <a:solidFill>
              <a:srgbClr val="55D8E0"/>
            </a:solidFill>
            <a:prstDash val="solid"/>
          </a:ln>
        </p:spPr>
      </p:sp>
      <p:sp>
        <p:nvSpPr>
          <p:cNvPr id="24" name="Text 20"/>
          <p:cNvSpPr/>
          <p:nvPr/>
        </p:nvSpPr>
        <p:spPr>
          <a:xfrm>
            <a:off x="1078992" y="4901184"/>
            <a:ext cx="2651760" cy="429768"/>
          </a:xfrm>
          <a:prstGeom prst="rect">
            <a:avLst/>
          </a:prstGeom>
          <a:noFill/>
          <a:ln/>
        </p:spPr>
        <p:txBody>
          <a:bodyPr wrap="square" lIns="0" tIns="0" rIns="0" bIns="0" rtlCol="0" anchor="ctr">
            <a:normAutofit/>
          </a:bodyPr>
          <a:lstStyle/>
          <a:p>
            <a:pPr indent="0" marL="0">
              <a:buNone/>
            </a:pPr>
            <a:r>
              <a:rPr lang="en-US" sz="1320" dirty="0">
                <a:solidFill>
                  <a:srgbClr val="F4F7FA"/>
                </a:solidFill>
                <a:latin typeface="Noto Sans CJK JP" pitchFamily="34" charset="0"/>
                <a:ea typeface="Noto Sans CJK JP" pitchFamily="34" charset="-122"/>
                <a:cs typeface="Noto Sans CJK JP" pitchFamily="34" charset="-120"/>
              </a:rPr>
              <a:t>二点・三点関数の共形形</a:t>
            </a:r>
            <a:endParaRPr lang="en-US" sz="1320" dirty="0"/>
          </a:p>
        </p:txBody>
      </p:sp>
      <p:sp>
        <p:nvSpPr>
          <p:cNvPr id="25" name="Shape 21"/>
          <p:cNvSpPr/>
          <p:nvPr/>
        </p:nvSpPr>
        <p:spPr>
          <a:xfrm>
            <a:off x="896112" y="5449824"/>
            <a:ext cx="91440" cy="91440"/>
          </a:xfrm>
          <a:prstGeom prst="ellipse">
            <a:avLst/>
          </a:prstGeom>
          <a:solidFill>
            <a:srgbClr val="55D8E0"/>
          </a:solidFill>
          <a:ln w="12700">
            <a:solidFill>
              <a:srgbClr val="55D8E0"/>
            </a:solidFill>
            <a:prstDash val="solid"/>
          </a:ln>
        </p:spPr>
      </p:sp>
      <p:sp>
        <p:nvSpPr>
          <p:cNvPr id="26" name="Text 22"/>
          <p:cNvSpPr/>
          <p:nvPr/>
        </p:nvSpPr>
        <p:spPr>
          <a:xfrm>
            <a:off x="1078992" y="5330952"/>
            <a:ext cx="2651760" cy="429768"/>
          </a:xfrm>
          <a:prstGeom prst="rect">
            <a:avLst/>
          </a:prstGeom>
          <a:noFill/>
          <a:ln/>
        </p:spPr>
        <p:txBody>
          <a:bodyPr wrap="square" lIns="0" tIns="0" rIns="0" bIns="0" rtlCol="0" anchor="ctr">
            <a:normAutofit/>
          </a:bodyPr>
          <a:lstStyle/>
          <a:p>
            <a:pPr indent="0" marL="0">
              <a:buNone/>
            </a:pPr>
            <a:r>
              <a:rPr lang="en-US" sz="1320" dirty="0">
                <a:solidFill>
                  <a:srgbClr val="F4F7FA"/>
                </a:solidFill>
                <a:latin typeface="Noto Sans CJK JP" pitchFamily="34" charset="0"/>
                <a:ea typeface="Noto Sans CJK JP" pitchFamily="34" charset="-122"/>
                <a:cs typeface="Noto Sans CJK JP" pitchFamily="34" charset="-120"/>
              </a:rPr>
              <a:t>階層的な粗視化とRG</a:t>
            </a:r>
            <a:endParaRPr lang="en-US" sz="1320" dirty="0"/>
          </a:p>
        </p:txBody>
      </p:sp>
      <p:sp>
        <p:nvSpPr>
          <p:cNvPr id="27" name="Shape 23"/>
          <p:cNvSpPr/>
          <p:nvPr/>
        </p:nvSpPr>
        <p:spPr>
          <a:xfrm>
            <a:off x="4343400" y="3273552"/>
            <a:ext cx="3520440" cy="2606040"/>
          </a:xfrm>
          <a:prstGeom prst="roundRect">
            <a:avLst>
              <a:gd name="adj" fmla="val 4211"/>
            </a:avLst>
          </a:prstGeom>
          <a:solidFill>
            <a:srgbClr val="0D2231"/>
          </a:solidFill>
          <a:ln w="12700">
            <a:solidFill>
              <a:srgbClr val="F0806B"/>
            </a:solidFill>
            <a:prstDash val="solid"/>
          </a:ln>
          <a:effectLst>
            <a:outerShdw sx="100000" sy="100000" kx="0" ky="0" algn="bl" rotWithShape="0" blurRad="12700" dist="50800" dir="2700000">
              <a:srgbClr val="000000">
                <a:alpha val="18000"/>
              </a:srgbClr>
            </a:outerShdw>
          </a:effectLst>
        </p:spPr>
      </p:sp>
      <p:sp>
        <p:nvSpPr>
          <p:cNvPr id="28" name="Shape 24"/>
          <p:cNvSpPr/>
          <p:nvPr/>
        </p:nvSpPr>
        <p:spPr>
          <a:xfrm>
            <a:off x="4617720" y="3511296"/>
            <a:ext cx="1234440" cy="310896"/>
          </a:xfrm>
          <a:prstGeom prst="roundRect">
            <a:avLst/>
          </a:prstGeom>
          <a:solidFill>
            <a:srgbClr val="153246"/>
          </a:solidFill>
          <a:ln w="13970">
            <a:solidFill>
              <a:srgbClr val="F0806B"/>
            </a:solidFill>
            <a:prstDash val="solid"/>
          </a:ln>
        </p:spPr>
      </p:sp>
      <p:sp>
        <p:nvSpPr>
          <p:cNvPr id="29" name="Text 25"/>
          <p:cNvSpPr/>
          <p:nvPr/>
        </p:nvSpPr>
        <p:spPr>
          <a:xfrm>
            <a:off x="4690872" y="3557016"/>
            <a:ext cx="1088136" cy="201168"/>
          </a:xfrm>
          <a:prstGeom prst="rect">
            <a:avLst/>
          </a:prstGeom>
          <a:noFill/>
          <a:ln/>
        </p:spPr>
        <p:txBody>
          <a:bodyPr wrap="square" lIns="0" tIns="0" rIns="0" bIns="0" rtlCol="0" anchor="ctr">
            <a:normAutofit/>
          </a:bodyPr>
          <a:lstStyle/>
          <a:p>
            <a:pPr algn="ctr" indent="0" marL="0">
              <a:buNone/>
            </a:pPr>
            <a:r>
              <a:rPr lang="en-US" sz="1000" b="1" dirty="0">
                <a:solidFill>
                  <a:srgbClr val="F0806B"/>
                </a:solidFill>
                <a:latin typeface="Noto Sans CJK JP" pitchFamily="34" charset="0"/>
                <a:ea typeface="Noto Sans CJK JP" pitchFamily="34" charset="-122"/>
                <a:cs typeface="Noto Sans CJK JP" pitchFamily="34" charset="-120"/>
              </a:rPr>
              <a:t>弱くなるもの</a:t>
            </a:r>
            <a:endParaRPr lang="en-US" sz="1000" dirty="0"/>
          </a:p>
        </p:txBody>
      </p:sp>
      <p:sp>
        <p:nvSpPr>
          <p:cNvPr id="30" name="Shape 26"/>
          <p:cNvSpPr/>
          <p:nvPr/>
        </p:nvSpPr>
        <p:spPr>
          <a:xfrm>
            <a:off x="4645152" y="4160520"/>
            <a:ext cx="91440" cy="91440"/>
          </a:xfrm>
          <a:prstGeom prst="ellipse">
            <a:avLst/>
          </a:prstGeom>
          <a:solidFill>
            <a:srgbClr val="F0806B"/>
          </a:solidFill>
          <a:ln w="12700">
            <a:solidFill>
              <a:srgbClr val="F0806B"/>
            </a:solidFill>
            <a:prstDash val="solid"/>
          </a:ln>
        </p:spPr>
      </p:sp>
      <p:sp>
        <p:nvSpPr>
          <p:cNvPr id="31" name="Text 27"/>
          <p:cNvSpPr/>
          <p:nvPr/>
        </p:nvSpPr>
        <p:spPr>
          <a:xfrm>
            <a:off x="4828032" y="4041648"/>
            <a:ext cx="2651760" cy="429768"/>
          </a:xfrm>
          <a:prstGeom prst="rect">
            <a:avLst/>
          </a:prstGeom>
          <a:noFill/>
          <a:ln/>
        </p:spPr>
        <p:txBody>
          <a:bodyPr wrap="square" lIns="0" tIns="0" rIns="0" bIns="0" rtlCol="0" anchor="ctr">
            <a:normAutofit/>
          </a:bodyPr>
          <a:lstStyle/>
          <a:p>
            <a:pPr indent="0" marL="0">
              <a:buNone/>
            </a:pPr>
            <a:r>
              <a:rPr lang="en-US" sz="1300" dirty="0">
                <a:solidFill>
                  <a:srgbClr val="F4F7FA"/>
                </a:solidFill>
                <a:latin typeface="Noto Sans CJK JP" pitchFamily="34" charset="0"/>
                <a:ea typeface="Noto Sans CJK JP" pitchFamily="34" charset="-122"/>
                <a:cs typeface="Noto Sans CJK JP" pitchFamily="34" charset="-120"/>
              </a:rPr>
              <a:t>通常の微分に基づく局所共形代数</a:t>
            </a:r>
            <a:endParaRPr lang="en-US" sz="1300" dirty="0"/>
          </a:p>
        </p:txBody>
      </p:sp>
      <p:sp>
        <p:nvSpPr>
          <p:cNvPr id="32" name="Shape 28"/>
          <p:cNvSpPr/>
          <p:nvPr/>
        </p:nvSpPr>
        <p:spPr>
          <a:xfrm>
            <a:off x="4645152" y="4590288"/>
            <a:ext cx="91440" cy="91440"/>
          </a:xfrm>
          <a:prstGeom prst="ellipse">
            <a:avLst/>
          </a:prstGeom>
          <a:solidFill>
            <a:srgbClr val="F0806B"/>
          </a:solidFill>
          <a:ln w="12700">
            <a:solidFill>
              <a:srgbClr val="F0806B"/>
            </a:solidFill>
            <a:prstDash val="solid"/>
          </a:ln>
        </p:spPr>
      </p:sp>
      <p:sp>
        <p:nvSpPr>
          <p:cNvPr id="33" name="Text 29"/>
          <p:cNvSpPr/>
          <p:nvPr/>
        </p:nvSpPr>
        <p:spPr>
          <a:xfrm>
            <a:off x="4828032" y="4471416"/>
            <a:ext cx="2651760" cy="429768"/>
          </a:xfrm>
          <a:prstGeom prst="rect">
            <a:avLst/>
          </a:prstGeom>
          <a:noFill/>
          <a:ln/>
        </p:spPr>
        <p:txBody>
          <a:bodyPr wrap="square" lIns="0" tIns="0" rIns="0" bIns="0" rtlCol="0" anchor="ctr">
            <a:normAutofit/>
          </a:bodyPr>
          <a:lstStyle/>
          <a:p>
            <a:pPr indent="0" marL="0">
              <a:buNone/>
            </a:pPr>
            <a:r>
              <a:rPr lang="en-US" sz="1300" dirty="0">
                <a:solidFill>
                  <a:srgbClr val="F4F7FA"/>
                </a:solidFill>
                <a:latin typeface="Noto Sans CJK JP" pitchFamily="34" charset="0"/>
                <a:ea typeface="Noto Sans CJK JP" pitchFamily="34" charset="-122"/>
                <a:cs typeface="Noto Sans CJK JP" pitchFamily="34" charset="-120"/>
              </a:rPr>
              <a:t>無限個の局所 descendant</a:t>
            </a:r>
            <a:endParaRPr lang="en-US" sz="1300" dirty="0"/>
          </a:p>
        </p:txBody>
      </p:sp>
      <p:sp>
        <p:nvSpPr>
          <p:cNvPr id="34" name="Shape 30"/>
          <p:cNvSpPr/>
          <p:nvPr/>
        </p:nvSpPr>
        <p:spPr>
          <a:xfrm>
            <a:off x="4645152" y="5020056"/>
            <a:ext cx="91440" cy="91440"/>
          </a:xfrm>
          <a:prstGeom prst="ellipse">
            <a:avLst/>
          </a:prstGeom>
          <a:solidFill>
            <a:srgbClr val="F0806B"/>
          </a:solidFill>
          <a:ln w="12700">
            <a:solidFill>
              <a:srgbClr val="F0806B"/>
            </a:solidFill>
            <a:prstDash val="solid"/>
          </a:ln>
        </p:spPr>
      </p:sp>
      <p:sp>
        <p:nvSpPr>
          <p:cNvPr id="35" name="Text 31"/>
          <p:cNvSpPr/>
          <p:nvPr/>
        </p:nvSpPr>
        <p:spPr>
          <a:xfrm>
            <a:off x="4828032" y="4901184"/>
            <a:ext cx="2651760" cy="429768"/>
          </a:xfrm>
          <a:prstGeom prst="rect">
            <a:avLst/>
          </a:prstGeom>
          <a:noFill/>
          <a:ln/>
        </p:spPr>
        <p:txBody>
          <a:bodyPr wrap="square" lIns="0" tIns="0" rIns="0" bIns="0" rtlCol="0" anchor="ctr">
            <a:normAutofit/>
          </a:bodyPr>
          <a:lstStyle/>
          <a:p>
            <a:pPr indent="0" marL="0">
              <a:buNone/>
            </a:pPr>
            <a:r>
              <a:rPr lang="en-US" sz="1300" dirty="0">
                <a:solidFill>
                  <a:srgbClr val="F4F7FA"/>
                </a:solidFill>
                <a:latin typeface="Noto Sans CJK JP" pitchFamily="34" charset="0"/>
                <a:ea typeface="Noto Sans CJK JP" pitchFamily="34" charset="-122"/>
                <a:cs typeface="Noto Sans CJK JP" pitchFamily="34" charset="-120"/>
              </a:rPr>
              <a:t>標準的な局所ストレステンソル</a:t>
            </a:r>
            <a:endParaRPr lang="en-US" sz="1300" dirty="0"/>
          </a:p>
        </p:txBody>
      </p:sp>
      <p:sp>
        <p:nvSpPr>
          <p:cNvPr id="36" name="Shape 32"/>
          <p:cNvSpPr/>
          <p:nvPr/>
        </p:nvSpPr>
        <p:spPr>
          <a:xfrm>
            <a:off x="4645152" y="5449824"/>
            <a:ext cx="91440" cy="91440"/>
          </a:xfrm>
          <a:prstGeom prst="ellipse">
            <a:avLst/>
          </a:prstGeom>
          <a:solidFill>
            <a:srgbClr val="F0806B"/>
          </a:solidFill>
          <a:ln w="12700">
            <a:solidFill>
              <a:srgbClr val="F0806B"/>
            </a:solidFill>
            <a:prstDash val="solid"/>
          </a:ln>
        </p:spPr>
      </p:sp>
      <p:sp>
        <p:nvSpPr>
          <p:cNvPr id="37" name="Text 33"/>
          <p:cNvSpPr/>
          <p:nvPr/>
        </p:nvSpPr>
        <p:spPr>
          <a:xfrm>
            <a:off x="4828032" y="5330952"/>
            <a:ext cx="2651760" cy="429768"/>
          </a:xfrm>
          <a:prstGeom prst="rect">
            <a:avLst/>
          </a:prstGeom>
          <a:noFill/>
          <a:ln/>
        </p:spPr>
        <p:txBody>
          <a:bodyPr wrap="square" lIns="0" tIns="0" rIns="0" bIns="0" rtlCol="0" anchor="ctr">
            <a:normAutofit/>
          </a:bodyPr>
          <a:lstStyle/>
          <a:p>
            <a:pPr indent="0" marL="0">
              <a:buNone/>
            </a:pPr>
            <a:r>
              <a:rPr lang="en-US" sz="1300" dirty="0">
                <a:solidFill>
                  <a:srgbClr val="F4F7FA"/>
                </a:solidFill>
                <a:latin typeface="Noto Sans CJK JP" pitchFamily="34" charset="0"/>
                <a:ea typeface="Noto Sans CJK JP" pitchFamily="34" charset="-122"/>
                <a:cs typeface="Noto Sans CJK JP" pitchFamily="34" charset="-120"/>
              </a:rPr>
              <a:t>連続座標に基づく近接直観</a:t>
            </a:r>
            <a:endParaRPr lang="en-US" sz="1300" dirty="0"/>
          </a:p>
        </p:txBody>
      </p:sp>
      <p:sp>
        <p:nvSpPr>
          <p:cNvPr id="38" name="Shape 34"/>
          <p:cNvSpPr/>
          <p:nvPr/>
        </p:nvSpPr>
        <p:spPr>
          <a:xfrm>
            <a:off x="8092440" y="3273552"/>
            <a:ext cx="3474720" cy="2606040"/>
          </a:xfrm>
          <a:prstGeom prst="roundRect">
            <a:avLst>
              <a:gd name="adj" fmla="val 4211"/>
            </a:avLst>
          </a:prstGeom>
          <a:solidFill>
            <a:srgbClr val="0D2231"/>
          </a:solidFill>
          <a:ln w="12700">
            <a:solidFill>
              <a:srgbClr val="67D3A5"/>
            </a:solidFill>
            <a:prstDash val="solid"/>
          </a:ln>
          <a:effectLst>
            <a:outerShdw sx="100000" sy="100000" kx="0" ky="0" algn="bl" rotWithShape="0" blurRad="12700" dist="50800" dir="2700000">
              <a:srgbClr val="000000">
                <a:alpha val="18000"/>
              </a:srgbClr>
            </a:outerShdw>
          </a:effectLst>
        </p:spPr>
      </p:sp>
      <p:sp>
        <p:nvSpPr>
          <p:cNvPr id="39" name="Shape 35"/>
          <p:cNvSpPr/>
          <p:nvPr/>
        </p:nvSpPr>
        <p:spPr>
          <a:xfrm>
            <a:off x="8366760" y="3511296"/>
            <a:ext cx="1051560" cy="310896"/>
          </a:xfrm>
          <a:prstGeom prst="roundRect">
            <a:avLst/>
          </a:prstGeom>
          <a:solidFill>
            <a:srgbClr val="153246"/>
          </a:solidFill>
          <a:ln w="13970">
            <a:solidFill>
              <a:srgbClr val="67D3A5"/>
            </a:solidFill>
            <a:prstDash val="solid"/>
          </a:ln>
        </p:spPr>
      </p:sp>
      <p:sp>
        <p:nvSpPr>
          <p:cNvPr id="40" name="Text 36"/>
          <p:cNvSpPr/>
          <p:nvPr/>
        </p:nvSpPr>
        <p:spPr>
          <a:xfrm>
            <a:off x="8439912" y="3557016"/>
            <a:ext cx="905256" cy="201168"/>
          </a:xfrm>
          <a:prstGeom prst="rect">
            <a:avLst/>
          </a:prstGeom>
          <a:noFill/>
          <a:ln/>
        </p:spPr>
        <p:txBody>
          <a:bodyPr wrap="square" lIns="0" tIns="0" rIns="0" bIns="0" rtlCol="0" anchor="ctr">
            <a:normAutofit/>
          </a:bodyPr>
          <a:lstStyle/>
          <a:p>
            <a:pPr algn="ctr" indent="0" marL="0">
              <a:buNone/>
            </a:pPr>
            <a:r>
              <a:rPr lang="en-US" sz="1000" b="1" dirty="0">
                <a:solidFill>
                  <a:srgbClr val="67D3A5"/>
                </a:solidFill>
                <a:latin typeface="Noto Sans CJK JP" pitchFamily="34" charset="0"/>
                <a:ea typeface="Noto Sans CJK JP" pitchFamily="34" charset="-122"/>
                <a:cs typeface="Noto Sans CJK JP" pitchFamily="34" charset="-120"/>
              </a:rPr>
              <a:t>その代わり</a:t>
            </a:r>
            <a:endParaRPr lang="en-US" sz="1000" dirty="0"/>
          </a:p>
        </p:txBody>
      </p:sp>
      <p:sp>
        <p:nvSpPr>
          <p:cNvPr id="41" name="Text 37"/>
          <p:cNvSpPr/>
          <p:nvPr/>
        </p:nvSpPr>
        <p:spPr>
          <a:xfrm>
            <a:off x="8430768" y="4096512"/>
            <a:ext cx="2743200" cy="1097280"/>
          </a:xfrm>
          <a:prstGeom prst="rect">
            <a:avLst/>
          </a:prstGeom>
          <a:noFill/>
          <a:ln/>
        </p:spPr>
        <p:txBody>
          <a:bodyPr wrap="square" lIns="0" tIns="0" rIns="0" bIns="0" rtlCol="0" anchor="ctr">
            <a:normAutofit/>
          </a:bodyPr>
          <a:lstStyle/>
          <a:p>
            <a:pPr algn="ctr" indent="0" marL="0">
              <a:buNone/>
            </a:pPr>
            <a:r>
              <a:rPr lang="en-US" sz="1700" b="1" dirty="0">
                <a:solidFill>
                  <a:srgbClr val="F4F7FA"/>
                </a:solidFill>
                <a:latin typeface="Noto Sans CJK JP" pitchFamily="34" charset="0"/>
                <a:ea typeface="Noto Sans CJK JP" pitchFamily="34" charset="-122"/>
                <a:cs typeface="Noto Sans CJK JP" pitchFamily="34" charset="-120"/>
              </a:rPr>
              <a:t>局所微分ではなく、</a:t>
            </a:r>
            <a:endParaRPr lang="en-US" sz="1700" dirty="0"/>
          </a:p>
          <a:p>
            <a:pPr algn="ctr" indent="0" marL="0">
              <a:buNone/>
            </a:pPr>
            <a:r>
              <a:rPr lang="en-US" sz="1700" b="1" dirty="0">
                <a:solidFill>
                  <a:srgbClr val="F4F7FA"/>
                </a:solidFill>
                <a:latin typeface="Noto Sans CJK JP" pitchFamily="34" charset="0"/>
                <a:ea typeface="Noto Sans CJK JP" pitchFamily="34" charset="-122"/>
                <a:cs typeface="Noto Sans CJK JP" pitchFamily="34" charset="-120"/>
              </a:rPr>
              <a:t>距離・群作用・OPEの整合性から</a:t>
            </a:r>
            <a:endParaRPr lang="en-US" sz="1700" dirty="0"/>
          </a:p>
          <a:p>
            <a:pPr algn="ctr" indent="0" marL="0">
              <a:buNone/>
            </a:pPr>
            <a:r>
              <a:rPr lang="en-US" sz="1700" b="1" dirty="0">
                <a:solidFill>
                  <a:srgbClr val="F4F7FA"/>
                </a:solidFill>
                <a:latin typeface="Noto Sans CJK JP" pitchFamily="34" charset="0"/>
                <a:ea typeface="Noto Sans CJK JP" pitchFamily="34" charset="-122"/>
                <a:cs typeface="Noto Sans CJK JP" pitchFamily="34" charset="-120"/>
              </a:rPr>
              <a:t>理論を組み立てる</a:t>
            </a:r>
            <a:endParaRPr lang="en-US" sz="1700" dirty="0"/>
          </a:p>
        </p:txBody>
      </p:sp>
      <p:sp>
        <p:nvSpPr>
          <p:cNvPr id="42" name="Text 38"/>
          <p:cNvSpPr/>
          <p:nvPr/>
        </p:nvSpPr>
        <p:spPr>
          <a:xfrm>
            <a:off x="8394192" y="5285232"/>
            <a:ext cx="2834640" cy="438912"/>
          </a:xfrm>
          <a:prstGeom prst="rect">
            <a:avLst/>
          </a:prstGeom>
          <a:noFill/>
          <a:ln/>
        </p:spPr>
        <p:txBody>
          <a:bodyPr wrap="square" lIns="0" tIns="0" rIns="0" bIns="0" rtlCol="0" anchor="ctr">
            <a:normAutofit/>
          </a:bodyPr>
          <a:lstStyle/>
          <a:p>
            <a:pPr algn="ctr" indent="0" marL="0">
              <a:buNone/>
            </a:pPr>
            <a:r>
              <a:rPr lang="en-US" sz="1250" dirty="0">
                <a:solidFill>
                  <a:srgbClr val="A9BBC9"/>
                </a:solidFill>
                <a:latin typeface="Noto Sans CJK JP" pitchFamily="34" charset="0"/>
                <a:ea typeface="Noto Sans CJK JP" pitchFamily="34" charset="-122"/>
                <a:cs typeface="Noto Sans CJK JP" pitchFamily="34" charset="-120"/>
              </a:rPr>
              <a:t>「共形場理論」という名前のうち、</a:t>
            </a:r>
            <a:endParaRPr lang="en-US" sz="1250" dirty="0"/>
          </a:p>
          <a:p>
            <a:pPr algn="ctr" indent="0" marL="0">
              <a:buNone/>
            </a:pPr>
            <a:r>
              <a:rPr lang="en-US" sz="1250" dirty="0">
                <a:solidFill>
                  <a:srgbClr val="A9BBC9"/>
                </a:solidFill>
                <a:latin typeface="Noto Sans CJK JP" pitchFamily="34" charset="0"/>
                <a:ea typeface="Noto Sans CJK JP" pitchFamily="34" charset="-122"/>
                <a:cs typeface="Noto Sans CJK JP" pitchFamily="34" charset="-120"/>
              </a:rPr>
              <a:t>何が本質かを切り分ける実験台</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DICTIONARY</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通常の AdS/CFT と p進 AdS/CFT の辞書</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同型ではなく、構造を保った「算術的な模型」</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13</a:t>
            </a:r>
            <a:endParaRPr lang="en-US" sz="1000" dirty="0"/>
          </a:p>
        </p:txBody>
      </p:sp>
      <p:sp>
        <p:nvSpPr>
          <p:cNvPr id="8" name="Text 6"/>
          <p:cNvSpPr/>
          <p:nvPr/>
        </p:nvSpPr>
        <p:spPr>
          <a:xfrm>
            <a:off x="548640" y="6547104"/>
            <a:ext cx="9966960" cy="146304"/>
          </a:xfrm>
          <a:prstGeom prst="rect">
            <a:avLst/>
          </a:prstGeom>
          <a:noFill/>
          <a:ln/>
        </p:spPr>
        <p:txBody>
          <a:bodyPr wrap="square" lIns="0" tIns="0" rIns="0" bIns="0" rtlCol="0" anchor="ctr">
            <a:normAutofit/>
          </a:bodyPr>
          <a:lstStyle/>
          <a:p>
            <a:pPr indent="0" marL="0">
              <a:buNone/>
            </a:pPr>
            <a:r>
              <a:rPr lang="en-US" sz="730" dirty="0">
                <a:solidFill>
                  <a:srgbClr val="7890A1"/>
                </a:solidFill>
                <a:latin typeface="Noto Sans CJK JP" pitchFamily="34" charset="0"/>
                <a:ea typeface="Noto Sans CJK JP" pitchFamily="34" charset="-122"/>
                <a:cs typeface="Noto Sans CJK JP" pitchFamily="34" charset="-120"/>
              </a:rPr>
              <a:t>出典: Gubser et al. (2017); Heydeman et al. (2018)</a:t>
            </a:r>
            <a:endParaRPr lang="en-US" sz="730" dirty="0"/>
          </a:p>
        </p:txBody>
      </p:sp>
      <p:sp>
        <p:nvSpPr>
          <p:cNvPr id="9" name="Text 7"/>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13 / 24</a:t>
            </a:r>
            <a:endParaRPr lang="en-US" sz="750" dirty="0"/>
          </a:p>
        </p:txBody>
      </p:sp>
      <p:sp>
        <p:nvSpPr>
          <p:cNvPr id="10" name="Shape 8"/>
          <p:cNvSpPr/>
          <p:nvPr/>
        </p:nvSpPr>
        <p:spPr>
          <a:xfrm>
            <a:off x="640080" y="1764792"/>
            <a:ext cx="1828800" cy="512064"/>
          </a:xfrm>
          <a:prstGeom prst="rect">
            <a:avLst/>
          </a:prstGeom>
          <a:solidFill>
            <a:srgbClr val="153246"/>
          </a:solidFill>
          <a:ln w="12700">
            <a:solidFill>
              <a:srgbClr val="2B4658"/>
            </a:solidFill>
            <a:prstDash val="solid"/>
          </a:ln>
        </p:spPr>
      </p:sp>
      <p:sp>
        <p:nvSpPr>
          <p:cNvPr id="11" name="Text 9"/>
          <p:cNvSpPr/>
          <p:nvPr/>
        </p:nvSpPr>
        <p:spPr>
          <a:xfrm>
            <a:off x="749808" y="1901952"/>
            <a:ext cx="1609344" cy="219456"/>
          </a:xfrm>
          <a:prstGeom prst="rect">
            <a:avLst/>
          </a:prstGeom>
          <a:noFill/>
          <a:ln/>
        </p:spPr>
        <p:txBody>
          <a:bodyPr wrap="square" lIns="0" tIns="0" rIns="0" bIns="0" rtlCol="0" anchor="ctr"/>
          <a:lstStyle/>
          <a:p>
            <a:pPr algn="l" indent="0" marL="0">
              <a:buNone/>
            </a:pPr>
            <a:r>
              <a:rPr lang="en-US" sz="1300" b="1" dirty="0">
                <a:solidFill>
                  <a:srgbClr val="F4F7FA"/>
                </a:solidFill>
                <a:latin typeface="Noto Sans CJK JP" pitchFamily="34" charset="0"/>
                <a:ea typeface="Noto Sans CJK JP" pitchFamily="34" charset="-122"/>
                <a:cs typeface="Noto Sans CJK JP" pitchFamily="34" charset="-120"/>
              </a:rPr>
              <a:t>項目</a:t>
            </a:r>
            <a:endParaRPr lang="en-US" sz="1300" dirty="0"/>
          </a:p>
        </p:txBody>
      </p:sp>
      <p:sp>
        <p:nvSpPr>
          <p:cNvPr id="12" name="Shape 10"/>
          <p:cNvSpPr/>
          <p:nvPr/>
        </p:nvSpPr>
        <p:spPr>
          <a:xfrm>
            <a:off x="2468880" y="1764792"/>
            <a:ext cx="3840480" cy="512064"/>
          </a:xfrm>
          <a:prstGeom prst="rect">
            <a:avLst/>
          </a:prstGeom>
          <a:solidFill>
            <a:srgbClr val="153246"/>
          </a:solidFill>
          <a:ln w="12700">
            <a:solidFill>
              <a:srgbClr val="2B4658"/>
            </a:solidFill>
            <a:prstDash val="solid"/>
          </a:ln>
        </p:spPr>
      </p:sp>
      <p:sp>
        <p:nvSpPr>
          <p:cNvPr id="13" name="Text 11"/>
          <p:cNvSpPr/>
          <p:nvPr/>
        </p:nvSpPr>
        <p:spPr>
          <a:xfrm>
            <a:off x="2578608" y="1901952"/>
            <a:ext cx="3621024" cy="219456"/>
          </a:xfrm>
          <a:prstGeom prst="rect">
            <a:avLst/>
          </a:prstGeom>
          <a:noFill/>
          <a:ln/>
        </p:spPr>
        <p:txBody>
          <a:bodyPr wrap="square" lIns="0" tIns="0" rIns="0" bIns="0" rtlCol="0" anchor="ctr"/>
          <a:lstStyle/>
          <a:p>
            <a:pPr algn="ctr" indent="0" marL="0">
              <a:buNone/>
            </a:pPr>
            <a:r>
              <a:rPr lang="en-US" sz="1300" b="1" dirty="0">
                <a:solidFill>
                  <a:srgbClr val="F4F7FA"/>
                </a:solidFill>
                <a:latin typeface="Noto Sans CJK JP" pitchFamily="34" charset="0"/>
                <a:ea typeface="Noto Sans CJK JP" pitchFamily="34" charset="-122"/>
                <a:cs typeface="Noto Sans CJK JP" pitchFamily="34" charset="-120"/>
              </a:rPr>
              <a:t>通常の AdS/CFT</a:t>
            </a:r>
            <a:endParaRPr lang="en-US" sz="1300" dirty="0"/>
          </a:p>
        </p:txBody>
      </p:sp>
      <p:sp>
        <p:nvSpPr>
          <p:cNvPr id="14" name="Shape 12"/>
          <p:cNvSpPr/>
          <p:nvPr/>
        </p:nvSpPr>
        <p:spPr>
          <a:xfrm>
            <a:off x="6309360" y="1764792"/>
            <a:ext cx="4389120" cy="512064"/>
          </a:xfrm>
          <a:prstGeom prst="rect">
            <a:avLst/>
          </a:prstGeom>
          <a:solidFill>
            <a:srgbClr val="A58AE8"/>
          </a:solidFill>
          <a:ln w="12700">
            <a:solidFill>
              <a:srgbClr val="2B4658"/>
            </a:solidFill>
            <a:prstDash val="solid"/>
          </a:ln>
        </p:spPr>
      </p:sp>
      <p:sp>
        <p:nvSpPr>
          <p:cNvPr id="15" name="Text 13"/>
          <p:cNvSpPr/>
          <p:nvPr/>
        </p:nvSpPr>
        <p:spPr>
          <a:xfrm>
            <a:off x="6419088" y="1901952"/>
            <a:ext cx="4169664" cy="219456"/>
          </a:xfrm>
          <a:prstGeom prst="rect">
            <a:avLst/>
          </a:prstGeom>
          <a:noFill/>
          <a:ln/>
        </p:spPr>
        <p:txBody>
          <a:bodyPr wrap="square" lIns="0" tIns="0" rIns="0" bIns="0" rtlCol="0" anchor="ctr"/>
          <a:lstStyle/>
          <a:p>
            <a:pPr algn="ctr" indent="0" marL="0">
              <a:buNone/>
            </a:pPr>
            <a:r>
              <a:rPr lang="en-US" sz="1300" b="1" dirty="0">
                <a:solidFill>
                  <a:srgbClr val="F4F7FA"/>
                </a:solidFill>
                <a:latin typeface="Noto Sans CJK JP" pitchFamily="34" charset="0"/>
                <a:ea typeface="Noto Sans CJK JP" pitchFamily="34" charset="-122"/>
                <a:cs typeface="Noto Sans CJK JP" pitchFamily="34" charset="-120"/>
              </a:rPr>
              <a:t>p進 AdS/CFT</a:t>
            </a:r>
            <a:endParaRPr lang="en-US" sz="1300" dirty="0"/>
          </a:p>
        </p:txBody>
      </p:sp>
      <p:sp>
        <p:nvSpPr>
          <p:cNvPr id="16" name="Shape 14"/>
          <p:cNvSpPr/>
          <p:nvPr/>
        </p:nvSpPr>
        <p:spPr>
          <a:xfrm>
            <a:off x="640080" y="2276856"/>
            <a:ext cx="1828800" cy="621792"/>
          </a:xfrm>
          <a:prstGeom prst="rect">
            <a:avLst/>
          </a:prstGeom>
          <a:solidFill>
            <a:srgbClr val="0D2231"/>
          </a:solidFill>
          <a:ln w="10160">
            <a:solidFill>
              <a:srgbClr val="2B4658"/>
            </a:solidFill>
            <a:prstDash val="solid"/>
          </a:ln>
        </p:spPr>
      </p:sp>
      <p:sp>
        <p:nvSpPr>
          <p:cNvPr id="17" name="Text 15"/>
          <p:cNvSpPr/>
          <p:nvPr/>
        </p:nvSpPr>
        <p:spPr>
          <a:xfrm>
            <a:off x="768096" y="2404872"/>
            <a:ext cx="1572768" cy="347472"/>
          </a:xfrm>
          <a:prstGeom prst="rect">
            <a:avLst/>
          </a:prstGeom>
          <a:noFill/>
          <a:ln/>
        </p:spPr>
        <p:txBody>
          <a:bodyPr wrap="square" lIns="0" tIns="0" rIns="0" bIns="0" rtlCol="0" anchor="ctr">
            <a:normAutofit/>
          </a:bodyPr>
          <a:lstStyle/>
          <a:p>
            <a:pPr algn="l" indent="0" marL="0">
              <a:buNone/>
            </a:pPr>
            <a:r>
              <a:rPr lang="en-US" sz="1250" b="1" dirty="0">
                <a:solidFill>
                  <a:srgbClr val="55D8E0"/>
                </a:solidFill>
                <a:latin typeface="Noto Sans CJK JP" pitchFamily="34" charset="0"/>
                <a:ea typeface="Noto Sans CJK JP" pitchFamily="34" charset="-122"/>
                <a:cs typeface="Noto Sans CJK JP" pitchFamily="34" charset="-120"/>
              </a:rPr>
              <a:t>境界空間</a:t>
            </a:r>
            <a:endParaRPr lang="en-US" sz="1250" dirty="0"/>
          </a:p>
        </p:txBody>
      </p:sp>
      <p:sp>
        <p:nvSpPr>
          <p:cNvPr id="18" name="Shape 16"/>
          <p:cNvSpPr/>
          <p:nvPr/>
        </p:nvSpPr>
        <p:spPr>
          <a:xfrm>
            <a:off x="2468880" y="2276856"/>
            <a:ext cx="3840480" cy="621792"/>
          </a:xfrm>
          <a:prstGeom prst="rect">
            <a:avLst/>
          </a:prstGeom>
          <a:solidFill>
            <a:srgbClr val="0D2231"/>
          </a:solidFill>
          <a:ln w="10160">
            <a:solidFill>
              <a:srgbClr val="2B4658"/>
            </a:solidFill>
            <a:prstDash val="solid"/>
          </a:ln>
        </p:spPr>
      </p:sp>
      <p:sp>
        <p:nvSpPr>
          <p:cNvPr id="19" name="Text 17"/>
          <p:cNvSpPr/>
          <p:nvPr/>
        </p:nvSpPr>
        <p:spPr>
          <a:xfrm>
            <a:off x="2596896" y="2404872"/>
            <a:ext cx="3584448" cy="347472"/>
          </a:xfrm>
          <a:prstGeom prst="rect">
            <a:avLst/>
          </a:prstGeom>
          <a:noFill/>
          <a:ln/>
        </p:spPr>
        <p:txBody>
          <a:bodyPr wrap="square" lIns="0" tIns="0" rIns="0" bIns="0" rtlCol="0" anchor="ctr">
            <a:normAutofit/>
          </a:bodyPr>
          <a:lstStyle/>
          <a:p>
            <a:pPr algn="ctr" indent="0" marL="0">
              <a:buNone/>
            </a:pPr>
            <a:r>
              <a:rPr lang="en-US" sz="1220" dirty="0">
                <a:solidFill>
                  <a:srgbClr val="A9BBC9"/>
                </a:solidFill>
                <a:latin typeface="Noto Sans CJK JP" pitchFamily="34" charset="0"/>
                <a:ea typeface="Noto Sans CJK JP" pitchFamily="34" charset="-122"/>
                <a:cs typeface="Noto Sans CJK JP" pitchFamily="34" charset="-120"/>
              </a:rPr>
              <a:t>実数・複素数上の連続時空</a:t>
            </a:r>
            <a:endParaRPr lang="en-US" sz="1220" dirty="0"/>
          </a:p>
        </p:txBody>
      </p:sp>
      <p:sp>
        <p:nvSpPr>
          <p:cNvPr id="20" name="Shape 18"/>
          <p:cNvSpPr/>
          <p:nvPr/>
        </p:nvSpPr>
        <p:spPr>
          <a:xfrm>
            <a:off x="6309360" y="2276856"/>
            <a:ext cx="4389120" cy="621792"/>
          </a:xfrm>
          <a:prstGeom prst="rect">
            <a:avLst/>
          </a:prstGeom>
          <a:solidFill>
            <a:srgbClr val="0D2231"/>
          </a:solidFill>
          <a:ln w="10160">
            <a:solidFill>
              <a:srgbClr val="2B4658"/>
            </a:solidFill>
            <a:prstDash val="solid"/>
          </a:ln>
        </p:spPr>
      </p:sp>
      <p:sp>
        <p:nvSpPr>
          <p:cNvPr id="21" name="Text 19"/>
          <p:cNvSpPr/>
          <p:nvPr/>
        </p:nvSpPr>
        <p:spPr>
          <a:xfrm>
            <a:off x="6437376" y="2404872"/>
            <a:ext cx="4133088" cy="347472"/>
          </a:xfrm>
          <a:prstGeom prst="rect">
            <a:avLst/>
          </a:prstGeom>
          <a:noFill/>
          <a:ln/>
        </p:spPr>
        <p:txBody>
          <a:bodyPr wrap="square" lIns="0" tIns="0" rIns="0" bIns="0" rtlCol="0" anchor="ctr">
            <a:normAutofit/>
          </a:bodyPr>
          <a:lstStyle/>
          <a:p>
            <a:pPr algn="ctr" indent="0" marL="0">
              <a:buNone/>
            </a:pPr>
            <a:r>
              <a:rPr lang="en-US" sz="1220" dirty="0">
                <a:solidFill>
                  <a:srgbClr val="F4F7FA"/>
                </a:solidFill>
                <a:latin typeface="Noto Sans CJK JP" pitchFamily="34" charset="0"/>
                <a:ea typeface="Noto Sans CJK JP" pitchFamily="34" charset="-122"/>
                <a:cs typeface="Noto Sans CJK JP" pitchFamily="34" charset="-120"/>
              </a:rPr>
              <a:t>p進数体またはその拡大</a:t>
            </a:r>
            <a:endParaRPr lang="en-US" sz="1220" dirty="0"/>
          </a:p>
        </p:txBody>
      </p:sp>
      <p:sp>
        <p:nvSpPr>
          <p:cNvPr id="22" name="Shape 20"/>
          <p:cNvSpPr/>
          <p:nvPr/>
        </p:nvSpPr>
        <p:spPr>
          <a:xfrm>
            <a:off x="640080" y="2898648"/>
            <a:ext cx="1828800" cy="621792"/>
          </a:xfrm>
          <a:prstGeom prst="rect">
            <a:avLst/>
          </a:prstGeom>
          <a:solidFill>
            <a:srgbClr val="0B1C2A"/>
          </a:solidFill>
          <a:ln w="10160">
            <a:solidFill>
              <a:srgbClr val="2B4658"/>
            </a:solidFill>
            <a:prstDash val="solid"/>
          </a:ln>
        </p:spPr>
      </p:sp>
      <p:sp>
        <p:nvSpPr>
          <p:cNvPr id="23" name="Text 21"/>
          <p:cNvSpPr/>
          <p:nvPr/>
        </p:nvSpPr>
        <p:spPr>
          <a:xfrm>
            <a:off x="768096" y="3026664"/>
            <a:ext cx="1572768" cy="347472"/>
          </a:xfrm>
          <a:prstGeom prst="rect">
            <a:avLst/>
          </a:prstGeom>
          <a:noFill/>
          <a:ln/>
        </p:spPr>
        <p:txBody>
          <a:bodyPr wrap="square" lIns="0" tIns="0" rIns="0" bIns="0" rtlCol="0" anchor="ctr">
            <a:normAutofit/>
          </a:bodyPr>
          <a:lstStyle/>
          <a:p>
            <a:pPr algn="l" indent="0" marL="0">
              <a:buNone/>
            </a:pPr>
            <a:r>
              <a:rPr lang="en-US" sz="1250" b="1" dirty="0">
                <a:solidFill>
                  <a:srgbClr val="55D8E0"/>
                </a:solidFill>
                <a:latin typeface="Noto Sans CJK JP" pitchFamily="34" charset="0"/>
                <a:ea typeface="Noto Sans CJK JP" pitchFamily="34" charset="-122"/>
                <a:cs typeface="Noto Sans CJK JP" pitchFamily="34" charset="-120"/>
              </a:rPr>
              <a:t>バルク幾何</a:t>
            </a:r>
            <a:endParaRPr lang="en-US" sz="1250" dirty="0"/>
          </a:p>
        </p:txBody>
      </p:sp>
      <p:sp>
        <p:nvSpPr>
          <p:cNvPr id="24" name="Shape 22"/>
          <p:cNvSpPr/>
          <p:nvPr/>
        </p:nvSpPr>
        <p:spPr>
          <a:xfrm>
            <a:off x="2468880" y="2898648"/>
            <a:ext cx="3840480" cy="621792"/>
          </a:xfrm>
          <a:prstGeom prst="rect">
            <a:avLst/>
          </a:prstGeom>
          <a:solidFill>
            <a:srgbClr val="0B1C2A"/>
          </a:solidFill>
          <a:ln w="10160">
            <a:solidFill>
              <a:srgbClr val="2B4658"/>
            </a:solidFill>
            <a:prstDash val="solid"/>
          </a:ln>
        </p:spPr>
      </p:sp>
      <p:sp>
        <p:nvSpPr>
          <p:cNvPr id="25" name="Text 23"/>
          <p:cNvSpPr/>
          <p:nvPr/>
        </p:nvSpPr>
        <p:spPr>
          <a:xfrm>
            <a:off x="2596896" y="3026664"/>
            <a:ext cx="3584448" cy="347472"/>
          </a:xfrm>
          <a:prstGeom prst="rect">
            <a:avLst/>
          </a:prstGeom>
          <a:noFill/>
          <a:ln/>
        </p:spPr>
        <p:txBody>
          <a:bodyPr wrap="square" lIns="0" tIns="0" rIns="0" bIns="0" rtlCol="0" anchor="ctr">
            <a:normAutofit/>
          </a:bodyPr>
          <a:lstStyle/>
          <a:p>
            <a:pPr algn="ctr" indent="0" marL="0">
              <a:buNone/>
            </a:pPr>
            <a:r>
              <a:rPr lang="en-US" sz="1220" dirty="0">
                <a:solidFill>
                  <a:srgbClr val="A9BBC9"/>
                </a:solidFill>
                <a:latin typeface="Noto Sans CJK JP" pitchFamily="34" charset="0"/>
                <a:ea typeface="Noto Sans CJK JP" pitchFamily="34" charset="-122"/>
                <a:cs typeface="Noto Sans CJK JP" pitchFamily="34" charset="-120"/>
              </a:rPr>
              <a:t>連続的な反ド・ジッター空間</a:t>
            </a:r>
            <a:endParaRPr lang="en-US" sz="1220" dirty="0"/>
          </a:p>
        </p:txBody>
      </p:sp>
      <p:sp>
        <p:nvSpPr>
          <p:cNvPr id="26" name="Shape 24"/>
          <p:cNvSpPr/>
          <p:nvPr/>
        </p:nvSpPr>
        <p:spPr>
          <a:xfrm>
            <a:off x="6309360" y="2898648"/>
            <a:ext cx="4389120" cy="621792"/>
          </a:xfrm>
          <a:prstGeom prst="rect">
            <a:avLst/>
          </a:prstGeom>
          <a:solidFill>
            <a:srgbClr val="0B1C2A"/>
          </a:solidFill>
          <a:ln w="10160">
            <a:solidFill>
              <a:srgbClr val="2B4658"/>
            </a:solidFill>
            <a:prstDash val="solid"/>
          </a:ln>
        </p:spPr>
      </p:sp>
      <p:sp>
        <p:nvSpPr>
          <p:cNvPr id="27" name="Text 25"/>
          <p:cNvSpPr/>
          <p:nvPr/>
        </p:nvSpPr>
        <p:spPr>
          <a:xfrm>
            <a:off x="6437376" y="3026664"/>
            <a:ext cx="4133088" cy="347472"/>
          </a:xfrm>
          <a:prstGeom prst="rect">
            <a:avLst/>
          </a:prstGeom>
          <a:noFill/>
          <a:ln/>
        </p:spPr>
        <p:txBody>
          <a:bodyPr wrap="square" lIns="0" tIns="0" rIns="0" bIns="0" rtlCol="0" anchor="ctr">
            <a:normAutofit/>
          </a:bodyPr>
          <a:lstStyle/>
          <a:p>
            <a:pPr algn="ctr" indent="0" marL="0">
              <a:buNone/>
            </a:pPr>
            <a:r>
              <a:rPr lang="en-US" sz="1220" dirty="0">
                <a:solidFill>
                  <a:srgbClr val="F4F7FA"/>
                </a:solidFill>
                <a:latin typeface="Noto Sans CJK JP" pitchFamily="34" charset="0"/>
                <a:ea typeface="Noto Sans CJK JP" pitchFamily="34" charset="-122"/>
                <a:cs typeface="Noto Sans CJK JP" pitchFamily="34" charset="-120"/>
              </a:rPr>
              <a:t>Bruhat–Tits 正則木</a:t>
            </a:r>
            <a:endParaRPr lang="en-US" sz="1220" dirty="0"/>
          </a:p>
        </p:txBody>
      </p:sp>
      <p:sp>
        <p:nvSpPr>
          <p:cNvPr id="28" name="Shape 26"/>
          <p:cNvSpPr/>
          <p:nvPr/>
        </p:nvSpPr>
        <p:spPr>
          <a:xfrm>
            <a:off x="640080" y="3520440"/>
            <a:ext cx="1828800" cy="621792"/>
          </a:xfrm>
          <a:prstGeom prst="rect">
            <a:avLst/>
          </a:prstGeom>
          <a:solidFill>
            <a:srgbClr val="0D2231"/>
          </a:solidFill>
          <a:ln w="10160">
            <a:solidFill>
              <a:srgbClr val="2B4658"/>
            </a:solidFill>
            <a:prstDash val="solid"/>
          </a:ln>
        </p:spPr>
      </p:sp>
      <p:sp>
        <p:nvSpPr>
          <p:cNvPr id="29" name="Text 27"/>
          <p:cNvSpPr/>
          <p:nvPr/>
        </p:nvSpPr>
        <p:spPr>
          <a:xfrm>
            <a:off x="768096" y="3648456"/>
            <a:ext cx="1572768" cy="347472"/>
          </a:xfrm>
          <a:prstGeom prst="rect">
            <a:avLst/>
          </a:prstGeom>
          <a:noFill/>
          <a:ln/>
        </p:spPr>
        <p:txBody>
          <a:bodyPr wrap="square" lIns="0" tIns="0" rIns="0" bIns="0" rtlCol="0" anchor="ctr">
            <a:normAutofit/>
          </a:bodyPr>
          <a:lstStyle/>
          <a:p>
            <a:pPr algn="l" indent="0" marL="0">
              <a:buNone/>
            </a:pPr>
            <a:r>
              <a:rPr lang="en-US" sz="1250" b="1" dirty="0">
                <a:solidFill>
                  <a:srgbClr val="55D8E0"/>
                </a:solidFill>
                <a:latin typeface="Noto Sans CJK JP" pitchFamily="34" charset="0"/>
                <a:ea typeface="Noto Sans CJK JP" pitchFamily="34" charset="-122"/>
                <a:cs typeface="Noto Sans CJK JP" pitchFamily="34" charset="-120"/>
              </a:rPr>
              <a:t>対称性</a:t>
            </a:r>
            <a:endParaRPr lang="en-US" sz="1250" dirty="0"/>
          </a:p>
        </p:txBody>
      </p:sp>
      <p:sp>
        <p:nvSpPr>
          <p:cNvPr id="30" name="Shape 28"/>
          <p:cNvSpPr/>
          <p:nvPr/>
        </p:nvSpPr>
        <p:spPr>
          <a:xfrm>
            <a:off x="2468880" y="3520440"/>
            <a:ext cx="3840480" cy="621792"/>
          </a:xfrm>
          <a:prstGeom prst="rect">
            <a:avLst/>
          </a:prstGeom>
          <a:solidFill>
            <a:srgbClr val="0D2231"/>
          </a:solidFill>
          <a:ln w="10160">
            <a:solidFill>
              <a:srgbClr val="2B4658"/>
            </a:solidFill>
            <a:prstDash val="solid"/>
          </a:ln>
        </p:spPr>
      </p:sp>
      <p:sp>
        <p:nvSpPr>
          <p:cNvPr id="31" name="Text 29"/>
          <p:cNvSpPr/>
          <p:nvPr/>
        </p:nvSpPr>
        <p:spPr>
          <a:xfrm>
            <a:off x="2596896" y="3648456"/>
            <a:ext cx="3584448" cy="347472"/>
          </a:xfrm>
          <a:prstGeom prst="rect">
            <a:avLst/>
          </a:prstGeom>
          <a:noFill/>
          <a:ln/>
        </p:spPr>
        <p:txBody>
          <a:bodyPr wrap="square" lIns="0" tIns="0" rIns="0" bIns="0" rtlCol="0" anchor="ctr">
            <a:normAutofit/>
          </a:bodyPr>
          <a:lstStyle/>
          <a:p>
            <a:pPr algn="ctr" indent="0" marL="0">
              <a:buNone/>
            </a:pPr>
            <a:r>
              <a:rPr lang="en-US" sz="1220" dirty="0">
                <a:solidFill>
                  <a:srgbClr val="A9BBC9"/>
                </a:solidFill>
                <a:latin typeface="Noto Sans CJK JP" pitchFamily="34" charset="0"/>
                <a:ea typeface="Noto Sans CJK JP" pitchFamily="34" charset="-122"/>
                <a:cs typeface="Noto Sans CJK JP" pitchFamily="34" charset="-120"/>
              </a:rPr>
              <a:t>共形群 ＝ AdS 等長群</a:t>
            </a:r>
            <a:endParaRPr lang="en-US" sz="1220" dirty="0"/>
          </a:p>
        </p:txBody>
      </p:sp>
      <p:sp>
        <p:nvSpPr>
          <p:cNvPr id="32" name="Shape 30"/>
          <p:cNvSpPr/>
          <p:nvPr/>
        </p:nvSpPr>
        <p:spPr>
          <a:xfrm>
            <a:off x="6309360" y="3520440"/>
            <a:ext cx="4389120" cy="621792"/>
          </a:xfrm>
          <a:prstGeom prst="rect">
            <a:avLst/>
          </a:prstGeom>
          <a:solidFill>
            <a:srgbClr val="0D2231"/>
          </a:solidFill>
          <a:ln w="10160">
            <a:solidFill>
              <a:srgbClr val="2B4658"/>
            </a:solidFill>
            <a:prstDash val="solid"/>
          </a:ln>
        </p:spPr>
      </p:sp>
      <p:sp>
        <p:nvSpPr>
          <p:cNvPr id="33" name="Text 31"/>
          <p:cNvSpPr/>
          <p:nvPr/>
        </p:nvSpPr>
        <p:spPr>
          <a:xfrm>
            <a:off x="6437376" y="3648456"/>
            <a:ext cx="4133088" cy="347472"/>
          </a:xfrm>
          <a:prstGeom prst="rect">
            <a:avLst/>
          </a:prstGeom>
          <a:noFill/>
          <a:ln/>
        </p:spPr>
        <p:txBody>
          <a:bodyPr wrap="square" lIns="0" tIns="0" rIns="0" bIns="0" rtlCol="0" anchor="ctr">
            <a:normAutofit/>
          </a:bodyPr>
          <a:lstStyle/>
          <a:p>
            <a:pPr algn="ctr" indent="0" marL="0">
              <a:buNone/>
            </a:pPr>
            <a:r>
              <a:rPr lang="en-US" sz="1220" dirty="0">
                <a:solidFill>
                  <a:srgbClr val="F4F7FA"/>
                </a:solidFill>
                <a:latin typeface="Noto Sans CJK JP" pitchFamily="34" charset="0"/>
                <a:ea typeface="Noto Sans CJK JP" pitchFamily="34" charset="-122"/>
                <a:cs typeface="Noto Sans CJK JP" pitchFamily="34" charset="-120"/>
              </a:rPr>
              <a:t>PGL の境界作用 ↔ 同じ群の木上の等長作用</a:t>
            </a:r>
            <a:endParaRPr lang="en-US" sz="1220" dirty="0"/>
          </a:p>
        </p:txBody>
      </p:sp>
      <p:sp>
        <p:nvSpPr>
          <p:cNvPr id="34" name="Shape 32"/>
          <p:cNvSpPr/>
          <p:nvPr/>
        </p:nvSpPr>
        <p:spPr>
          <a:xfrm>
            <a:off x="640080" y="4142232"/>
            <a:ext cx="1828800" cy="621792"/>
          </a:xfrm>
          <a:prstGeom prst="rect">
            <a:avLst/>
          </a:prstGeom>
          <a:solidFill>
            <a:srgbClr val="0B1C2A"/>
          </a:solidFill>
          <a:ln w="10160">
            <a:solidFill>
              <a:srgbClr val="2B4658"/>
            </a:solidFill>
            <a:prstDash val="solid"/>
          </a:ln>
        </p:spPr>
      </p:sp>
      <p:sp>
        <p:nvSpPr>
          <p:cNvPr id="35" name="Text 33"/>
          <p:cNvSpPr/>
          <p:nvPr/>
        </p:nvSpPr>
        <p:spPr>
          <a:xfrm>
            <a:off x="768096" y="4270248"/>
            <a:ext cx="1572768" cy="347472"/>
          </a:xfrm>
          <a:prstGeom prst="rect">
            <a:avLst/>
          </a:prstGeom>
          <a:noFill/>
          <a:ln/>
        </p:spPr>
        <p:txBody>
          <a:bodyPr wrap="square" lIns="0" tIns="0" rIns="0" bIns="0" rtlCol="0" anchor="ctr">
            <a:normAutofit/>
          </a:bodyPr>
          <a:lstStyle/>
          <a:p>
            <a:pPr algn="l" indent="0" marL="0">
              <a:buNone/>
            </a:pPr>
            <a:r>
              <a:rPr lang="en-US" sz="1250" b="1" dirty="0">
                <a:solidFill>
                  <a:srgbClr val="55D8E0"/>
                </a:solidFill>
                <a:latin typeface="Noto Sans CJK JP" pitchFamily="34" charset="0"/>
                <a:ea typeface="Noto Sans CJK JP" pitchFamily="34" charset="-122"/>
                <a:cs typeface="Noto Sans CJK JP" pitchFamily="34" charset="-120"/>
              </a:rPr>
              <a:t>半径方向</a:t>
            </a:r>
            <a:endParaRPr lang="en-US" sz="1250" dirty="0"/>
          </a:p>
        </p:txBody>
      </p:sp>
      <p:sp>
        <p:nvSpPr>
          <p:cNvPr id="36" name="Shape 34"/>
          <p:cNvSpPr/>
          <p:nvPr/>
        </p:nvSpPr>
        <p:spPr>
          <a:xfrm>
            <a:off x="2468880" y="4142232"/>
            <a:ext cx="3840480" cy="621792"/>
          </a:xfrm>
          <a:prstGeom prst="rect">
            <a:avLst/>
          </a:prstGeom>
          <a:solidFill>
            <a:srgbClr val="0B1C2A"/>
          </a:solidFill>
          <a:ln w="10160">
            <a:solidFill>
              <a:srgbClr val="2B4658"/>
            </a:solidFill>
            <a:prstDash val="solid"/>
          </a:ln>
        </p:spPr>
      </p:sp>
      <p:sp>
        <p:nvSpPr>
          <p:cNvPr id="37" name="Text 35"/>
          <p:cNvSpPr/>
          <p:nvPr/>
        </p:nvSpPr>
        <p:spPr>
          <a:xfrm>
            <a:off x="2596896" y="4270248"/>
            <a:ext cx="3584448" cy="347472"/>
          </a:xfrm>
          <a:prstGeom prst="rect">
            <a:avLst/>
          </a:prstGeom>
          <a:noFill/>
          <a:ln/>
        </p:spPr>
        <p:txBody>
          <a:bodyPr wrap="square" lIns="0" tIns="0" rIns="0" bIns="0" rtlCol="0" anchor="ctr">
            <a:normAutofit/>
          </a:bodyPr>
          <a:lstStyle/>
          <a:p>
            <a:pPr algn="ctr" indent="0" marL="0">
              <a:buNone/>
            </a:pPr>
            <a:r>
              <a:rPr lang="en-US" sz="1220" dirty="0">
                <a:solidFill>
                  <a:srgbClr val="A9BBC9"/>
                </a:solidFill>
                <a:latin typeface="Noto Sans CJK JP" pitchFamily="34" charset="0"/>
                <a:ea typeface="Noto Sans CJK JP" pitchFamily="34" charset="-122"/>
                <a:cs typeface="Noto Sans CJK JP" pitchFamily="34" charset="-120"/>
              </a:rPr>
              <a:t>エネルギー尺度・RG</a:t>
            </a:r>
            <a:endParaRPr lang="en-US" sz="1220" dirty="0"/>
          </a:p>
        </p:txBody>
      </p:sp>
      <p:sp>
        <p:nvSpPr>
          <p:cNvPr id="38" name="Shape 36"/>
          <p:cNvSpPr/>
          <p:nvPr/>
        </p:nvSpPr>
        <p:spPr>
          <a:xfrm>
            <a:off x="6309360" y="4142232"/>
            <a:ext cx="4389120" cy="621792"/>
          </a:xfrm>
          <a:prstGeom prst="rect">
            <a:avLst/>
          </a:prstGeom>
          <a:solidFill>
            <a:srgbClr val="0B1C2A"/>
          </a:solidFill>
          <a:ln w="10160">
            <a:solidFill>
              <a:srgbClr val="2B4658"/>
            </a:solidFill>
            <a:prstDash val="solid"/>
          </a:ln>
        </p:spPr>
      </p:sp>
      <p:sp>
        <p:nvSpPr>
          <p:cNvPr id="39" name="Text 37"/>
          <p:cNvSpPr/>
          <p:nvPr/>
        </p:nvSpPr>
        <p:spPr>
          <a:xfrm>
            <a:off x="6437376" y="4270248"/>
            <a:ext cx="4133088" cy="347472"/>
          </a:xfrm>
          <a:prstGeom prst="rect">
            <a:avLst/>
          </a:prstGeom>
          <a:noFill/>
          <a:ln/>
        </p:spPr>
        <p:txBody>
          <a:bodyPr wrap="square" lIns="0" tIns="0" rIns="0" bIns="0" rtlCol="0" anchor="ctr">
            <a:normAutofit/>
          </a:bodyPr>
          <a:lstStyle/>
          <a:p>
            <a:pPr algn="ctr" indent="0" marL="0">
              <a:buNone/>
            </a:pPr>
            <a:r>
              <a:rPr lang="en-US" sz="1220" dirty="0">
                <a:solidFill>
                  <a:srgbClr val="F4F7FA"/>
                </a:solidFill>
                <a:latin typeface="Noto Sans CJK JP" pitchFamily="34" charset="0"/>
                <a:ea typeface="Noto Sans CJK JP" pitchFamily="34" charset="-122"/>
                <a:cs typeface="Noto Sans CJK JP" pitchFamily="34" charset="-120"/>
              </a:rPr>
              <a:t>木の深さ・p進精度</a:t>
            </a:r>
            <a:endParaRPr lang="en-US" sz="1220" dirty="0"/>
          </a:p>
        </p:txBody>
      </p:sp>
      <p:sp>
        <p:nvSpPr>
          <p:cNvPr id="40" name="Shape 38"/>
          <p:cNvSpPr/>
          <p:nvPr/>
        </p:nvSpPr>
        <p:spPr>
          <a:xfrm>
            <a:off x="640080" y="4764024"/>
            <a:ext cx="1828800" cy="621792"/>
          </a:xfrm>
          <a:prstGeom prst="rect">
            <a:avLst/>
          </a:prstGeom>
          <a:solidFill>
            <a:srgbClr val="0D2231"/>
          </a:solidFill>
          <a:ln w="10160">
            <a:solidFill>
              <a:srgbClr val="2B4658"/>
            </a:solidFill>
            <a:prstDash val="solid"/>
          </a:ln>
        </p:spPr>
      </p:sp>
      <p:sp>
        <p:nvSpPr>
          <p:cNvPr id="41" name="Text 39"/>
          <p:cNvSpPr/>
          <p:nvPr/>
        </p:nvSpPr>
        <p:spPr>
          <a:xfrm>
            <a:off x="768096" y="4892040"/>
            <a:ext cx="1572768" cy="347472"/>
          </a:xfrm>
          <a:prstGeom prst="rect">
            <a:avLst/>
          </a:prstGeom>
          <a:noFill/>
          <a:ln/>
        </p:spPr>
        <p:txBody>
          <a:bodyPr wrap="square" lIns="0" tIns="0" rIns="0" bIns="0" rtlCol="0" anchor="ctr">
            <a:normAutofit/>
          </a:bodyPr>
          <a:lstStyle/>
          <a:p>
            <a:pPr algn="l" indent="0" marL="0">
              <a:buNone/>
            </a:pPr>
            <a:r>
              <a:rPr lang="en-US" sz="1250" b="1" dirty="0">
                <a:solidFill>
                  <a:srgbClr val="55D8E0"/>
                </a:solidFill>
                <a:latin typeface="Noto Sans CJK JP" pitchFamily="34" charset="0"/>
                <a:ea typeface="Noto Sans CJK JP" pitchFamily="34" charset="-122"/>
                <a:cs typeface="Noto Sans CJK JP" pitchFamily="34" charset="-120"/>
              </a:rPr>
              <a:t>計算</a:t>
            </a:r>
            <a:endParaRPr lang="en-US" sz="1250" dirty="0"/>
          </a:p>
        </p:txBody>
      </p:sp>
      <p:sp>
        <p:nvSpPr>
          <p:cNvPr id="42" name="Shape 40"/>
          <p:cNvSpPr/>
          <p:nvPr/>
        </p:nvSpPr>
        <p:spPr>
          <a:xfrm>
            <a:off x="2468880" y="4764024"/>
            <a:ext cx="3840480" cy="621792"/>
          </a:xfrm>
          <a:prstGeom prst="rect">
            <a:avLst/>
          </a:prstGeom>
          <a:solidFill>
            <a:srgbClr val="0D2231"/>
          </a:solidFill>
          <a:ln w="10160">
            <a:solidFill>
              <a:srgbClr val="2B4658"/>
            </a:solidFill>
            <a:prstDash val="solid"/>
          </a:ln>
        </p:spPr>
      </p:sp>
      <p:sp>
        <p:nvSpPr>
          <p:cNvPr id="43" name="Text 41"/>
          <p:cNvSpPr/>
          <p:nvPr/>
        </p:nvSpPr>
        <p:spPr>
          <a:xfrm>
            <a:off x="2596896" y="4892040"/>
            <a:ext cx="3584448" cy="347472"/>
          </a:xfrm>
          <a:prstGeom prst="rect">
            <a:avLst/>
          </a:prstGeom>
          <a:noFill/>
          <a:ln/>
        </p:spPr>
        <p:txBody>
          <a:bodyPr wrap="square" lIns="0" tIns="0" rIns="0" bIns="0" rtlCol="0" anchor="ctr">
            <a:normAutofit/>
          </a:bodyPr>
          <a:lstStyle/>
          <a:p>
            <a:pPr algn="ctr" indent="0" marL="0">
              <a:buNone/>
            </a:pPr>
            <a:r>
              <a:rPr lang="en-US" sz="1220" dirty="0">
                <a:solidFill>
                  <a:srgbClr val="A9BBC9"/>
                </a:solidFill>
                <a:latin typeface="Noto Sans CJK JP" pitchFamily="34" charset="0"/>
                <a:ea typeface="Noto Sans CJK JP" pitchFamily="34" charset="-122"/>
                <a:cs typeface="Noto Sans CJK JP" pitchFamily="34" charset="-120"/>
              </a:rPr>
              <a:t>積分・微分方程式</a:t>
            </a:r>
            <a:endParaRPr lang="en-US" sz="1220" dirty="0"/>
          </a:p>
        </p:txBody>
      </p:sp>
      <p:sp>
        <p:nvSpPr>
          <p:cNvPr id="44" name="Shape 42"/>
          <p:cNvSpPr/>
          <p:nvPr/>
        </p:nvSpPr>
        <p:spPr>
          <a:xfrm>
            <a:off x="6309360" y="4764024"/>
            <a:ext cx="4389120" cy="621792"/>
          </a:xfrm>
          <a:prstGeom prst="rect">
            <a:avLst/>
          </a:prstGeom>
          <a:solidFill>
            <a:srgbClr val="0D2231"/>
          </a:solidFill>
          <a:ln w="10160">
            <a:solidFill>
              <a:srgbClr val="2B4658"/>
            </a:solidFill>
            <a:prstDash val="solid"/>
          </a:ln>
        </p:spPr>
      </p:sp>
      <p:sp>
        <p:nvSpPr>
          <p:cNvPr id="45" name="Text 43"/>
          <p:cNvSpPr/>
          <p:nvPr/>
        </p:nvSpPr>
        <p:spPr>
          <a:xfrm>
            <a:off x="6437376" y="4892040"/>
            <a:ext cx="4133088" cy="347472"/>
          </a:xfrm>
          <a:prstGeom prst="rect">
            <a:avLst/>
          </a:prstGeom>
          <a:noFill/>
          <a:ln/>
        </p:spPr>
        <p:txBody>
          <a:bodyPr wrap="square" lIns="0" tIns="0" rIns="0" bIns="0" rtlCol="0" anchor="ctr">
            <a:normAutofit/>
          </a:bodyPr>
          <a:lstStyle/>
          <a:p>
            <a:pPr algn="ctr" indent="0" marL="0">
              <a:buNone/>
            </a:pPr>
            <a:r>
              <a:rPr lang="en-US" sz="1220" dirty="0">
                <a:solidFill>
                  <a:srgbClr val="F4F7FA"/>
                </a:solidFill>
                <a:latin typeface="Noto Sans CJK JP" pitchFamily="34" charset="0"/>
                <a:ea typeface="Noto Sans CJK JP" pitchFamily="34" charset="-122"/>
                <a:cs typeface="Noto Sans CJK JP" pitchFamily="34" charset="-120"/>
              </a:rPr>
              <a:t>頂点和・グラフ差分方程式</a:t>
            </a:r>
            <a:endParaRPr lang="en-US" sz="1220" dirty="0"/>
          </a:p>
        </p:txBody>
      </p:sp>
      <p:sp>
        <p:nvSpPr>
          <p:cNvPr id="46" name="Shape 44"/>
          <p:cNvSpPr/>
          <p:nvPr/>
        </p:nvSpPr>
        <p:spPr>
          <a:xfrm>
            <a:off x="640080" y="5385816"/>
            <a:ext cx="1828800" cy="621792"/>
          </a:xfrm>
          <a:prstGeom prst="rect">
            <a:avLst/>
          </a:prstGeom>
          <a:solidFill>
            <a:srgbClr val="0B1C2A"/>
          </a:solidFill>
          <a:ln w="10160">
            <a:solidFill>
              <a:srgbClr val="2B4658"/>
            </a:solidFill>
            <a:prstDash val="solid"/>
          </a:ln>
        </p:spPr>
      </p:sp>
      <p:sp>
        <p:nvSpPr>
          <p:cNvPr id="47" name="Text 45"/>
          <p:cNvSpPr/>
          <p:nvPr/>
        </p:nvSpPr>
        <p:spPr>
          <a:xfrm>
            <a:off x="768096" y="5513832"/>
            <a:ext cx="1572768" cy="347472"/>
          </a:xfrm>
          <a:prstGeom prst="rect">
            <a:avLst/>
          </a:prstGeom>
          <a:noFill/>
          <a:ln/>
        </p:spPr>
        <p:txBody>
          <a:bodyPr wrap="square" lIns="0" tIns="0" rIns="0" bIns="0" rtlCol="0" anchor="ctr">
            <a:normAutofit/>
          </a:bodyPr>
          <a:lstStyle/>
          <a:p>
            <a:pPr algn="l" indent="0" marL="0">
              <a:buNone/>
            </a:pPr>
            <a:r>
              <a:rPr lang="en-US" sz="1250" b="1" dirty="0">
                <a:solidFill>
                  <a:srgbClr val="55D8E0"/>
                </a:solidFill>
                <a:latin typeface="Noto Sans CJK JP" pitchFamily="34" charset="0"/>
                <a:ea typeface="Noto Sans CJK JP" pitchFamily="34" charset="-122"/>
                <a:cs typeface="Noto Sans CJK JP" pitchFamily="34" charset="-120"/>
              </a:rPr>
              <a:t>特殊関数</a:t>
            </a:r>
            <a:endParaRPr lang="en-US" sz="1250" dirty="0"/>
          </a:p>
        </p:txBody>
      </p:sp>
      <p:sp>
        <p:nvSpPr>
          <p:cNvPr id="48" name="Shape 46"/>
          <p:cNvSpPr/>
          <p:nvPr/>
        </p:nvSpPr>
        <p:spPr>
          <a:xfrm>
            <a:off x="2468880" y="5385816"/>
            <a:ext cx="3840480" cy="621792"/>
          </a:xfrm>
          <a:prstGeom prst="rect">
            <a:avLst/>
          </a:prstGeom>
          <a:solidFill>
            <a:srgbClr val="0B1C2A"/>
          </a:solidFill>
          <a:ln w="10160">
            <a:solidFill>
              <a:srgbClr val="2B4658"/>
            </a:solidFill>
            <a:prstDash val="solid"/>
          </a:ln>
        </p:spPr>
      </p:sp>
      <p:sp>
        <p:nvSpPr>
          <p:cNvPr id="49" name="Text 47"/>
          <p:cNvSpPr/>
          <p:nvPr/>
        </p:nvSpPr>
        <p:spPr>
          <a:xfrm>
            <a:off x="2596896" y="5513832"/>
            <a:ext cx="3584448" cy="347472"/>
          </a:xfrm>
          <a:prstGeom prst="rect">
            <a:avLst/>
          </a:prstGeom>
          <a:noFill/>
          <a:ln/>
        </p:spPr>
        <p:txBody>
          <a:bodyPr wrap="square" lIns="0" tIns="0" rIns="0" bIns="0" rtlCol="0" anchor="ctr">
            <a:normAutofit/>
          </a:bodyPr>
          <a:lstStyle/>
          <a:p>
            <a:pPr algn="ctr" indent="0" marL="0">
              <a:buNone/>
            </a:pPr>
            <a:r>
              <a:rPr lang="en-US" sz="1220" dirty="0">
                <a:solidFill>
                  <a:srgbClr val="A9BBC9"/>
                </a:solidFill>
                <a:latin typeface="Noto Sans CJK JP" pitchFamily="34" charset="0"/>
                <a:ea typeface="Noto Sans CJK JP" pitchFamily="34" charset="-122"/>
                <a:cs typeface="Noto Sans CJK JP" pitchFamily="34" charset="-120"/>
              </a:rPr>
              <a:t>ガンマ関数など</a:t>
            </a:r>
            <a:endParaRPr lang="en-US" sz="1220" dirty="0"/>
          </a:p>
        </p:txBody>
      </p:sp>
      <p:sp>
        <p:nvSpPr>
          <p:cNvPr id="50" name="Shape 48"/>
          <p:cNvSpPr/>
          <p:nvPr/>
        </p:nvSpPr>
        <p:spPr>
          <a:xfrm>
            <a:off x="6309360" y="5385816"/>
            <a:ext cx="4389120" cy="621792"/>
          </a:xfrm>
          <a:prstGeom prst="rect">
            <a:avLst/>
          </a:prstGeom>
          <a:solidFill>
            <a:srgbClr val="0B1C2A"/>
          </a:solidFill>
          <a:ln w="10160">
            <a:solidFill>
              <a:srgbClr val="2B4658"/>
            </a:solidFill>
            <a:prstDash val="solid"/>
          </a:ln>
        </p:spPr>
      </p:sp>
      <p:sp>
        <p:nvSpPr>
          <p:cNvPr id="51" name="Text 49"/>
          <p:cNvSpPr/>
          <p:nvPr/>
        </p:nvSpPr>
        <p:spPr>
          <a:xfrm>
            <a:off x="6437376" y="5513832"/>
            <a:ext cx="4133088" cy="347472"/>
          </a:xfrm>
          <a:prstGeom prst="rect">
            <a:avLst/>
          </a:prstGeom>
          <a:noFill/>
          <a:ln/>
        </p:spPr>
        <p:txBody>
          <a:bodyPr wrap="square" lIns="0" tIns="0" rIns="0" bIns="0" rtlCol="0" anchor="ctr">
            <a:normAutofit/>
          </a:bodyPr>
          <a:lstStyle/>
          <a:p>
            <a:pPr algn="ctr" indent="0" marL="0">
              <a:buNone/>
            </a:pPr>
            <a:r>
              <a:rPr lang="en-US" sz="1220" dirty="0">
                <a:solidFill>
                  <a:srgbClr val="F4F7FA"/>
                </a:solidFill>
                <a:latin typeface="Noto Sans CJK JP" pitchFamily="34" charset="0"/>
                <a:ea typeface="Noto Sans CJK JP" pitchFamily="34" charset="-122"/>
                <a:cs typeface="Noto Sans CJK JP" pitchFamily="34" charset="-120"/>
              </a:rPr>
              <a:t>局所ゼータ関数</a:t>
            </a:r>
            <a:endParaRPr lang="en-US" sz="1220" dirty="0"/>
          </a:p>
        </p:txBody>
      </p:sp>
      <p:sp>
        <p:nvSpPr>
          <p:cNvPr id="52" name="Shape 50"/>
          <p:cNvSpPr/>
          <p:nvPr/>
        </p:nvSpPr>
        <p:spPr>
          <a:xfrm>
            <a:off x="777240" y="5833872"/>
            <a:ext cx="10652760" cy="438912"/>
          </a:xfrm>
          <a:prstGeom prst="roundRect">
            <a:avLst>
              <a:gd name="adj" fmla="val 25000"/>
            </a:avLst>
          </a:prstGeom>
          <a:solidFill>
            <a:srgbClr val="0B1C2A"/>
          </a:solidFill>
          <a:ln w="12700">
            <a:solidFill>
              <a:srgbClr val="F2B65D"/>
            </a:solidFill>
            <a:prstDash val="solid"/>
          </a:ln>
        </p:spPr>
      </p:sp>
      <p:sp>
        <p:nvSpPr>
          <p:cNvPr id="53" name="Text 51"/>
          <p:cNvSpPr/>
          <p:nvPr/>
        </p:nvSpPr>
        <p:spPr>
          <a:xfrm>
            <a:off x="1005840" y="5961888"/>
            <a:ext cx="10195560" cy="182880"/>
          </a:xfrm>
          <a:prstGeom prst="rect">
            <a:avLst/>
          </a:prstGeom>
          <a:noFill/>
          <a:ln/>
        </p:spPr>
        <p:txBody>
          <a:bodyPr wrap="square" lIns="0" tIns="0" rIns="0" bIns="0" rtlCol="0" anchor="ctr">
            <a:normAutofit/>
          </a:bodyPr>
          <a:lstStyle/>
          <a:p>
            <a:pPr algn="ctr" indent="0" marL="0">
              <a:buNone/>
            </a:pPr>
            <a:r>
              <a:rPr lang="en-US" sz="1180" b="1" dirty="0">
                <a:solidFill>
                  <a:srgbClr val="F2B65D"/>
                </a:solidFill>
                <a:latin typeface="Noto Sans CJK JP" pitchFamily="34" charset="0"/>
                <a:ea typeface="Noto Sans CJK JP" pitchFamily="34" charset="-122"/>
                <a:cs typeface="Noto Sans CJK JP" pitchFamily="34" charset="-120"/>
              </a:rPr>
              <a:t>似ているのは相関関数と対称性の構造。連続時空・因果構造・局所性まで同一ではない。</a:t>
            </a:r>
            <a:endParaRPr lang="en-US" sz="11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BULK THEORY</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木上の自由スカラー場：最小のバルク模型</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辺に沿った差分を運動項とし、頂点に質量とソースを置く</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14</a:t>
            </a:r>
            <a:endParaRPr lang="en-US" sz="1000" dirty="0"/>
          </a:p>
        </p:txBody>
      </p:sp>
      <p:sp>
        <p:nvSpPr>
          <p:cNvPr id="8" name="Text 6"/>
          <p:cNvSpPr/>
          <p:nvPr/>
        </p:nvSpPr>
        <p:spPr>
          <a:xfrm>
            <a:off x="548640" y="6547104"/>
            <a:ext cx="9966960" cy="146304"/>
          </a:xfrm>
          <a:prstGeom prst="rect">
            <a:avLst/>
          </a:prstGeom>
          <a:noFill/>
          <a:ln/>
        </p:spPr>
        <p:txBody>
          <a:bodyPr wrap="square" lIns="0" tIns="0" rIns="0" bIns="0" rtlCol="0" anchor="ctr">
            <a:normAutofit/>
          </a:bodyPr>
          <a:lstStyle/>
          <a:p>
            <a:pPr indent="0" marL="0">
              <a:buNone/>
            </a:pPr>
            <a:r>
              <a:rPr lang="en-US" sz="730" dirty="0">
                <a:solidFill>
                  <a:srgbClr val="7890A1"/>
                </a:solidFill>
                <a:latin typeface="Noto Sans CJK JP" pitchFamily="34" charset="0"/>
                <a:ea typeface="Noto Sans CJK JP" pitchFamily="34" charset="-122"/>
                <a:cs typeface="Noto Sans CJK JP" pitchFamily="34" charset="-120"/>
              </a:rPr>
              <a:t>出典: Gubser et al. (2017), §3.1</a:t>
            </a:r>
            <a:endParaRPr lang="en-US" sz="730" dirty="0"/>
          </a:p>
        </p:txBody>
      </p:sp>
      <p:sp>
        <p:nvSpPr>
          <p:cNvPr id="9" name="Text 7"/>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14 / 24</a:t>
            </a:r>
            <a:endParaRPr lang="en-US" sz="750" dirty="0"/>
          </a:p>
        </p:txBody>
      </p:sp>
      <p:sp>
        <p:nvSpPr>
          <p:cNvPr id="10" name="Shape 8"/>
          <p:cNvSpPr/>
          <p:nvPr/>
        </p:nvSpPr>
        <p:spPr>
          <a:xfrm>
            <a:off x="594360" y="1709928"/>
            <a:ext cx="3886200" cy="4434840"/>
          </a:xfrm>
          <a:prstGeom prst="roundRect">
            <a:avLst>
              <a:gd name="adj" fmla="val 2824"/>
            </a:avLst>
          </a:prstGeom>
          <a:solidFill>
            <a:srgbClr val="0D2231"/>
          </a:solidFill>
          <a:ln w="12700">
            <a:solidFill>
              <a:srgbClr val="55D8E0"/>
            </a:solidFill>
            <a:prstDash val="solid"/>
          </a:ln>
          <a:effectLst>
            <a:outerShdw sx="100000" sy="100000" kx="0" ky="0" algn="bl" rotWithShape="0" blurRad="12700" dist="50800" dir="2700000">
              <a:srgbClr val="000000">
                <a:alpha val="18000"/>
              </a:srgbClr>
            </a:outerShdw>
          </a:effectLst>
        </p:spPr>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6968" y="2057400"/>
            <a:ext cx="3291840" cy="2880360"/>
          </a:xfrm>
          <a:prstGeom prst="rect">
            <a:avLst/>
          </a:prstGeom>
        </p:spPr>
      </p:pic>
      <p:sp>
        <p:nvSpPr>
          <p:cNvPr id="12" name="Shape 9"/>
          <p:cNvSpPr/>
          <p:nvPr/>
        </p:nvSpPr>
        <p:spPr>
          <a:xfrm>
            <a:off x="2011680" y="4160520"/>
            <a:ext cx="502920" cy="-749808"/>
          </a:xfrm>
          <a:prstGeom prst="line">
            <a:avLst/>
          </a:prstGeom>
          <a:noFill/>
          <a:ln w="63500">
            <a:solidFill>
              <a:srgbClr val="F2B65D"/>
            </a:solidFill>
            <a:prstDash val="solid"/>
            <a:headEnd type="none"/>
            <a:tailEnd type="none"/>
          </a:ln>
        </p:spPr>
      </p:sp>
      <p:sp>
        <p:nvSpPr>
          <p:cNvPr id="13" name="Text 10"/>
          <p:cNvSpPr/>
          <p:nvPr/>
        </p:nvSpPr>
        <p:spPr>
          <a:xfrm>
            <a:off x="2423160" y="3520440"/>
            <a:ext cx="914400" cy="228600"/>
          </a:xfrm>
          <a:prstGeom prst="rect">
            <a:avLst/>
          </a:prstGeom>
          <a:noFill/>
          <a:ln/>
        </p:spPr>
        <p:txBody>
          <a:bodyPr wrap="square" lIns="0" tIns="0" rIns="0" bIns="0" rtlCol="0" anchor="ctr"/>
          <a:lstStyle/>
          <a:p>
            <a:pPr indent="0" marL="0">
              <a:buNone/>
            </a:pPr>
            <a:r>
              <a:rPr lang="en-US" sz="1150" b="1" dirty="0">
                <a:solidFill>
                  <a:srgbClr val="F2B65D"/>
                </a:solidFill>
                <a:latin typeface="Noto Sans CJK JP" pitchFamily="34" charset="0"/>
                <a:ea typeface="Noto Sans CJK JP" pitchFamily="34" charset="-122"/>
                <a:cs typeface="Noto Sans CJK JP" pitchFamily="34" charset="-120"/>
              </a:rPr>
              <a:t>辺の差分</a:t>
            </a:r>
            <a:endParaRPr lang="en-US" sz="1150" dirty="0"/>
          </a:p>
        </p:txBody>
      </p:sp>
      <p:sp>
        <p:nvSpPr>
          <p:cNvPr id="14" name="Text 11"/>
          <p:cNvSpPr/>
          <p:nvPr/>
        </p:nvSpPr>
        <p:spPr>
          <a:xfrm>
            <a:off x="1005840" y="5120640"/>
            <a:ext cx="3063240" cy="530352"/>
          </a:xfrm>
          <a:prstGeom prst="rect">
            <a:avLst/>
          </a:prstGeom>
          <a:noFill/>
          <a:ln/>
        </p:spPr>
        <p:txBody>
          <a:bodyPr wrap="square" lIns="0" tIns="0" rIns="0" bIns="0" rtlCol="0" anchor="ctr">
            <a:normAutofit/>
          </a:bodyPr>
          <a:lstStyle/>
          <a:p>
            <a:pPr algn="ctr" indent="0" marL="0">
              <a:buNone/>
            </a:pPr>
            <a:r>
              <a:rPr lang="en-US" sz="1350" dirty="0">
                <a:solidFill>
                  <a:srgbClr val="F4F7FA"/>
                </a:solidFill>
                <a:latin typeface="Noto Sans CJK JP" pitchFamily="34" charset="0"/>
                <a:ea typeface="Noto Sans CJK JP" pitchFamily="34" charset="-122"/>
                <a:cs typeface="Noto Sans CJK JP" pitchFamily="34" charset="-120"/>
              </a:rPr>
              <a:t>各頂点 a に場の値</a:t>
            </a:r>
            <a:endParaRPr lang="en-US" sz="1350" dirty="0"/>
          </a:p>
          <a:p>
            <a:pPr algn="ctr" indent="0" marL="0">
              <a:buNone/>
            </a:pPr>
            <a:r>
              <a:rPr lang="en-US" sz="1350" dirty="0">
                <a:solidFill>
                  <a:srgbClr val="F4F7FA"/>
                </a:solidFill>
                <a:latin typeface="Noto Sans CJK JP" pitchFamily="34" charset="0"/>
                <a:ea typeface="Noto Sans CJK JP" pitchFamily="34" charset="-122"/>
                <a:cs typeface="Noto Sans CJK JP" pitchFamily="34" charset="-120"/>
              </a:rPr>
              <a:t>隣接頂点との差が勾配</a:t>
            </a:r>
            <a:endParaRPr lang="en-US" sz="1350" dirty="0"/>
          </a:p>
        </p:txBody>
      </p:sp>
      <p:sp>
        <p:nvSpPr>
          <p:cNvPr id="15" name="Shape 12"/>
          <p:cNvSpPr/>
          <p:nvPr/>
        </p:nvSpPr>
        <p:spPr>
          <a:xfrm>
            <a:off x="4727448" y="1737360"/>
            <a:ext cx="6839712" cy="1417320"/>
          </a:xfrm>
          <a:prstGeom prst="roundRect">
            <a:avLst>
              <a:gd name="adj" fmla="val 7742"/>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16" name="Text 13"/>
          <p:cNvSpPr/>
          <p:nvPr/>
        </p:nvSpPr>
        <p:spPr>
          <a:xfrm>
            <a:off x="4892040" y="1847088"/>
            <a:ext cx="6510528"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離散バルク作用</a:t>
            </a:r>
            <a:endParaRPr lang="en-US" sz="10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3529" y="2130552"/>
            <a:ext cx="6367549" cy="914400"/>
          </a:xfrm>
          <a:prstGeom prst="rect">
            <a:avLst/>
          </a:prstGeom>
        </p:spPr>
      </p:pic>
      <p:sp>
        <p:nvSpPr>
          <p:cNvPr id="18" name="Shape 14"/>
          <p:cNvSpPr/>
          <p:nvPr/>
        </p:nvSpPr>
        <p:spPr>
          <a:xfrm>
            <a:off x="4727448" y="3401568"/>
            <a:ext cx="3657600" cy="1115568"/>
          </a:xfrm>
          <a:prstGeom prst="roundRect">
            <a:avLst>
              <a:gd name="adj" fmla="val 9836"/>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19" name="Text 15"/>
          <p:cNvSpPr/>
          <p:nvPr/>
        </p:nvSpPr>
        <p:spPr>
          <a:xfrm>
            <a:off x="4892040" y="3511296"/>
            <a:ext cx="332841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グラフ・ラプラシアン</a:t>
            </a:r>
            <a:endParaRPr lang="en-US" sz="1050" dirty="0"/>
          </a:p>
        </p:txBody>
      </p:sp>
      <p:pic>
        <p:nvPicPr>
          <p:cNvPr id="2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36137" y="3794760"/>
            <a:ext cx="2640221" cy="612648"/>
          </a:xfrm>
          <a:prstGeom prst="rect">
            <a:avLst/>
          </a:prstGeom>
        </p:spPr>
      </p:pic>
      <p:sp>
        <p:nvSpPr>
          <p:cNvPr id="21" name="Shape 16"/>
          <p:cNvSpPr/>
          <p:nvPr/>
        </p:nvSpPr>
        <p:spPr>
          <a:xfrm>
            <a:off x="8613648" y="3401568"/>
            <a:ext cx="2953512" cy="1115568"/>
          </a:xfrm>
          <a:prstGeom prst="roundRect">
            <a:avLst>
              <a:gd name="adj" fmla="val 9836"/>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22" name="Text 17"/>
          <p:cNvSpPr/>
          <p:nvPr/>
        </p:nvSpPr>
        <p:spPr>
          <a:xfrm>
            <a:off x="8778240" y="3511296"/>
            <a:ext cx="2624328"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場の方程式</a:t>
            </a:r>
            <a:endParaRPr lang="en-US" sz="1050" dirty="0"/>
          </a:p>
        </p:txBody>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14816" y="3861911"/>
            <a:ext cx="2551176" cy="478346"/>
          </a:xfrm>
          <a:prstGeom prst="rect">
            <a:avLst/>
          </a:prstGeom>
        </p:spPr>
      </p:pic>
      <p:sp>
        <p:nvSpPr>
          <p:cNvPr id="24" name="Shape 18"/>
          <p:cNvSpPr/>
          <p:nvPr/>
        </p:nvSpPr>
        <p:spPr>
          <a:xfrm>
            <a:off x="4727448" y="4754880"/>
            <a:ext cx="6839712" cy="1389888"/>
          </a:xfrm>
          <a:prstGeom prst="roundRect">
            <a:avLst>
              <a:gd name="adj" fmla="val 7895"/>
            </a:avLst>
          </a:prstGeom>
          <a:solidFill>
            <a:srgbClr val="0B1C2A"/>
          </a:solidFill>
          <a:ln w="12700">
            <a:solidFill>
              <a:srgbClr val="67D3A5"/>
            </a:solidFill>
            <a:prstDash val="solid"/>
          </a:ln>
        </p:spPr>
      </p:sp>
      <p:sp>
        <p:nvSpPr>
          <p:cNvPr id="25" name="Shape 19"/>
          <p:cNvSpPr/>
          <p:nvPr/>
        </p:nvSpPr>
        <p:spPr>
          <a:xfrm>
            <a:off x="4983480" y="5093208"/>
            <a:ext cx="91440" cy="91440"/>
          </a:xfrm>
          <a:prstGeom prst="ellipse">
            <a:avLst/>
          </a:prstGeom>
          <a:solidFill>
            <a:srgbClr val="67D3A5"/>
          </a:solidFill>
          <a:ln w="12700">
            <a:solidFill>
              <a:srgbClr val="67D3A5"/>
            </a:solidFill>
            <a:prstDash val="solid"/>
          </a:ln>
        </p:spPr>
      </p:sp>
      <p:sp>
        <p:nvSpPr>
          <p:cNvPr id="26" name="Text 20"/>
          <p:cNvSpPr/>
          <p:nvPr/>
        </p:nvSpPr>
        <p:spPr>
          <a:xfrm>
            <a:off x="5166360" y="4974336"/>
            <a:ext cx="5989320" cy="329184"/>
          </a:xfrm>
          <a:prstGeom prst="rect">
            <a:avLst/>
          </a:prstGeom>
          <a:noFill/>
          <a:ln/>
        </p:spPr>
        <p:txBody>
          <a:bodyPr wrap="square" lIns="0" tIns="0" rIns="0" bIns="0" rtlCol="0" anchor="ctr">
            <a:normAutofit/>
          </a:bodyPr>
          <a:lstStyle/>
          <a:p>
            <a:pPr indent="0" marL="0">
              <a:buNone/>
            </a:pPr>
            <a:r>
              <a:rPr lang="en-US" sz="1250" dirty="0">
                <a:solidFill>
                  <a:srgbClr val="F4F7FA"/>
                </a:solidFill>
                <a:latin typeface="Noto Sans CJK JP" pitchFamily="34" charset="0"/>
                <a:ea typeface="Noto Sans CJK JP" pitchFamily="34" charset="-122"/>
                <a:cs typeface="Noto Sans CJK JP" pitchFamily="34" charset="-120"/>
              </a:rPr>
              <a:t>局所性は木の隣接関係として残る</a:t>
            </a:r>
            <a:endParaRPr lang="en-US" sz="1250" dirty="0"/>
          </a:p>
        </p:txBody>
      </p:sp>
      <p:sp>
        <p:nvSpPr>
          <p:cNvPr id="27" name="Shape 21"/>
          <p:cNvSpPr/>
          <p:nvPr/>
        </p:nvSpPr>
        <p:spPr>
          <a:xfrm>
            <a:off x="4983480" y="5422392"/>
            <a:ext cx="91440" cy="91440"/>
          </a:xfrm>
          <a:prstGeom prst="ellipse">
            <a:avLst/>
          </a:prstGeom>
          <a:solidFill>
            <a:srgbClr val="67D3A5"/>
          </a:solidFill>
          <a:ln w="12700">
            <a:solidFill>
              <a:srgbClr val="67D3A5"/>
            </a:solidFill>
            <a:prstDash val="solid"/>
          </a:ln>
        </p:spPr>
      </p:sp>
      <p:sp>
        <p:nvSpPr>
          <p:cNvPr id="28" name="Text 22"/>
          <p:cNvSpPr/>
          <p:nvPr/>
        </p:nvSpPr>
        <p:spPr>
          <a:xfrm>
            <a:off x="5166360" y="5303520"/>
            <a:ext cx="5989320" cy="329184"/>
          </a:xfrm>
          <a:prstGeom prst="rect">
            <a:avLst/>
          </a:prstGeom>
          <a:noFill/>
          <a:ln/>
        </p:spPr>
        <p:txBody>
          <a:bodyPr wrap="square" lIns="0" tIns="0" rIns="0" bIns="0" rtlCol="0" anchor="ctr">
            <a:normAutofit/>
          </a:bodyPr>
          <a:lstStyle/>
          <a:p>
            <a:pPr indent="0" marL="0">
              <a:buNone/>
            </a:pPr>
            <a:r>
              <a:rPr lang="en-US" sz="1250" dirty="0">
                <a:solidFill>
                  <a:srgbClr val="F4F7FA"/>
                </a:solidFill>
                <a:latin typeface="Noto Sans CJK JP" pitchFamily="34" charset="0"/>
                <a:ea typeface="Noto Sans CJK JP" pitchFamily="34" charset="-122"/>
                <a:cs typeface="Noto Sans CJK JP" pitchFamily="34" charset="-120"/>
              </a:rPr>
              <a:t>無限木でも、距離だけに依存する解を厳密に求められる</a:t>
            </a:r>
            <a:endParaRPr lang="en-US" sz="1250" dirty="0"/>
          </a:p>
        </p:txBody>
      </p:sp>
      <p:sp>
        <p:nvSpPr>
          <p:cNvPr id="29" name="Shape 23"/>
          <p:cNvSpPr/>
          <p:nvPr/>
        </p:nvSpPr>
        <p:spPr>
          <a:xfrm>
            <a:off x="4983480" y="5751576"/>
            <a:ext cx="91440" cy="91440"/>
          </a:xfrm>
          <a:prstGeom prst="ellipse">
            <a:avLst/>
          </a:prstGeom>
          <a:solidFill>
            <a:srgbClr val="67D3A5"/>
          </a:solidFill>
          <a:ln w="12700">
            <a:solidFill>
              <a:srgbClr val="67D3A5"/>
            </a:solidFill>
            <a:prstDash val="solid"/>
          </a:ln>
        </p:spPr>
      </p:sp>
      <p:sp>
        <p:nvSpPr>
          <p:cNvPr id="30" name="Text 24"/>
          <p:cNvSpPr/>
          <p:nvPr/>
        </p:nvSpPr>
        <p:spPr>
          <a:xfrm>
            <a:off x="5166360" y="5632704"/>
            <a:ext cx="5989320" cy="329184"/>
          </a:xfrm>
          <a:prstGeom prst="rect">
            <a:avLst/>
          </a:prstGeom>
          <a:noFill/>
          <a:ln/>
        </p:spPr>
        <p:txBody>
          <a:bodyPr wrap="square" lIns="0" tIns="0" rIns="0" bIns="0" rtlCol="0" anchor="ctr">
            <a:normAutofit/>
          </a:bodyPr>
          <a:lstStyle/>
          <a:p>
            <a:pPr indent="0" marL="0">
              <a:buNone/>
            </a:pPr>
            <a:r>
              <a:rPr lang="en-US" sz="1250" dirty="0">
                <a:solidFill>
                  <a:srgbClr val="F4F7FA"/>
                </a:solidFill>
                <a:latin typeface="Noto Sans CJK JP" pitchFamily="34" charset="0"/>
                <a:ea typeface="Noto Sans CJK JP" pitchFamily="34" charset="-122"/>
                <a:cs typeface="Noto Sans CJK JP" pitchFamily="34" charset="-120"/>
              </a:rPr>
              <a:t>境界極限からCFTの相関関数を生成する</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PROPAGATORS</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伝播関数と質量・スケーリング次元対応</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木のグラフ距離に対して指数的に減衰する</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15</a:t>
            </a:r>
            <a:endParaRPr lang="en-US" sz="1000" dirty="0"/>
          </a:p>
        </p:txBody>
      </p:sp>
      <p:sp>
        <p:nvSpPr>
          <p:cNvPr id="8" name="Text 6"/>
          <p:cNvSpPr/>
          <p:nvPr/>
        </p:nvSpPr>
        <p:spPr>
          <a:xfrm>
            <a:off x="548640" y="6547104"/>
            <a:ext cx="9966960" cy="146304"/>
          </a:xfrm>
          <a:prstGeom prst="rect">
            <a:avLst/>
          </a:prstGeom>
          <a:noFill/>
          <a:ln/>
        </p:spPr>
        <p:txBody>
          <a:bodyPr wrap="square" lIns="0" tIns="0" rIns="0" bIns="0" rtlCol="0" anchor="ctr">
            <a:normAutofit/>
          </a:bodyPr>
          <a:lstStyle/>
          <a:p>
            <a:pPr indent="0" marL="0">
              <a:buNone/>
            </a:pPr>
            <a:r>
              <a:rPr lang="en-US" sz="730" dirty="0">
                <a:solidFill>
                  <a:srgbClr val="7890A1"/>
                </a:solidFill>
                <a:latin typeface="Noto Sans CJK JP" pitchFamily="34" charset="0"/>
                <a:ea typeface="Noto Sans CJK JP" pitchFamily="34" charset="-122"/>
                <a:cs typeface="Noto Sans CJK JP" pitchFamily="34" charset="-120"/>
              </a:rPr>
              <a:t>出典: Gubser et al. (2017), eqs. (31)–(37)</a:t>
            </a:r>
            <a:endParaRPr lang="en-US" sz="730" dirty="0"/>
          </a:p>
        </p:txBody>
      </p:sp>
      <p:sp>
        <p:nvSpPr>
          <p:cNvPr id="9" name="Text 7"/>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15 / 24</a:t>
            </a:r>
            <a:endParaRPr lang="en-US" sz="750" dirty="0"/>
          </a:p>
        </p:txBody>
      </p:sp>
      <p:sp>
        <p:nvSpPr>
          <p:cNvPr id="10" name="Shape 8"/>
          <p:cNvSpPr/>
          <p:nvPr/>
        </p:nvSpPr>
        <p:spPr>
          <a:xfrm>
            <a:off x="594360" y="1737360"/>
            <a:ext cx="5623560" cy="1261872"/>
          </a:xfrm>
          <a:prstGeom prst="roundRect">
            <a:avLst>
              <a:gd name="adj" fmla="val 8696"/>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11" name="Text 9"/>
          <p:cNvSpPr/>
          <p:nvPr/>
        </p:nvSpPr>
        <p:spPr>
          <a:xfrm>
            <a:off x="758952" y="1847088"/>
            <a:ext cx="529437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バルク・バルク伝播関数</a:t>
            </a:r>
            <a:endParaRPr lang="en-US" sz="1050" dirty="0"/>
          </a:p>
        </p:txBody>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637943" y="2130552"/>
            <a:ext cx="3536393" cy="758952"/>
          </a:xfrm>
          <a:prstGeom prst="rect">
            <a:avLst/>
          </a:prstGeom>
        </p:spPr>
      </p:pic>
      <p:sp>
        <p:nvSpPr>
          <p:cNvPr id="13" name="Shape 10"/>
          <p:cNvSpPr/>
          <p:nvPr/>
        </p:nvSpPr>
        <p:spPr>
          <a:xfrm>
            <a:off x="6446520" y="1737360"/>
            <a:ext cx="5120640" cy="1261872"/>
          </a:xfrm>
          <a:prstGeom prst="roundRect">
            <a:avLst>
              <a:gd name="adj" fmla="val 8696"/>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14" name="Text 11"/>
          <p:cNvSpPr/>
          <p:nvPr/>
        </p:nvSpPr>
        <p:spPr>
          <a:xfrm>
            <a:off x="6611112" y="1847088"/>
            <a:ext cx="479145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質量と境界次元</a:t>
            </a:r>
            <a:endParaRPr lang="en-US" sz="1050" dirty="0"/>
          </a:p>
        </p:txBody>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51624" y="2130552"/>
            <a:ext cx="3710432" cy="758952"/>
          </a:xfrm>
          <a:prstGeom prst="rect">
            <a:avLst/>
          </a:prstGeom>
        </p:spPr>
      </p:pic>
      <p:sp>
        <p:nvSpPr>
          <p:cNvPr id="16" name="Shape 12"/>
          <p:cNvSpPr/>
          <p:nvPr/>
        </p:nvSpPr>
        <p:spPr>
          <a:xfrm>
            <a:off x="594360" y="3273552"/>
            <a:ext cx="4617720" cy="2798064"/>
          </a:xfrm>
          <a:prstGeom prst="roundRect">
            <a:avLst>
              <a:gd name="adj" fmla="val 3922"/>
            </a:avLst>
          </a:prstGeom>
          <a:solidFill>
            <a:srgbClr val="0D2231"/>
          </a:solidFill>
          <a:ln w="12700">
            <a:solidFill>
              <a:srgbClr val="55D8E0"/>
            </a:solidFill>
            <a:prstDash val="solid"/>
          </a:ln>
          <a:effectLst>
            <a:outerShdw sx="100000" sy="100000" kx="0" ky="0" algn="bl" rotWithShape="0" blurRad="12700" dist="50800" dir="2700000">
              <a:srgbClr val="000000">
                <a:alpha val="18000"/>
              </a:srgbClr>
            </a:outerShdw>
          </a:effectLst>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6968" y="3511296"/>
            <a:ext cx="4069080" cy="2148840"/>
          </a:xfrm>
          <a:prstGeom prst="rect">
            <a:avLst/>
          </a:prstGeom>
        </p:spPr>
      </p:pic>
      <p:sp>
        <p:nvSpPr>
          <p:cNvPr id="18" name="Shape 13"/>
          <p:cNvSpPr/>
          <p:nvPr/>
        </p:nvSpPr>
        <p:spPr>
          <a:xfrm>
            <a:off x="2377440" y="5166360"/>
            <a:ext cx="1508760" cy="-1143000"/>
          </a:xfrm>
          <a:prstGeom prst="line">
            <a:avLst/>
          </a:prstGeom>
          <a:noFill/>
          <a:ln w="63500">
            <a:solidFill>
              <a:srgbClr val="F2B65D"/>
            </a:solidFill>
            <a:prstDash val="solid"/>
          </a:ln>
        </p:spPr>
      </p:sp>
      <p:sp>
        <p:nvSpPr>
          <p:cNvPr id="19" name="Text 14"/>
          <p:cNvSpPr/>
          <p:nvPr/>
        </p:nvSpPr>
        <p:spPr>
          <a:xfrm>
            <a:off x="2606040" y="5010912"/>
            <a:ext cx="1920240" cy="457200"/>
          </a:xfrm>
          <a:prstGeom prst="rect">
            <a:avLst/>
          </a:prstGeom>
          <a:noFill/>
          <a:ln/>
        </p:spPr>
        <p:txBody>
          <a:bodyPr wrap="square" lIns="0" tIns="0" rIns="0" bIns="0" rtlCol="0" anchor="ctr">
            <a:normAutofit/>
          </a:bodyPr>
          <a:lstStyle/>
          <a:p>
            <a:pPr algn="ctr" indent="0" marL="0">
              <a:buNone/>
            </a:pPr>
            <a:r>
              <a:rPr lang="en-US" sz="1250" b="1" dirty="0">
                <a:solidFill>
                  <a:srgbClr val="F2B65D"/>
                </a:solidFill>
                <a:latin typeface="Noto Sans CJK JP" pitchFamily="34" charset="0"/>
                <a:ea typeface="Noto Sans CJK JP" pitchFamily="34" charset="-122"/>
                <a:cs typeface="Noto Sans CJK JP" pitchFamily="34" charset="-120"/>
              </a:rPr>
              <a:t>距離が一辺増えるごとに</a:t>
            </a:r>
            <a:endParaRPr lang="en-US" sz="1250" dirty="0"/>
          </a:p>
          <a:p>
            <a:pPr algn="ctr" indent="0" marL="0">
              <a:buNone/>
            </a:pPr>
            <a:r>
              <a:rPr lang="en-US" sz="1250" b="1" dirty="0">
                <a:solidFill>
                  <a:srgbClr val="F2B65D"/>
                </a:solidFill>
                <a:latin typeface="Noto Sans CJK JP" pitchFamily="34" charset="0"/>
                <a:ea typeface="Noto Sans CJK JP" pitchFamily="34" charset="-122"/>
                <a:cs typeface="Noto Sans CJK JP" pitchFamily="34" charset="-120"/>
              </a:rPr>
              <a:t>一定比で減衰</a:t>
            </a:r>
            <a:endParaRPr lang="en-US" sz="1250" dirty="0"/>
          </a:p>
        </p:txBody>
      </p:sp>
      <p:sp>
        <p:nvSpPr>
          <p:cNvPr id="20" name="Shape 15"/>
          <p:cNvSpPr/>
          <p:nvPr/>
        </p:nvSpPr>
        <p:spPr>
          <a:xfrm>
            <a:off x="5468112" y="3273552"/>
            <a:ext cx="6099048" cy="1481328"/>
          </a:xfrm>
          <a:prstGeom prst="roundRect">
            <a:avLst>
              <a:gd name="adj" fmla="val 7407"/>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21" name="Text 16"/>
          <p:cNvSpPr/>
          <p:nvPr/>
        </p:nvSpPr>
        <p:spPr>
          <a:xfrm>
            <a:off x="5632704" y="3383280"/>
            <a:ext cx="5769864"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バルク・境界伝播関数</a:t>
            </a:r>
            <a:endParaRPr lang="en-US" sz="1050" dirty="0"/>
          </a:p>
        </p:txBody>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69280" y="3781350"/>
            <a:ext cx="5696712" cy="749195"/>
          </a:xfrm>
          <a:prstGeom prst="rect">
            <a:avLst/>
          </a:prstGeom>
        </p:spPr>
      </p:pic>
      <p:sp>
        <p:nvSpPr>
          <p:cNvPr id="23" name="Shape 17"/>
          <p:cNvSpPr/>
          <p:nvPr/>
        </p:nvSpPr>
        <p:spPr>
          <a:xfrm>
            <a:off x="5468112" y="4983480"/>
            <a:ext cx="6099048" cy="1088136"/>
          </a:xfrm>
          <a:prstGeom prst="roundRect">
            <a:avLst>
              <a:gd name="adj" fmla="val 10084"/>
            </a:avLst>
          </a:prstGeom>
          <a:solidFill>
            <a:srgbClr val="0B1C2A"/>
          </a:solidFill>
          <a:ln w="12700">
            <a:solidFill>
              <a:srgbClr val="A58AE8"/>
            </a:solidFill>
            <a:prstDash val="solid"/>
          </a:ln>
        </p:spPr>
      </p:sp>
      <p:sp>
        <p:nvSpPr>
          <p:cNvPr id="24" name="Text 18"/>
          <p:cNvSpPr/>
          <p:nvPr/>
        </p:nvSpPr>
        <p:spPr>
          <a:xfrm>
            <a:off x="5742432" y="5230368"/>
            <a:ext cx="5532120" cy="274320"/>
          </a:xfrm>
          <a:prstGeom prst="rect">
            <a:avLst/>
          </a:prstGeom>
          <a:noFill/>
          <a:ln/>
        </p:spPr>
        <p:txBody>
          <a:bodyPr wrap="square" lIns="0" tIns="0" rIns="0" bIns="0" rtlCol="0" anchor="ctr">
            <a:normAutofit/>
          </a:bodyPr>
          <a:lstStyle/>
          <a:p>
            <a:pPr algn="ctr" indent="0" marL="0">
              <a:buNone/>
            </a:pPr>
            <a:r>
              <a:rPr lang="en-US" sz="1400" b="1" dirty="0">
                <a:solidFill>
                  <a:srgbClr val="A58AE8"/>
                </a:solidFill>
                <a:latin typeface="Noto Sans CJK JP" pitchFamily="34" charset="0"/>
                <a:ea typeface="Noto Sans CJK JP" pitchFamily="34" charset="-122"/>
                <a:cs typeface="Noto Sans CJK JP" pitchFamily="34" charset="-120"/>
              </a:rPr>
              <a:t>通常の AdS の質量・次元関係を、局所ゼータ関数で置換</a:t>
            </a:r>
            <a:endParaRPr lang="en-US" sz="1400" dirty="0"/>
          </a:p>
        </p:txBody>
      </p:sp>
      <p:sp>
        <p:nvSpPr>
          <p:cNvPr id="25" name="Text 19"/>
          <p:cNvSpPr/>
          <p:nvPr/>
        </p:nvSpPr>
        <p:spPr>
          <a:xfrm>
            <a:off x="5870448" y="5605272"/>
            <a:ext cx="5285232" cy="219456"/>
          </a:xfrm>
          <a:prstGeom prst="rect">
            <a:avLst/>
          </a:prstGeom>
          <a:noFill/>
          <a:ln/>
        </p:spPr>
        <p:txBody>
          <a:bodyPr wrap="square" lIns="0" tIns="0" rIns="0" bIns="0" rtlCol="0" anchor="ctr">
            <a:normAutofit/>
          </a:bodyPr>
          <a:lstStyle/>
          <a:p>
            <a:pPr algn="ctr" indent="0" marL="0">
              <a:buNone/>
            </a:pPr>
            <a:r>
              <a:rPr lang="en-US" sz="1150" dirty="0">
                <a:solidFill>
                  <a:srgbClr val="A9BBC9"/>
                </a:solidFill>
                <a:latin typeface="Noto Sans CJK JP" pitchFamily="34" charset="0"/>
                <a:ea typeface="Noto Sans CJK JP" pitchFamily="34" charset="-122"/>
                <a:cs typeface="Noto Sans CJK JP" pitchFamily="34" charset="-120"/>
              </a:rPr>
              <a:t>境界へ近づく極限を正規化すると、CFTのソース核になる</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CORRELATORS</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境界相関関数：通常のCFTと同じ形、係数は局所ゼータ</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木上のWitten図を頂点和として評価する</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16</a:t>
            </a:r>
            <a:endParaRPr lang="en-US" sz="1000" dirty="0"/>
          </a:p>
        </p:txBody>
      </p:sp>
      <p:sp>
        <p:nvSpPr>
          <p:cNvPr id="8" name="Text 6"/>
          <p:cNvSpPr/>
          <p:nvPr/>
        </p:nvSpPr>
        <p:spPr>
          <a:xfrm>
            <a:off x="548640" y="6547104"/>
            <a:ext cx="9966960" cy="146304"/>
          </a:xfrm>
          <a:prstGeom prst="rect">
            <a:avLst/>
          </a:prstGeom>
          <a:noFill/>
          <a:ln/>
        </p:spPr>
        <p:txBody>
          <a:bodyPr wrap="square" lIns="0" tIns="0" rIns="0" bIns="0" rtlCol="0" anchor="ctr">
            <a:normAutofit/>
          </a:bodyPr>
          <a:lstStyle/>
          <a:p>
            <a:pPr indent="0" marL="0">
              <a:buNone/>
            </a:pPr>
            <a:r>
              <a:rPr lang="en-US" sz="730" dirty="0">
                <a:solidFill>
                  <a:srgbClr val="7890A1"/>
                </a:solidFill>
                <a:latin typeface="Noto Sans CJK JP" pitchFamily="34" charset="0"/>
                <a:ea typeface="Noto Sans CJK JP" pitchFamily="34" charset="-122"/>
                <a:cs typeface="Noto Sans CJK JP" pitchFamily="34" charset="-120"/>
              </a:rPr>
              <a:t>出典: Gubser et al. (2017), §§4–5</a:t>
            </a:r>
            <a:endParaRPr lang="en-US" sz="730" dirty="0"/>
          </a:p>
        </p:txBody>
      </p:sp>
      <p:sp>
        <p:nvSpPr>
          <p:cNvPr id="9" name="Text 7"/>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16 / 24</a:t>
            </a:r>
            <a:endParaRPr lang="en-US" sz="750" dirty="0"/>
          </a:p>
        </p:txBody>
      </p:sp>
      <p:sp>
        <p:nvSpPr>
          <p:cNvPr id="10" name="Shape 8"/>
          <p:cNvSpPr/>
          <p:nvPr/>
        </p:nvSpPr>
        <p:spPr>
          <a:xfrm>
            <a:off x="594360" y="1719072"/>
            <a:ext cx="5349240" cy="1143000"/>
          </a:xfrm>
          <a:prstGeom prst="roundRect">
            <a:avLst>
              <a:gd name="adj" fmla="val 9600"/>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11" name="Text 9"/>
          <p:cNvSpPr/>
          <p:nvPr/>
        </p:nvSpPr>
        <p:spPr>
          <a:xfrm>
            <a:off x="758952" y="1828800"/>
            <a:ext cx="502005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同一次元スカラーの二点関数</a:t>
            </a:r>
            <a:endParaRPr lang="en-US" sz="1050" dirty="0"/>
          </a:p>
        </p:txBody>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902143" y="2112264"/>
            <a:ext cx="2733675" cy="640080"/>
          </a:xfrm>
          <a:prstGeom prst="rect">
            <a:avLst/>
          </a:prstGeom>
        </p:spPr>
      </p:pic>
      <p:sp>
        <p:nvSpPr>
          <p:cNvPr id="13" name="Shape 10"/>
          <p:cNvSpPr/>
          <p:nvPr/>
        </p:nvSpPr>
        <p:spPr>
          <a:xfrm>
            <a:off x="6172200" y="1719072"/>
            <a:ext cx="5394960" cy="1143000"/>
          </a:xfrm>
          <a:prstGeom prst="roundRect">
            <a:avLst>
              <a:gd name="adj" fmla="val 9600"/>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14" name="Text 11"/>
          <p:cNvSpPr/>
          <p:nvPr/>
        </p:nvSpPr>
        <p:spPr>
          <a:xfrm>
            <a:off x="6336792" y="1828800"/>
            <a:ext cx="506577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三点関数</a:t>
            </a:r>
            <a:endParaRPr lang="en-US" sz="1050" dirty="0"/>
          </a:p>
        </p:txBody>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56058" y="2112264"/>
            <a:ext cx="4627245" cy="640080"/>
          </a:xfrm>
          <a:prstGeom prst="rect">
            <a:avLst/>
          </a:prstGeom>
        </p:spPr>
      </p:pic>
      <p:sp>
        <p:nvSpPr>
          <p:cNvPr id="16" name="Shape 12"/>
          <p:cNvSpPr/>
          <p:nvPr/>
        </p:nvSpPr>
        <p:spPr>
          <a:xfrm>
            <a:off x="594360" y="3127248"/>
            <a:ext cx="6675120" cy="2971800"/>
          </a:xfrm>
          <a:prstGeom prst="roundRect">
            <a:avLst>
              <a:gd name="adj" fmla="val 3692"/>
            </a:avLst>
          </a:prstGeom>
          <a:solidFill>
            <a:srgbClr val="0D2231"/>
          </a:solidFill>
          <a:ln w="12700">
            <a:solidFill>
              <a:srgbClr val="55D8E0"/>
            </a:solidFill>
            <a:prstDash val="solid"/>
          </a:ln>
          <a:effectLst>
            <a:outerShdw sx="100000" sy="100000" kx="0" ky="0" algn="bl" rotWithShape="0" blurRad="12700" dist="50800" dir="2700000">
              <a:srgbClr val="000000">
                <a:alpha val="18000"/>
              </a:srgbClr>
            </a:outerShdw>
          </a:effectLst>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8680" y="3364992"/>
            <a:ext cx="5989320" cy="2331720"/>
          </a:xfrm>
          <a:prstGeom prst="rect">
            <a:avLst/>
          </a:prstGeom>
        </p:spPr>
      </p:pic>
      <p:sp>
        <p:nvSpPr>
          <p:cNvPr id="18" name="Text 13"/>
          <p:cNvSpPr/>
          <p:nvPr/>
        </p:nvSpPr>
        <p:spPr>
          <a:xfrm>
            <a:off x="2194560" y="5687568"/>
            <a:ext cx="3383280" cy="219456"/>
          </a:xfrm>
          <a:prstGeom prst="rect">
            <a:avLst/>
          </a:prstGeom>
          <a:noFill/>
          <a:ln/>
        </p:spPr>
        <p:txBody>
          <a:bodyPr wrap="square" lIns="0" tIns="0" rIns="0" bIns="0" rtlCol="0" anchor="ctr"/>
          <a:lstStyle/>
          <a:p>
            <a:pPr algn="ctr" indent="0" marL="0">
              <a:buNone/>
            </a:pPr>
            <a:r>
              <a:rPr lang="en-US" sz="1220" b="1" dirty="0">
                <a:solidFill>
                  <a:srgbClr val="55D8E0"/>
                </a:solidFill>
                <a:latin typeface="Noto Sans CJK JP" pitchFamily="34" charset="0"/>
                <a:ea typeface="Noto Sans CJK JP" pitchFamily="34" charset="-122"/>
                <a:cs typeface="Noto Sans CJK JP" pitchFamily="34" charset="-120"/>
              </a:rPr>
              <a:t>三本の測地線が会う頂点が一意</a:t>
            </a:r>
            <a:endParaRPr lang="en-US" sz="1220" dirty="0"/>
          </a:p>
        </p:txBody>
      </p:sp>
      <p:sp>
        <p:nvSpPr>
          <p:cNvPr id="19" name="Shape 14"/>
          <p:cNvSpPr/>
          <p:nvPr/>
        </p:nvSpPr>
        <p:spPr>
          <a:xfrm>
            <a:off x="7479792" y="3127248"/>
            <a:ext cx="4087368" cy="2971800"/>
          </a:xfrm>
          <a:prstGeom prst="roundRect">
            <a:avLst>
              <a:gd name="adj" fmla="val 3692"/>
            </a:avLst>
          </a:prstGeom>
          <a:solidFill>
            <a:srgbClr val="0D2231"/>
          </a:solidFill>
          <a:ln w="12700">
            <a:solidFill>
              <a:srgbClr val="67D3A5"/>
            </a:solidFill>
            <a:prstDash val="solid"/>
          </a:ln>
          <a:effectLst>
            <a:outerShdw sx="100000" sy="100000" kx="0" ky="0" algn="bl" rotWithShape="0" blurRad="12700" dist="50800" dir="2700000">
              <a:srgbClr val="000000">
                <a:alpha val="18000"/>
              </a:srgbClr>
            </a:outerShdw>
          </a:effectLst>
        </p:spPr>
      </p:sp>
      <p:sp>
        <p:nvSpPr>
          <p:cNvPr id="20" name="Shape 15"/>
          <p:cNvSpPr/>
          <p:nvPr/>
        </p:nvSpPr>
        <p:spPr>
          <a:xfrm>
            <a:off x="7754112" y="3364992"/>
            <a:ext cx="1874520" cy="310896"/>
          </a:xfrm>
          <a:prstGeom prst="roundRect">
            <a:avLst/>
          </a:prstGeom>
          <a:solidFill>
            <a:srgbClr val="153246"/>
          </a:solidFill>
          <a:ln w="13970">
            <a:solidFill>
              <a:srgbClr val="67D3A5"/>
            </a:solidFill>
            <a:prstDash val="solid"/>
          </a:ln>
        </p:spPr>
      </p:sp>
      <p:sp>
        <p:nvSpPr>
          <p:cNvPr id="21" name="Text 16"/>
          <p:cNvSpPr/>
          <p:nvPr/>
        </p:nvSpPr>
        <p:spPr>
          <a:xfrm>
            <a:off x="7827264" y="3410712"/>
            <a:ext cx="1728216" cy="201168"/>
          </a:xfrm>
          <a:prstGeom prst="rect">
            <a:avLst/>
          </a:prstGeom>
          <a:noFill/>
          <a:ln/>
        </p:spPr>
        <p:txBody>
          <a:bodyPr wrap="square" lIns="0" tIns="0" rIns="0" bIns="0" rtlCol="0" anchor="ctr">
            <a:normAutofit/>
          </a:bodyPr>
          <a:lstStyle/>
          <a:p>
            <a:pPr algn="ctr" indent="0" marL="0">
              <a:buNone/>
            </a:pPr>
            <a:r>
              <a:rPr lang="en-US" sz="1000" b="1" dirty="0">
                <a:solidFill>
                  <a:srgbClr val="67D3A5"/>
                </a:solidFill>
                <a:latin typeface="Noto Sans CJK JP" pitchFamily="34" charset="0"/>
                <a:ea typeface="Noto Sans CJK JP" pitchFamily="34" charset="-122"/>
                <a:cs typeface="Noto Sans CJK JP" pitchFamily="34" charset="-120"/>
              </a:rPr>
              <a:t>計算が簡単になる理由</a:t>
            </a:r>
            <a:endParaRPr lang="en-US" sz="1000" dirty="0"/>
          </a:p>
        </p:txBody>
      </p:sp>
      <p:sp>
        <p:nvSpPr>
          <p:cNvPr id="22" name="Shape 17"/>
          <p:cNvSpPr/>
          <p:nvPr/>
        </p:nvSpPr>
        <p:spPr>
          <a:xfrm>
            <a:off x="7790688" y="4069080"/>
            <a:ext cx="91440" cy="91440"/>
          </a:xfrm>
          <a:prstGeom prst="ellipse">
            <a:avLst/>
          </a:prstGeom>
          <a:solidFill>
            <a:srgbClr val="67D3A5"/>
          </a:solidFill>
          <a:ln w="12700">
            <a:solidFill>
              <a:srgbClr val="67D3A5"/>
            </a:solidFill>
            <a:prstDash val="solid"/>
          </a:ln>
        </p:spPr>
      </p:sp>
      <p:sp>
        <p:nvSpPr>
          <p:cNvPr id="23" name="Text 18"/>
          <p:cNvSpPr/>
          <p:nvPr/>
        </p:nvSpPr>
        <p:spPr>
          <a:xfrm>
            <a:off x="7973568" y="3950208"/>
            <a:ext cx="3063240" cy="438912"/>
          </a:xfrm>
          <a:prstGeom prst="rect">
            <a:avLst/>
          </a:prstGeom>
          <a:noFill/>
          <a:ln/>
        </p:spPr>
        <p:txBody>
          <a:bodyPr wrap="square" lIns="0" tIns="0" rIns="0" bIns="0" rtlCol="0" anchor="ctr">
            <a:normAutofit/>
          </a:bodyPr>
          <a:lstStyle/>
          <a:p>
            <a:pPr indent="0" marL="0">
              <a:buNone/>
            </a:pPr>
            <a:r>
              <a:rPr lang="en-US" sz="1280" dirty="0">
                <a:solidFill>
                  <a:srgbClr val="F4F7FA"/>
                </a:solidFill>
                <a:latin typeface="Noto Sans CJK JP" pitchFamily="34" charset="0"/>
                <a:ea typeface="Noto Sans CJK JP" pitchFamily="34" charset="-122"/>
                <a:cs typeface="Noto Sans CJK JP" pitchFamily="34" charset="-120"/>
              </a:rPr>
              <a:t>木には閉路がなく、測地線が一意</a:t>
            </a:r>
            <a:endParaRPr lang="en-US" sz="1280" dirty="0"/>
          </a:p>
        </p:txBody>
      </p:sp>
      <p:sp>
        <p:nvSpPr>
          <p:cNvPr id="24" name="Shape 19"/>
          <p:cNvSpPr/>
          <p:nvPr/>
        </p:nvSpPr>
        <p:spPr>
          <a:xfrm>
            <a:off x="7790688" y="4507992"/>
            <a:ext cx="91440" cy="91440"/>
          </a:xfrm>
          <a:prstGeom prst="ellipse">
            <a:avLst/>
          </a:prstGeom>
          <a:solidFill>
            <a:srgbClr val="67D3A5"/>
          </a:solidFill>
          <a:ln w="12700">
            <a:solidFill>
              <a:srgbClr val="67D3A5"/>
            </a:solidFill>
            <a:prstDash val="solid"/>
          </a:ln>
        </p:spPr>
      </p:sp>
      <p:sp>
        <p:nvSpPr>
          <p:cNvPr id="25" name="Text 20"/>
          <p:cNvSpPr/>
          <p:nvPr/>
        </p:nvSpPr>
        <p:spPr>
          <a:xfrm>
            <a:off x="7973568" y="4389120"/>
            <a:ext cx="3063240" cy="438912"/>
          </a:xfrm>
          <a:prstGeom prst="rect">
            <a:avLst/>
          </a:prstGeom>
          <a:noFill/>
          <a:ln/>
        </p:spPr>
        <p:txBody>
          <a:bodyPr wrap="square" lIns="0" tIns="0" rIns="0" bIns="0" rtlCol="0" anchor="ctr">
            <a:normAutofit/>
          </a:bodyPr>
          <a:lstStyle/>
          <a:p>
            <a:pPr indent="0" marL="0">
              <a:buNone/>
            </a:pPr>
            <a:r>
              <a:rPr lang="en-US" sz="1280" dirty="0">
                <a:solidFill>
                  <a:srgbClr val="F4F7FA"/>
                </a:solidFill>
                <a:latin typeface="Noto Sans CJK JP" pitchFamily="34" charset="0"/>
                <a:ea typeface="Noto Sans CJK JP" pitchFamily="34" charset="-122"/>
                <a:cs typeface="Noto Sans CJK JP" pitchFamily="34" charset="-120"/>
              </a:rPr>
              <a:t>頂点和が領域ごとの幾何級数に分かれる</a:t>
            </a:r>
            <a:endParaRPr lang="en-US" sz="1280" dirty="0"/>
          </a:p>
        </p:txBody>
      </p:sp>
      <p:sp>
        <p:nvSpPr>
          <p:cNvPr id="26" name="Shape 21"/>
          <p:cNvSpPr/>
          <p:nvPr/>
        </p:nvSpPr>
        <p:spPr>
          <a:xfrm>
            <a:off x="7790688" y="4946904"/>
            <a:ext cx="91440" cy="91440"/>
          </a:xfrm>
          <a:prstGeom prst="ellipse">
            <a:avLst/>
          </a:prstGeom>
          <a:solidFill>
            <a:srgbClr val="67D3A5"/>
          </a:solidFill>
          <a:ln w="12700">
            <a:solidFill>
              <a:srgbClr val="67D3A5"/>
            </a:solidFill>
            <a:prstDash val="solid"/>
          </a:ln>
        </p:spPr>
      </p:sp>
      <p:sp>
        <p:nvSpPr>
          <p:cNvPr id="27" name="Text 22"/>
          <p:cNvSpPr/>
          <p:nvPr/>
        </p:nvSpPr>
        <p:spPr>
          <a:xfrm>
            <a:off x="7973568" y="4828032"/>
            <a:ext cx="3063240" cy="438912"/>
          </a:xfrm>
          <a:prstGeom prst="rect">
            <a:avLst/>
          </a:prstGeom>
          <a:noFill/>
          <a:ln/>
        </p:spPr>
        <p:txBody>
          <a:bodyPr wrap="square" lIns="0" tIns="0" rIns="0" bIns="0" rtlCol="0" anchor="ctr">
            <a:normAutofit/>
          </a:bodyPr>
          <a:lstStyle/>
          <a:p>
            <a:pPr indent="0" marL="0">
              <a:buNone/>
            </a:pPr>
            <a:r>
              <a:rPr lang="en-US" sz="1280" dirty="0">
                <a:solidFill>
                  <a:srgbClr val="F4F7FA"/>
                </a:solidFill>
                <a:latin typeface="Noto Sans CJK JP" pitchFamily="34" charset="0"/>
                <a:ea typeface="Noto Sans CJK JP" pitchFamily="34" charset="-122"/>
                <a:cs typeface="Noto Sans CJK JP" pitchFamily="34" charset="-120"/>
              </a:rPr>
              <a:t>超距離性で交差比の配置が強く制限される</a:t>
            </a:r>
            <a:endParaRPr lang="en-US" sz="1280" dirty="0"/>
          </a:p>
        </p:txBody>
      </p:sp>
      <p:sp>
        <p:nvSpPr>
          <p:cNvPr id="28" name="Shape 23"/>
          <p:cNvSpPr/>
          <p:nvPr/>
        </p:nvSpPr>
        <p:spPr>
          <a:xfrm>
            <a:off x="7790688" y="5385816"/>
            <a:ext cx="91440" cy="91440"/>
          </a:xfrm>
          <a:prstGeom prst="ellipse">
            <a:avLst/>
          </a:prstGeom>
          <a:solidFill>
            <a:srgbClr val="67D3A5"/>
          </a:solidFill>
          <a:ln w="12700">
            <a:solidFill>
              <a:srgbClr val="67D3A5"/>
            </a:solidFill>
            <a:prstDash val="solid"/>
          </a:ln>
        </p:spPr>
      </p:sp>
      <p:sp>
        <p:nvSpPr>
          <p:cNvPr id="29" name="Text 24"/>
          <p:cNvSpPr/>
          <p:nvPr/>
        </p:nvSpPr>
        <p:spPr>
          <a:xfrm>
            <a:off x="7973568" y="5266944"/>
            <a:ext cx="3063240" cy="438912"/>
          </a:xfrm>
          <a:prstGeom prst="rect">
            <a:avLst/>
          </a:prstGeom>
          <a:noFill/>
          <a:ln/>
        </p:spPr>
        <p:txBody>
          <a:bodyPr wrap="square" lIns="0" tIns="0" rIns="0" bIns="0" rtlCol="0" anchor="ctr">
            <a:normAutofit/>
          </a:bodyPr>
          <a:lstStyle/>
          <a:p>
            <a:pPr indent="0" marL="0">
              <a:buNone/>
            </a:pPr>
            <a:r>
              <a:rPr lang="en-US" sz="1280" dirty="0">
                <a:solidFill>
                  <a:srgbClr val="F4F7FA"/>
                </a:solidFill>
                <a:latin typeface="Noto Sans CJK JP" pitchFamily="34" charset="0"/>
                <a:ea typeface="Noto Sans CJK JP" pitchFamily="34" charset="-122"/>
                <a:cs typeface="Noto Sans CJK JP" pitchFamily="34" charset="-120"/>
              </a:rPr>
              <a:t>結果は局所ゼータ関数の積に整理される</a:t>
            </a:r>
            <a:endParaRPr lang="en-US" sz="12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WHY SOLVABLE</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可解性の核心：超距離と木が積分を幾何級数にする</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単純化は「雑な近似」ではなく、非アルキメデス幾何の厳密な帰結</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17</a:t>
            </a:r>
            <a:endParaRPr lang="en-US" sz="1000" dirty="0"/>
          </a:p>
        </p:txBody>
      </p:sp>
      <p:sp>
        <p:nvSpPr>
          <p:cNvPr id="8" name="Text 6"/>
          <p:cNvSpPr/>
          <p:nvPr/>
        </p:nvSpPr>
        <p:spPr>
          <a:xfrm>
            <a:off x="548640" y="6547104"/>
            <a:ext cx="9966960" cy="146304"/>
          </a:xfrm>
          <a:prstGeom prst="rect">
            <a:avLst/>
          </a:prstGeom>
          <a:noFill/>
          <a:ln/>
        </p:spPr>
        <p:txBody>
          <a:bodyPr wrap="square" lIns="0" tIns="0" rIns="0" bIns="0" rtlCol="0" anchor="ctr">
            <a:normAutofit/>
          </a:bodyPr>
          <a:lstStyle/>
          <a:p>
            <a:pPr indent="0" marL="0">
              <a:buNone/>
            </a:pPr>
            <a:r>
              <a:rPr lang="en-US" sz="730" dirty="0">
                <a:solidFill>
                  <a:srgbClr val="7890A1"/>
                </a:solidFill>
                <a:latin typeface="Noto Sans CJK JP" pitchFamily="34" charset="0"/>
                <a:ea typeface="Noto Sans CJK JP" pitchFamily="34" charset="-122"/>
                <a:cs typeface="Noto Sans CJK JP" pitchFamily="34" charset="-120"/>
              </a:rPr>
              <a:t>出典: Gubser et al. (2017); Heydeman et al. (2018)</a:t>
            </a:r>
            <a:endParaRPr lang="en-US" sz="730" dirty="0"/>
          </a:p>
        </p:txBody>
      </p:sp>
      <p:sp>
        <p:nvSpPr>
          <p:cNvPr id="9" name="Text 7"/>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17 / 24</a:t>
            </a:r>
            <a:endParaRPr lang="en-US" sz="750" dirty="0"/>
          </a:p>
        </p:txBody>
      </p:sp>
      <p:sp>
        <p:nvSpPr>
          <p:cNvPr id="10" name="Shape 8"/>
          <p:cNvSpPr/>
          <p:nvPr/>
        </p:nvSpPr>
        <p:spPr>
          <a:xfrm>
            <a:off x="640080" y="1847088"/>
            <a:ext cx="2331720" cy="3337560"/>
          </a:xfrm>
          <a:prstGeom prst="roundRect">
            <a:avLst>
              <a:gd name="adj" fmla="val 4706"/>
            </a:avLst>
          </a:prstGeom>
          <a:solidFill>
            <a:srgbClr val="0D2231"/>
          </a:solidFill>
          <a:ln w="12700">
            <a:solidFill>
              <a:srgbClr val="55D8E0"/>
            </a:solidFill>
            <a:prstDash val="solid"/>
          </a:ln>
          <a:effectLst>
            <a:outerShdw sx="100000" sy="100000" kx="0" ky="0" algn="bl" rotWithShape="0" blurRad="12700" dist="50800" dir="2700000">
              <a:srgbClr val="000000">
                <a:alpha val="18000"/>
              </a:srgbClr>
            </a:outerShdw>
          </a:effectLst>
        </p:spPr>
      </p:sp>
      <p:sp>
        <p:nvSpPr>
          <p:cNvPr id="11" name="Shape 9"/>
          <p:cNvSpPr/>
          <p:nvPr/>
        </p:nvSpPr>
        <p:spPr>
          <a:xfrm>
            <a:off x="1444752" y="2139696"/>
            <a:ext cx="713232" cy="713232"/>
          </a:xfrm>
          <a:prstGeom prst="ellipse">
            <a:avLst/>
          </a:prstGeom>
          <a:solidFill>
            <a:srgbClr val="55D8E0"/>
          </a:solidFill>
          <a:ln w="25400">
            <a:solidFill>
              <a:srgbClr val="07131E"/>
            </a:solidFill>
            <a:prstDash val="solid"/>
          </a:ln>
        </p:spPr>
      </p:sp>
      <p:sp>
        <p:nvSpPr>
          <p:cNvPr id="12" name="Text 10"/>
          <p:cNvSpPr/>
          <p:nvPr/>
        </p:nvSpPr>
        <p:spPr>
          <a:xfrm>
            <a:off x="1444752" y="2286000"/>
            <a:ext cx="713232" cy="256032"/>
          </a:xfrm>
          <a:prstGeom prst="rect">
            <a:avLst/>
          </a:prstGeom>
          <a:noFill/>
          <a:ln/>
        </p:spPr>
        <p:txBody>
          <a:bodyPr wrap="square" lIns="0" tIns="0" rIns="0" bIns="0" rtlCol="0" anchor="ctr"/>
          <a:lstStyle/>
          <a:p>
            <a:pPr algn="ctr" indent="0" marL="0">
              <a:buNone/>
            </a:pPr>
            <a:r>
              <a:rPr lang="en-US" sz="1700" b="1" dirty="0">
                <a:solidFill>
                  <a:srgbClr val="07131E"/>
                </a:solidFill>
                <a:latin typeface="Noto Sans Mono CJK JP" pitchFamily="34" charset="0"/>
                <a:ea typeface="Noto Sans Mono CJK JP" pitchFamily="34" charset="-122"/>
                <a:cs typeface="Noto Sans Mono CJK JP" pitchFamily="34" charset="-120"/>
              </a:rPr>
              <a:t>1</a:t>
            </a:r>
            <a:endParaRPr lang="en-US" sz="1700" dirty="0"/>
          </a:p>
        </p:txBody>
      </p:sp>
      <p:sp>
        <p:nvSpPr>
          <p:cNvPr id="13" name="Text 11"/>
          <p:cNvSpPr/>
          <p:nvPr/>
        </p:nvSpPr>
        <p:spPr>
          <a:xfrm>
            <a:off x="868680" y="3090672"/>
            <a:ext cx="1874520" cy="365760"/>
          </a:xfrm>
          <a:prstGeom prst="rect">
            <a:avLst/>
          </a:prstGeom>
          <a:noFill/>
          <a:ln/>
        </p:spPr>
        <p:txBody>
          <a:bodyPr wrap="square" lIns="0" tIns="0" rIns="0" bIns="0" rtlCol="0" anchor="ctr"/>
          <a:lstStyle/>
          <a:p>
            <a:pPr algn="ctr" indent="0" marL="0">
              <a:buNone/>
            </a:pPr>
            <a:r>
              <a:rPr lang="en-US" sz="1700" b="1" dirty="0">
                <a:solidFill>
                  <a:srgbClr val="F4F7FA"/>
                </a:solidFill>
                <a:latin typeface="Noto Sans CJK JP" pitchFamily="34" charset="0"/>
                <a:ea typeface="Noto Sans CJK JP" pitchFamily="34" charset="-122"/>
                <a:cs typeface="Noto Sans CJK JP" pitchFamily="34" charset="-120"/>
              </a:rPr>
              <a:t>領域分割</a:t>
            </a:r>
            <a:endParaRPr lang="en-US" sz="1700" dirty="0"/>
          </a:p>
        </p:txBody>
      </p:sp>
      <p:sp>
        <p:nvSpPr>
          <p:cNvPr id="14" name="Text 12"/>
          <p:cNvSpPr/>
          <p:nvPr/>
        </p:nvSpPr>
        <p:spPr>
          <a:xfrm>
            <a:off x="886968" y="3730752"/>
            <a:ext cx="1837944" cy="713232"/>
          </a:xfrm>
          <a:prstGeom prst="rect">
            <a:avLst/>
          </a:prstGeom>
          <a:noFill/>
          <a:ln/>
        </p:spPr>
        <p:txBody>
          <a:bodyPr wrap="square" lIns="0" tIns="0" rIns="0" bIns="0" rtlCol="0" anchor="ctr">
            <a:normAutofit/>
          </a:bodyPr>
          <a:lstStyle/>
          <a:p>
            <a:pPr algn="ctr" indent="0" marL="0">
              <a:buNone/>
            </a:pPr>
            <a:r>
              <a:rPr lang="en-US" sz="1320" dirty="0">
                <a:solidFill>
                  <a:srgbClr val="A9BBC9"/>
                </a:solidFill>
                <a:latin typeface="Noto Sans CJK JP" pitchFamily="34" charset="0"/>
                <a:ea typeface="Noto Sans CJK JP" pitchFamily="34" charset="-122"/>
                <a:cs typeface="Noto Sans CJK JP" pitchFamily="34" charset="-120"/>
              </a:rPr>
              <a:t>p進球は入れ子か互いに素</a:t>
            </a:r>
            <a:endParaRPr lang="en-US" sz="1320" dirty="0"/>
          </a:p>
        </p:txBody>
      </p:sp>
      <p:sp>
        <p:nvSpPr>
          <p:cNvPr id="15" name="Shape 13"/>
          <p:cNvSpPr/>
          <p:nvPr/>
        </p:nvSpPr>
        <p:spPr>
          <a:xfrm>
            <a:off x="3044952" y="3154680"/>
            <a:ext cx="347472" cy="475488"/>
          </a:xfrm>
          <a:prstGeom prst="chevron">
            <a:avLst/>
          </a:prstGeom>
          <a:solidFill>
            <a:srgbClr val="2B4658"/>
          </a:solidFill>
          <a:ln w="12700">
            <a:solidFill>
              <a:srgbClr val="2B4658"/>
            </a:solidFill>
            <a:prstDash val="solid"/>
          </a:ln>
        </p:spPr>
      </p:sp>
      <p:sp>
        <p:nvSpPr>
          <p:cNvPr id="16" name="Shape 14"/>
          <p:cNvSpPr/>
          <p:nvPr/>
        </p:nvSpPr>
        <p:spPr>
          <a:xfrm>
            <a:off x="3474720" y="1847088"/>
            <a:ext cx="2331720" cy="3337560"/>
          </a:xfrm>
          <a:prstGeom prst="roundRect">
            <a:avLst>
              <a:gd name="adj" fmla="val 4706"/>
            </a:avLst>
          </a:prstGeom>
          <a:solidFill>
            <a:srgbClr val="0D2231"/>
          </a:solidFill>
          <a:ln w="12700">
            <a:solidFill>
              <a:srgbClr val="67D3A5"/>
            </a:solidFill>
            <a:prstDash val="solid"/>
          </a:ln>
          <a:effectLst>
            <a:outerShdw sx="100000" sy="100000" kx="0" ky="0" algn="bl" rotWithShape="0" blurRad="12700" dist="50800" dir="2700000">
              <a:srgbClr val="000000">
                <a:alpha val="18000"/>
              </a:srgbClr>
            </a:outerShdw>
          </a:effectLst>
        </p:spPr>
      </p:sp>
      <p:sp>
        <p:nvSpPr>
          <p:cNvPr id="17" name="Shape 15"/>
          <p:cNvSpPr/>
          <p:nvPr/>
        </p:nvSpPr>
        <p:spPr>
          <a:xfrm>
            <a:off x="4279392" y="2139696"/>
            <a:ext cx="713232" cy="713232"/>
          </a:xfrm>
          <a:prstGeom prst="ellipse">
            <a:avLst/>
          </a:prstGeom>
          <a:solidFill>
            <a:srgbClr val="67D3A5"/>
          </a:solidFill>
          <a:ln w="25400">
            <a:solidFill>
              <a:srgbClr val="07131E"/>
            </a:solidFill>
            <a:prstDash val="solid"/>
          </a:ln>
        </p:spPr>
      </p:sp>
      <p:sp>
        <p:nvSpPr>
          <p:cNvPr id="18" name="Text 16"/>
          <p:cNvSpPr/>
          <p:nvPr/>
        </p:nvSpPr>
        <p:spPr>
          <a:xfrm>
            <a:off x="4279392" y="2286000"/>
            <a:ext cx="713232" cy="256032"/>
          </a:xfrm>
          <a:prstGeom prst="rect">
            <a:avLst/>
          </a:prstGeom>
          <a:noFill/>
          <a:ln/>
        </p:spPr>
        <p:txBody>
          <a:bodyPr wrap="square" lIns="0" tIns="0" rIns="0" bIns="0" rtlCol="0" anchor="ctr"/>
          <a:lstStyle/>
          <a:p>
            <a:pPr algn="ctr" indent="0" marL="0">
              <a:buNone/>
            </a:pPr>
            <a:r>
              <a:rPr lang="en-US" sz="1700" b="1" dirty="0">
                <a:solidFill>
                  <a:srgbClr val="07131E"/>
                </a:solidFill>
                <a:latin typeface="Noto Sans Mono CJK JP" pitchFamily="34" charset="0"/>
                <a:ea typeface="Noto Sans Mono CJK JP" pitchFamily="34" charset="-122"/>
                <a:cs typeface="Noto Sans Mono CJK JP" pitchFamily="34" charset="-120"/>
              </a:rPr>
              <a:t>2</a:t>
            </a:r>
            <a:endParaRPr lang="en-US" sz="1700" dirty="0"/>
          </a:p>
        </p:txBody>
      </p:sp>
      <p:sp>
        <p:nvSpPr>
          <p:cNvPr id="19" name="Text 17"/>
          <p:cNvSpPr/>
          <p:nvPr/>
        </p:nvSpPr>
        <p:spPr>
          <a:xfrm>
            <a:off x="3703320" y="3090672"/>
            <a:ext cx="1874520" cy="365760"/>
          </a:xfrm>
          <a:prstGeom prst="rect">
            <a:avLst/>
          </a:prstGeom>
          <a:noFill/>
          <a:ln/>
        </p:spPr>
        <p:txBody>
          <a:bodyPr wrap="square" lIns="0" tIns="0" rIns="0" bIns="0" rtlCol="0" anchor="ctr"/>
          <a:lstStyle/>
          <a:p>
            <a:pPr algn="ctr" indent="0" marL="0">
              <a:buNone/>
            </a:pPr>
            <a:r>
              <a:rPr lang="en-US" sz="1700" b="1" dirty="0">
                <a:solidFill>
                  <a:srgbClr val="F4F7FA"/>
                </a:solidFill>
                <a:latin typeface="Noto Sans CJK JP" pitchFamily="34" charset="0"/>
                <a:ea typeface="Noto Sans CJK JP" pitchFamily="34" charset="-122"/>
                <a:cs typeface="Noto Sans CJK JP" pitchFamily="34" charset="-120"/>
              </a:rPr>
              <a:t>経路の一意性</a:t>
            </a:r>
            <a:endParaRPr lang="en-US" sz="1700" dirty="0"/>
          </a:p>
        </p:txBody>
      </p:sp>
      <p:sp>
        <p:nvSpPr>
          <p:cNvPr id="20" name="Text 18"/>
          <p:cNvSpPr/>
          <p:nvPr/>
        </p:nvSpPr>
        <p:spPr>
          <a:xfrm>
            <a:off x="3721608" y="3730752"/>
            <a:ext cx="1837944" cy="713232"/>
          </a:xfrm>
          <a:prstGeom prst="rect">
            <a:avLst/>
          </a:prstGeom>
          <a:noFill/>
          <a:ln/>
        </p:spPr>
        <p:txBody>
          <a:bodyPr wrap="square" lIns="0" tIns="0" rIns="0" bIns="0" rtlCol="0" anchor="ctr">
            <a:normAutofit/>
          </a:bodyPr>
          <a:lstStyle/>
          <a:p>
            <a:pPr algn="ctr" indent="0" marL="0">
              <a:buNone/>
            </a:pPr>
            <a:r>
              <a:rPr lang="en-US" sz="1320" dirty="0">
                <a:solidFill>
                  <a:srgbClr val="A9BBC9"/>
                </a:solidFill>
                <a:latin typeface="Noto Sans CJK JP" pitchFamily="34" charset="0"/>
                <a:ea typeface="Noto Sans CJK JP" pitchFamily="34" charset="-122"/>
                <a:cs typeface="Noto Sans CJK JP" pitchFamily="34" charset="-120"/>
              </a:rPr>
              <a:t>木の二点間に測地線は一本</a:t>
            </a:r>
            <a:endParaRPr lang="en-US" sz="1320" dirty="0"/>
          </a:p>
        </p:txBody>
      </p:sp>
      <p:sp>
        <p:nvSpPr>
          <p:cNvPr id="21" name="Shape 19"/>
          <p:cNvSpPr/>
          <p:nvPr/>
        </p:nvSpPr>
        <p:spPr>
          <a:xfrm>
            <a:off x="5879592" y="3154680"/>
            <a:ext cx="347472" cy="475488"/>
          </a:xfrm>
          <a:prstGeom prst="chevron">
            <a:avLst/>
          </a:prstGeom>
          <a:solidFill>
            <a:srgbClr val="2B4658"/>
          </a:solidFill>
          <a:ln w="12700">
            <a:solidFill>
              <a:srgbClr val="2B4658"/>
            </a:solidFill>
            <a:prstDash val="solid"/>
          </a:ln>
        </p:spPr>
      </p:sp>
      <p:sp>
        <p:nvSpPr>
          <p:cNvPr id="22" name="Shape 20"/>
          <p:cNvSpPr/>
          <p:nvPr/>
        </p:nvSpPr>
        <p:spPr>
          <a:xfrm>
            <a:off x="6309360" y="1847088"/>
            <a:ext cx="2331720" cy="3337560"/>
          </a:xfrm>
          <a:prstGeom prst="roundRect">
            <a:avLst>
              <a:gd name="adj" fmla="val 4706"/>
            </a:avLst>
          </a:prstGeom>
          <a:solidFill>
            <a:srgbClr val="0D2231"/>
          </a:solidFill>
          <a:ln w="12700">
            <a:solidFill>
              <a:srgbClr val="F2B65D"/>
            </a:solidFill>
            <a:prstDash val="solid"/>
          </a:ln>
          <a:effectLst>
            <a:outerShdw sx="100000" sy="100000" kx="0" ky="0" algn="bl" rotWithShape="0" blurRad="12700" dist="50800" dir="2700000">
              <a:srgbClr val="000000">
                <a:alpha val="18000"/>
              </a:srgbClr>
            </a:outerShdw>
          </a:effectLst>
        </p:spPr>
      </p:sp>
      <p:sp>
        <p:nvSpPr>
          <p:cNvPr id="23" name="Shape 21"/>
          <p:cNvSpPr/>
          <p:nvPr/>
        </p:nvSpPr>
        <p:spPr>
          <a:xfrm>
            <a:off x="7114032" y="2139696"/>
            <a:ext cx="713232" cy="713232"/>
          </a:xfrm>
          <a:prstGeom prst="ellipse">
            <a:avLst/>
          </a:prstGeom>
          <a:solidFill>
            <a:srgbClr val="F2B65D"/>
          </a:solidFill>
          <a:ln w="25400">
            <a:solidFill>
              <a:srgbClr val="07131E"/>
            </a:solidFill>
            <a:prstDash val="solid"/>
          </a:ln>
        </p:spPr>
      </p:sp>
      <p:sp>
        <p:nvSpPr>
          <p:cNvPr id="24" name="Text 22"/>
          <p:cNvSpPr/>
          <p:nvPr/>
        </p:nvSpPr>
        <p:spPr>
          <a:xfrm>
            <a:off x="7114032" y="2286000"/>
            <a:ext cx="713232" cy="256032"/>
          </a:xfrm>
          <a:prstGeom prst="rect">
            <a:avLst/>
          </a:prstGeom>
          <a:noFill/>
          <a:ln/>
        </p:spPr>
        <p:txBody>
          <a:bodyPr wrap="square" lIns="0" tIns="0" rIns="0" bIns="0" rtlCol="0" anchor="ctr"/>
          <a:lstStyle/>
          <a:p>
            <a:pPr algn="ctr" indent="0" marL="0">
              <a:buNone/>
            </a:pPr>
            <a:r>
              <a:rPr lang="en-US" sz="1700" b="1" dirty="0">
                <a:solidFill>
                  <a:srgbClr val="07131E"/>
                </a:solidFill>
                <a:latin typeface="Noto Sans Mono CJK JP" pitchFamily="34" charset="0"/>
                <a:ea typeface="Noto Sans Mono CJK JP" pitchFamily="34" charset="-122"/>
                <a:cs typeface="Noto Sans Mono CJK JP" pitchFamily="34" charset="-120"/>
              </a:rPr>
              <a:t>3</a:t>
            </a:r>
            <a:endParaRPr lang="en-US" sz="1700" dirty="0"/>
          </a:p>
        </p:txBody>
      </p:sp>
      <p:sp>
        <p:nvSpPr>
          <p:cNvPr id="25" name="Text 23"/>
          <p:cNvSpPr/>
          <p:nvPr/>
        </p:nvSpPr>
        <p:spPr>
          <a:xfrm>
            <a:off x="6537960" y="3090672"/>
            <a:ext cx="1874520" cy="365760"/>
          </a:xfrm>
          <a:prstGeom prst="rect">
            <a:avLst/>
          </a:prstGeom>
          <a:noFill/>
          <a:ln/>
        </p:spPr>
        <p:txBody>
          <a:bodyPr wrap="square" lIns="0" tIns="0" rIns="0" bIns="0" rtlCol="0" anchor="ctr"/>
          <a:lstStyle/>
          <a:p>
            <a:pPr algn="ctr" indent="0" marL="0">
              <a:buNone/>
            </a:pPr>
            <a:r>
              <a:rPr lang="en-US" sz="1700" b="1" dirty="0">
                <a:solidFill>
                  <a:srgbClr val="F4F7FA"/>
                </a:solidFill>
                <a:latin typeface="Noto Sans CJK JP" pitchFamily="34" charset="0"/>
                <a:ea typeface="Noto Sans CJK JP" pitchFamily="34" charset="-122"/>
                <a:cs typeface="Noto Sans CJK JP" pitchFamily="34" charset="-120"/>
              </a:rPr>
              <a:t>距離の加法</a:t>
            </a:r>
            <a:endParaRPr lang="en-US" sz="1700" dirty="0"/>
          </a:p>
        </p:txBody>
      </p:sp>
      <p:sp>
        <p:nvSpPr>
          <p:cNvPr id="26" name="Text 24"/>
          <p:cNvSpPr/>
          <p:nvPr/>
        </p:nvSpPr>
        <p:spPr>
          <a:xfrm>
            <a:off x="6556248" y="3730752"/>
            <a:ext cx="1837944" cy="713232"/>
          </a:xfrm>
          <a:prstGeom prst="rect">
            <a:avLst/>
          </a:prstGeom>
          <a:noFill/>
          <a:ln/>
        </p:spPr>
        <p:txBody>
          <a:bodyPr wrap="square" lIns="0" tIns="0" rIns="0" bIns="0" rtlCol="0" anchor="ctr">
            <a:normAutofit/>
          </a:bodyPr>
          <a:lstStyle/>
          <a:p>
            <a:pPr algn="ctr" indent="0" marL="0">
              <a:buNone/>
            </a:pPr>
            <a:r>
              <a:rPr lang="en-US" sz="1320" dirty="0">
                <a:solidFill>
                  <a:srgbClr val="A9BBC9"/>
                </a:solidFill>
                <a:latin typeface="Noto Sans CJK JP" pitchFamily="34" charset="0"/>
                <a:ea typeface="Noto Sans CJK JP" pitchFamily="34" charset="-122"/>
                <a:cs typeface="Noto Sans CJK JP" pitchFamily="34" charset="-120"/>
              </a:rPr>
              <a:t>分岐点を通る距離が分解</a:t>
            </a:r>
            <a:endParaRPr lang="en-US" sz="1320" dirty="0"/>
          </a:p>
        </p:txBody>
      </p:sp>
      <p:sp>
        <p:nvSpPr>
          <p:cNvPr id="27" name="Shape 25"/>
          <p:cNvSpPr/>
          <p:nvPr/>
        </p:nvSpPr>
        <p:spPr>
          <a:xfrm>
            <a:off x="8714232" y="3154680"/>
            <a:ext cx="347472" cy="475488"/>
          </a:xfrm>
          <a:prstGeom prst="chevron">
            <a:avLst/>
          </a:prstGeom>
          <a:solidFill>
            <a:srgbClr val="2B4658"/>
          </a:solidFill>
          <a:ln w="12700">
            <a:solidFill>
              <a:srgbClr val="2B4658"/>
            </a:solidFill>
            <a:prstDash val="solid"/>
          </a:ln>
        </p:spPr>
      </p:sp>
      <p:sp>
        <p:nvSpPr>
          <p:cNvPr id="28" name="Shape 26"/>
          <p:cNvSpPr/>
          <p:nvPr/>
        </p:nvSpPr>
        <p:spPr>
          <a:xfrm>
            <a:off x="9144000" y="1847088"/>
            <a:ext cx="2331720" cy="3337560"/>
          </a:xfrm>
          <a:prstGeom prst="roundRect">
            <a:avLst>
              <a:gd name="adj" fmla="val 4706"/>
            </a:avLst>
          </a:prstGeom>
          <a:solidFill>
            <a:srgbClr val="0D2231"/>
          </a:solidFill>
          <a:ln w="12700">
            <a:solidFill>
              <a:srgbClr val="A58AE8"/>
            </a:solidFill>
            <a:prstDash val="solid"/>
          </a:ln>
          <a:effectLst>
            <a:outerShdw sx="100000" sy="100000" kx="0" ky="0" algn="bl" rotWithShape="0" blurRad="12700" dist="50800" dir="2700000">
              <a:srgbClr val="000000">
                <a:alpha val="18000"/>
              </a:srgbClr>
            </a:outerShdw>
          </a:effectLst>
        </p:spPr>
      </p:sp>
      <p:sp>
        <p:nvSpPr>
          <p:cNvPr id="29" name="Shape 27"/>
          <p:cNvSpPr/>
          <p:nvPr/>
        </p:nvSpPr>
        <p:spPr>
          <a:xfrm>
            <a:off x="9948672" y="2139696"/>
            <a:ext cx="713232" cy="713232"/>
          </a:xfrm>
          <a:prstGeom prst="ellipse">
            <a:avLst/>
          </a:prstGeom>
          <a:solidFill>
            <a:srgbClr val="A58AE8"/>
          </a:solidFill>
          <a:ln w="25400">
            <a:solidFill>
              <a:srgbClr val="07131E"/>
            </a:solidFill>
            <a:prstDash val="solid"/>
          </a:ln>
        </p:spPr>
      </p:sp>
      <p:sp>
        <p:nvSpPr>
          <p:cNvPr id="30" name="Text 28"/>
          <p:cNvSpPr/>
          <p:nvPr/>
        </p:nvSpPr>
        <p:spPr>
          <a:xfrm>
            <a:off x="9948672" y="2286000"/>
            <a:ext cx="713232" cy="256032"/>
          </a:xfrm>
          <a:prstGeom prst="rect">
            <a:avLst/>
          </a:prstGeom>
          <a:noFill/>
          <a:ln/>
        </p:spPr>
        <p:txBody>
          <a:bodyPr wrap="square" lIns="0" tIns="0" rIns="0" bIns="0" rtlCol="0" anchor="ctr"/>
          <a:lstStyle/>
          <a:p>
            <a:pPr algn="ctr" indent="0" marL="0">
              <a:buNone/>
            </a:pPr>
            <a:r>
              <a:rPr lang="en-US" sz="1700" b="1" dirty="0">
                <a:solidFill>
                  <a:srgbClr val="07131E"/>
                </a:solidFill>
                <a:latin typeface="Noto Sans Mono CJK JP" pitchFamily="34" charset="0"/>
                <a:ea typeface="Noto Sans Mono CJK JP" pitchFamily="34" charset="-122"/>
                <a:cs typeface="Noto Sans Mono CJK JP" pitchFamily="34" charset="-120"/>
              </a:rPr>
              <a:t>4</a:t>
            </a:r>
            <a:endParaRPr lang="en-US" sz="1700" dirty="0"/>
          </a:p>
        </p:txBody>
      </p:sp>
      <p:sp>
        <p:nvSpPr>
          <p:cNvPr id="31" name="Text 29"/>
          <p:cNvSpPr/>
          <p:nvPr/>
        </p:nvSpPr>
        <p:spPr>
          <a:xfrm>
            <a:off x="9372600" y="3090672"/>
            <a:ext cx="1874520" cy="365760"/>
          </a:xfrm>
          <a:prstGeom prst="rect">
            <a:avLst/>
          </a:prstGeom>
          <a:noFill/>
          <a:ln/>
        </p:spPr>
        <p:txBody>
          <a:bodyPr wrap="square" lIns="0" tIns="0" rIns="0" bIns="0" rtlCol="0" anchor="ctr"/>
          <a:lstStyle/>
          <a:p>
            <a:pPr algn="ctr" indent="0" marL="0">
              <a:buNone/>
            </a:pPr>
            <a:r>
              <a:rPr lang="en-US" sz="1700" b="1" dirty="0">
                <a:solidFill>
                  <a:srgbClr val="F4F7FA"/>
                </a:solidFill>
                <a:latin typeface="Noto Sans CJK JP" pitchFamily="34" charset="0"/>
                <a:ea typeface="Noto Sans CJK JP" pitchFamily="34" charset="-122"/>
                <a:cs typeface="Noto Sans CJK JP" pitchFamily="34" charset="-120"/>
              </a:rPr>
              <a:t>級数の和</a:t>
            </a:r>
            <a:endParaRPr lang="en-US" sz="1700" dirty="0"/>
          </a:p>
        </p:txBody>
      </p:sp>
      <p:sp>
        <p:nvSpPr>
          <p:cNvPr id="32" name="Text 30"/>
          <p:cNvSpPr/>
          <p:nvPr/>
        </p:nvSpPr>
        <p:spPr>
          <a:xfrm>
            <a:off x="9390888" y="3730752"/>
            <a:ext cx="1837944" cy="713232"/>
          </a:xfrm>
          <a:prstGeom prst="rect">
            <a:avLst/>
          </a:prstGeom>
          <a:noFill/>
          <a:ln/>
        </p:spPr>
        <p:txBody>
          <a:bodyPr wrap="square" lIns="0" tIns="0" rIns="0" bIns="0" rtlCol="0" anchor="ctr">
            <a:normAutofit/>
          </a:bodyPr>
          <a:lstStyle/>
          <a:p>
            <a:pPr algn="ctr" indent="0" marL="0">
              <a:buNone/>
            </a:pPr>
            <a:r>
              <a:rPr lang="en-US" sz="1320" dirty="0">
                <a:solidFill>
                  <a:srgbClr val="A9BBC9"/>
                </a:solidFill>
                <a:latin typeface="Noto Sans CJK JP" pitchFamily="34" charset="0"/>
                <a:ea typeface="Noto Sans CJK JP" pitchFamily="34" charset="-122"/>
                <a:cs typeface="Noto Sans CJK JP" pitchFamily="34" charset="-120"/>
              </a:rPr>
              <a:t>頂点和が局所ゼータ関数へ</a:t>
            </a:r>
            <a:endParaRPr lang="en-US" sz="1320" dirty="0"/>
          </a:p>
        </p:txBody>
      </p:sp>
      <p:sp>
        <p:nvSpPr>
          <p:cNvPr id="33" name="Shape 31"/>
          <p:cNvSpPr/>
          <p:nvPr/>
        </p:nvSpPr>
        <p:spPr>
          <a:xfrm>
            <a:off x="1234440" y="5440680"/>
            <a:ext cx="9738360" cy="786384"/>
          </a:xfrm>
          <a:prstGeom prst="roundRect">
            <a:avLst>
              <a:gd name="adj" fmla="val 13953"/>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34" name="Text 32"/>
          <p:cNvSpPr/>
          <p:nvPr/>
        </p:nvSpPr>
        <p:spPr>
          <a:xfrm>
            <a:off x="1399032" y="5550408"/>
            <a:ext cx="940917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局所ゼータ関数は、p進的な幾何級数の和</a:t>
            </a:r>
            <a:endParaRPr lang="en-US" sz="1050" dirty="0"/>
          </a:p>
        </p:txBody>
      </p:sp>
      <p:pic>
        <p:nvPicPr>
          <p:cNvPr id="3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22501" y="5833872"/>
            <a:ext cx="2162237" cy="2834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TENSOR NETWORKS</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p進 CFT の経路積分は、木上のテンソルネットワークになる</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適切に公理化されたp進 CFTの全相関関数を再現</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18</a:t>
            </a:r>
            <a:endParaRPr lang="en-US" sz="1000" dirty="0"/>
          </a:p>
        </p:txBody>
      </p:sp>
      <p:sp>
        <p:nvSpPr>
          <p:cNvPr id="8" name="Text 6"/>
          <p:cNvSpPr/>
          <p:nvPr/>
        </p:nvSpPr>
        <p:spPr>
          <a:xfrm>
            <a:off x="548640" y="6547104"/>
            <a:ext cx="9966960" cy="146304"/>
          </a:xfrm>
          <a:prstGeom prst="rect">
            <a:avLst/>
          </a:prstGeom>
          <a:noFill/>
          <a:ln/>
        </p:spPr>
        <p:txBody>
          <a:bodyPr wrap="square" lIns="0" tIns="0" rIns="0" bIns="0" rtlCol="0" anchor="ctr">
            <a:normAutofit/>
          </a:bodyPr>
          <a:lstStyle/>
          <a:p>
            <a:pPr indent="0" marL="0">
              <a:buNone/>
            </a:pPr>
            <a:r>
              <a:rPr lang="en-US" sz="730" dirty="0">
                <a:solidFill>
                  <a:srgbClr val="7890A1"/>
                </a:solidFill>
                <a:latin typeface="Noto Sans CJK JP" pitchFamily="34" charset="0"/>
                <a:ea typeface="Noto Sans CJK JP" pitchFamily="34" charset="-122"/>
                <a:cs typeface="Noto Sans CJK JP" pitchFamily="34" charset="-120"/>
              </a:rPr>
              <a:t>出典: Hung, Li &amp; Melby-Thompson, JHEP 04 (2019) 170</a:t>
            </a:r>
            <a:endParaRPr lang="en-US" sz="730" dirty="0"/>
          </a:p>
        </p:txBody>
      </p:sp>
      <p:sp>
        <p:nvSpPr>
          <p:cNvPr id="9" name="Text 7"/>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18 / 24</a:t>
            </a:r>
            <a:endParaRPr lang="en-US" sz="750" dirty="0"/>
          </a:p>
        </p:txBody>
      </p:sp>
      <p:sp>
        <p:nvSpPr>
          <p:cNvPr id="10" name="Shape 8"/>
          <p:cNvSpPr/>
          <p:nvPr/>
        </p:nvSpPr>
        <p:spPr>
          <a:xfrm>
            <a:off x="594360" y="1700784"/>
            <a:ext cx="6583680" cy="4462272"/>
          </a:xfrm>
          <a:prstGeom prst="roundRect">
            <a:avLst>
              <a:gd name="adj" fmla="val 2459"/>
            </a:avLst>
          </a:prstGeom>
          <a:solidFill>
            <a:srgbClr val="0D2231"/>
          </a:solidFill>
          <a:ln w="12700">
            <a:solidFill>
              <a:srgbClr val="A58AE8"/>
            </a:solidFill>
            <a:prstDash val="solid"/>
          </a:ln>
          <a:effectLst>
            <a:outerShdw sx="100000" sy="100000" kx="0" ky="0" algn="bl" rotWithShape="0" blurRad="12700" dist="50800" dir="2700000">
              <a:srgbClr val="000000">
                <a:alpha val="18000"/>
              </a:srgbClr>
            </a:outerShdw>
          </a:effectLst>
        </p:spPr>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8680" y="2011680"/>
            <a:ext cx="6035040" cy="3246120"/>
          </a:xfrm>
          <a:prstGeom prst="rect">
            <a:avLst/>
          </a:prstGeom>
        </p:spPr>
      </p:pic>
      <p:sp>
        <p:nvSpPr>
          <p:cNvPr id="12" name="Text 9"/>
          <p:cNvSpPr/>
          <p:nvPr/>
        </p:nvSpPr>
        <p:spPr>
          <a:xfrm>
            <a:off x="1280160" y="5212080"/>
            <a:ext cx="5212080" cy="640080"/>
          </a:xfrm>
          <a:prstGeom prst="rect">
            <a:avLst/>
          </a:prstGeom>
          <a:noFill/>
          <a:ln/>
        </p:spPr>
        <p:txBody>
          <a:bodyPr wrap="square" lIns="0" tIns="0" rIns="0" bIns="0" rtlCol="0" anchor="ctr">
            <a:normAutofit/>
          </a:bodyPr>
          <a:lstStyle/>
          <a:p>
            <a:pPr algn="ctr" indent="0" marL="0">
              <a:buNone/>
            </a:pPr>
            <a:r>
              <a:rPr lang="en-US" sz="1300" dirty="0">
                <a:solidFill>
                  <a:srgbClr val="F4F7FA"/>
                </a:solidFill>
                <a:latin typeface="Noto Sans CJK JP" pitchFamily="34" charset="0"/>
                <a:ea typeface="Noto Sans CJK JP" pitchFamily="34" charset="-122"/>
                <a:cs typeface="Noto Sans CJK JP" pitchFamily="34" charset="-120"/>
              </a:rPr>
              <a:t>各頂点：OPEデータを持つテンソル</a:t>
            </a:r>
            <a:endParaRPr lang="en-US" sz="1300" dirty="0"/>
          </a:p>
          <a:p>
            <a:pPr algn="ctr" indent="0" marL="0">
              <a:buNone/>
            </a:pPr>
            <a:r>
              <a:rPr lang="en-US" sz="1300" dirty="0">
                <a:solidFill>
                  <a:srgbClr val="F4F7FA"/>
                </a:solidFill>
                <a:latin typeface="Noto Sans CJK JP" pitchFamily="34" charset="0"/>
                <a:ea typeface="Noto Sans CJK JP" pitchFamily="34" charset="-122"/>
                <a:cs typeface="Noto Sans CJK JP" pitchFamily="34" charset="-120"/>
              </a:rPr>
              <a:t>各辺：演算子ラベルの縮約</a:t>
            </a:r>
            <a:endParaRPr lang="en-US" sz="1300" dirty="0"/>
          </a:p>
          <a:p>
            <a:pPr algn="ctr" indent="0" marL="0">
              <a:buNone/>
            </a:pPr>
            <a:r>
              <a:rPr lang="en-US" sz="1300" dirty="0">
                <a:solidFill>
                  <a:srgbClr val="F4F7FA"/>
                </a:solidFill>
                <a:latin typeface="Noto Sans CJK JP" pitchFamily="34" charset="0"/>
                <a:ea typeface="Noto Sans CJK JP" pitchFamily="34" charset="-122"/>
                <a:cs typeface="Noto Sans CJK JP" pitchFamily="34" charset="-120"/>
              </a:rPr>
              <a:t>境界脚：外部演算子・ソース</a:t>
            </a:r>
            <a:endParaRPr lang="en-US" sz="1300" dirty="0"/>
          </a:p>
        </p:txBody>
      </p:sp>
      <p:sp>
        <p:nvSpPr>
          <p:cNvPr id="13" name="Shape 10"/>
          <p:cNvSpPr/>
          <p:nvPr/>
        </p:nvSpPr>
        <p:spPr>
          <a:xfrm>
            <a:off x="7406640" y="1700784"/>
            <a:ext cx="4160520" cy="1170432"/>
          </a:xfrm>
          <a:prstGeom prst="roundRect">
            <a:avLst>
              <a:gd name="adj" fmla="val 9375"/>
            </a:avLst>
          </a:prstGeom>
          <a:solidFill>
            <a:srgbClr val="0B1C2A"/>
          </a:solidFill>
          <a:ln w="12700">
            <a:solidFill>
              <a:srgbClr val="55D8E0"/>
            </a:solidFill>
            <a:prstDash val="solid"/>
          </a:ln>
        </p:spPr>
      </p:sp>
      <p:sp>
        <p:nvSpPr>
          <p:cNvPr id="14" name="Text 11"/>
          <p:cNvSpPr/>
          <p:nvPr/>
        </p:nvSpPr>
        <p:spPr>
          <a:xfrm>
            <a:off x="7699248" y="1938528"/>
            <a:ext cx="731520" cy="237744"/>
          </a:xfrm>
          <a:prstGeom prst="rect">
            <a:avLst/>
          </a:prstGeom>
          <a:noFill/>
          <a:ln/>
        </p:spPr>
        <p:txBody>
          <a:bodyPr wrap="square" lIns="0" tIns="0" rIns="0" bIns="0" rtlCol="0" anchor="ctr"/>
          <a:lstStyle/>
          <a:p>
            <a:pPr indent="0" marL="0">
              <a:buNone/>
            </a:pPr>
            <a:r>
              <a:rPr lang="en-US" sz="1300" b="1" dirty="0">
                <a:solidFill>
                  <a:srgbClr val="55D8E0"/>
                </a:solidFill>
                <a:latin typeface="Noto Sans CJK JP" pitchFamily="34" charset="0"/>
                <a:ea typeface="Noto Sans CJK JP" pitchFamily="34" charset="-122"/>
                <a:cs typeface="Noto Sans CJK JP" pitchFamily="34" charset="-120"/>
              </a:rPr>
              <a:t>厳密性</a:t>
            </a:r>
            <a:endParaRPr lang="en-US" sz="1300" dirty="0"/>
          </a:p>
        </p:txBody>
      </p:sp>
      <p:sp>
        <p:nvSpPr>
          <p:cNvPr id="15" name="Text 12"/>
          <p:cNvSpPr/>
          <p:nvPr/>
        </p:nvSpPr>
        <p:spPr>
          <a:xfrm>
            <a:off x="8458200" y="1920240"/>
            <a:ext cx="2697480" cy="502920"/>
          </a:xfrm>
          <a:prstGeom prst="rect">
            <a:avLst/>
          </a:prstGeom>
          <a:noFill/>
          <a:ln/>
        </p:spPr>
        <p:txBody>
          <a:bodyPr wrap="square" lIns="0" tIns="0" rIns="0" bIns="0" rtlCol="0" anchor="ctr">
            <a:normAutofit/>
          </a:bodyPr>
          <a:lstStyle/>
          <a:p>
            <a:pPr indent="0" marL="0">
              <a:buNone/>
            </a:pPr>
            <a:r>
              <a:rPr lang="en-US" sz="1250" dirty="0">
                <a:solidFill>
                  <a:srgbClr val="F4F7FA"/>
                </a:solidFill>
                <a:latin typeface="Noto Sans CJK JP" pitchFamily="34" charset="0"/>
                <a:ea typeface="Noto Sans CJK JP" pitchFamily="34" charset="-122"/>
                <a:cs typeface="Noto Sans CJK JP" pitchFamily="34" charset="-120"/>
              </a:rPr>
              <a:t>単なる可視化ではなく、CFTの経路積分と同値</a:t>
            </a:r>
            <a:endParaRPr lang="en-US" sz="1250" dirty="0"/>
          </a:p>
        </p:txBody>
      </p:sp>
      <p:sp>
        <p:nvSpPr>
          <p:cNvPr id="16" name="Shape 13"/>
          <p:cNvSpPr/>
          <p:nvPr/>
        </p:nvSpPr>
        <p:spPr>
          <a:xfrm>
            <a:off x="7406640" y="3063240"/>
            <a:ext cx="4160520" cy="1170432"/>
          </a:xfrm>
          <a:prstGeom prst="roundRect">
            <a:avLst>
              <a:gd name="adj" fmla="val 9375"/>
            </a:avLst>
          </a:prstGeom>
          <a:solidFill>
            <a:srgbClr val="0B1C2A"/>
          </a:solidFill>
          <a:ln w="12700">
            <a:solidFill>
              <a:srgbClr val="67D3A5"/>
            </a:solidFill>
            <a:prstDash val="solid"/>
          </a:ln>
        </p:spPr>
      </p:sp>
      <p:sp>
        <p:nvSpPr>
          <p:cNvPr id="17" name="Text 14"/>
          <p:cNvSpPr/>
          <p:nvPr/>
        </p:nvSpPr>
        <p:spPr>
          <a:xfrm>
            <a:off x="7699248" y="3300984"/>
            <a:ext cx="822960" cy="237744"/>
          </a:xfrm>
          <a:prstGeom prst="rect">
            <a:avLst/>
          </a:prstGeom>
          <a:noFill/>
          <a:ln/>
        </p:spPr>
        <p:txBody>
          <a:bodyPr wrap="square" lIns="0" tIns="0" rIns="0" bIns="0" rtlCol="0" anchor="ctr"/>
          <a:lstStyle/>
          <a:p>
            <a:pPr indent="0" marL="0">
              <a:buNone/>
            </a:pPr>
            <a:r>
              <a:rPr lang="en-US" sz="1300" b="1" dirty="0">
                <a:solidFill>
                  <a:srgbClr val="67D3A5"/>
                </a:solidFill>
                <a:latin typeface="Noto Sans CJK JP" pitchFamily="34" charset="0"/>
                <a:ea typeface="Noto Sans CJK JP" pitchFamily="34" charset="-122"/>
                <a:cs typeface="Noto Sans CJK JP" pitchFamily="34" charset="-120"/>
              </a:rPr>
              <a:t>適用範囲</a:t>
            </a:r>
            <a:endParaRPr lang="en-US" sz="1300" dirty="0"/>
          </a:p>
        </p:txBody>
      </p:sp>
      <p:sp>
        <p:nvSpPr>
          <p:cNvPr id="18" name="Text 15"/>
          <p:cNvSpPr/>
          <p:nvPr/>
        </p:nvSpPr>
        <p:spPr>
          <a:xfrm>
            <a:off x="8549640" y="3282696"/>
            <a:ext cx="2606040" cy="502920"/>
          </a:xfrm>
          <a:prstGeom prst="rect">
            <a:avLst/>
          </a:prstGeom>
          <a:noFill/>
          <a:ln/>
        </p:spPr>
        <p:txBody>
          <a:bodyPr wrap="square" lIns="0" tIns="0" rIns="0" bIns="0" rtlCol="0" anchor="ctr">
            <a:normAutofit/>
          </a:bodyPr>
          <a:lstStyle/>
          <a:p>
            <a:pPr indent="0" marL="0">
              <a:buNone/>
            </a:pPr>
            <a:r>
              <a:rPr lang="en-US" sz="1250" dirty="0">
                <a:solidFill>
                  <a:srgbClr val="F4F7FA"/>
                </a:solidFill>
                <a:latin typeface="Noto Sans CJK JP" pitchFamily="34" charset="0"/>
                <a:ea typeface="Noto Sans CJK JP" pitchFamily="34" charset="-122"/>
                <a:cs typeface="Noto Sans CJK JP" pitchFamily="34" charset="-120"/>
              </a:rPr>
              <a:t>平面だけでなく、高種数p進曲線の相関関数へ拡張</a:t>
            </a:r>
            <a:endParaRPr lang="en-US" sz="1250" dirty="0"/>
          </a:p>
        </p:txBody>
      </p:sp>
      <p:sp>
        <p:nvSpPr>
          <p:cNvPr id="19" name="Shape 16"/>
          <p:cNvSpPr/>
          <p:nvPr/>
        </p:nvSpPr>
        <p:spPr>
          <a:xfrm>
            <a:off x="7406640" y="4425696"/>
            <a:ext cx="4160520" cy="1737360"/>
          </a:xfrm>
          <a:prstGeom prst="roundRect">
            <a:avLst>
              <a:gd name="adj" fmla="val 6316"/>
            </a:avLst>
          </a:prstGeom>
          <a:solidFill>
            <a:srgbClr val="0B1C2A"/>
          </a:solidFill>
          <a:ln w="12700">
            <a:solidFill>
              <a:srgbClr val="F2B65D"/>
            </a:solidFill>
            <a:prstDash val="solid"/>
          </a:ln>
        </p:spPr>
      </p:sp>
      <p:sp>
        <p:nvSpPr>
          <p:cNvPr id="20" name="Text 17"/>
          <p:cNvSpPr/>
          <p:nvPr/>
        </p:nvSpPr>
        <p:spPr>
          <a:xfrm>
            <a:off x="7699248" y="4681728"/>
            <a:ext cx="822960" cy="237744"/>
          </a:xfrm>
          <a:prstGeom prst="rect">
            <a:avLst/>
          </a:prstGeom>
          <a:noFill/>
          <a:ln/>
        </p:spPr>
        <p:txBody>
          <a:bodyPr wrap="square" lIns="0" tIns="0" rIns="0" bIns="0" rtlCol="0" anchor="ctr"/>
          <a:lstStyle/>
          <a:p>
            <a:pPr indent="0" marL="0">
              <a:buNone/>
            </a:pPr>
            <a:r>
              <a:rPr lang="en-US" sz="1300" b="1" dirty="0">
                <a:solidFill>
                  <a:srgbClr val="F2B65D"/>
                </a:solidFill>
                <a:latin typeface="Noto Sans CJK JP" pitchFamily="34" charset="0"/>
                <a:ea typeface="Noto Sans CJK JP" pitchFamily="34" charset="-122"/>
                <a:cs typeface="Noto Sans CJK JP" pitchFamily="34" charset="-120"/>
              </a:rPr>
              <a:t>RGフロー</a:t>
            </a:r>
            <a:endParaRPr lang="en-US" sz="1300" dirty="0"/>
          </a:p>
        </p:txBody>
      </p:sp>
      <p:sp>
        <p:nvSpPr>
          <p:cNvPr id="21" name="Text 18"/>
          <p:cNvSpPr/>
          <p:nvPr/>
        </p:nvSpPr>
        <p:spPr>
          <a:xfrm>
            <a:off x="8549640" y="4645152"/>
            <a:ext cx="2615184" cy="1005840"/>
          </a:xfrm>
          <a:prstGeom prst="rect">
            <a:avLst/>
          </a:prstGeom>
          <a:noFill/>
          <a:ln/>
        </p:spPr>
        <p:txBody>
          <a:bodyPr wrap="square" lIns="0" tIns="0" rIns="0" bIns="0" rtlCol="0" anchor="ctr">
            <a:normAutofit/>
          </a:bodyPr>
          <a:lstStyle/>
          <a:p>
            <a:pPr indent="0" marL="0">
              <a:buNone/>
            </a:pPr>
            <a:r>
              <a:rPr lang="en-US" sz="1230" dirty="0">
                <a:solidFill>
                  <a:srgbClr val="F4F7FA"/>
                </a:solidFill>
                <a:latin typeface="Noto Sans CJK JP" pitchFamily="34" charset="0"/>
                <a:ea typeface="Noto Sans CJK JP" pitchFamily="34" charset="-122"/>
                <a:cs typeface="Noto Sans CJK JP" pitchFamily="34" charset="-120"/>
              </a:rPr>
              <a:t>境界条件の変形がネットワーク内部へ伝播し、赤外固定点も再びp進 CFTになる。木の深さが粗視化の段階として機能する。</a:t>
            </a:r>
            <a:endParaRPr lang="en-US" sz="123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EXTENSIONS</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拡張：グラフ重力・スピン・創発Einstein方程式</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単純なスカラー模型から、幾何とゲージ構造へ</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19</a:t>
            </a:r>
            <a:endParaRPr lang="en-US" sz="1000" dirty="0"/>
          </a:p>
        </p:txBody>
      </p:sp>
      <p:sp>
        <p:nvSpPr>
          <p:cNvPr id="8" name="Text 6"/>
          <p:cNvSpPr/>
          <p:nvPr/>
        </p:nvSpPr>
        <p:spPr>
          <a:xfrm>
            <a:off x="548640" y="6547104"/>
            <a:ext cx="9966960" cy="146304"/>
          </a:xfrm>
          <a:prstGeom prst="rect">
            <a:avLst/>
          </a:prstGeom>
          <a:noFill/>
          <a:ln/>
        </p:spPr>
        <p:txBody>
          <a:bodyPr wrap="square" lIns="0" tIns="0" rIns="0" bIns="0" rtlCol="0" anchor="ctr">
            <a:normAutofit/>
          </a:bodyPr>
          <a:lstStyle/>
          <a:p>
            <a:pPr indent="0" marL="0">
              <a:buNone/>
            </a:pPr>
            <a:r>
              <a:rPr lang="en-US" sz="730" dirty="0">
                <a:solidFill>
                  <a:srgbClr val="7890A1"/>
                </a:solidFill>
                <a:latin typeface="Noto Sans CJK JP" pitchFamily="34" charset="0"/>
                <a:ea typeface="Noto Sans CJK JP" pitchFamily="34" charset="-122"/>
                <a:cs typeface="Noto Sans CJK JP" pitchFamily="34" charset="-120"/>
              </a:rPr>
              <a:t>出典: Gubser et al., JHEP 06 (2017) 157; Gubser, Jepsen &amp; Trundy, J. Phys. A 52 (2019) 144004; Chen, Liu &amp; Hung, arXiv:2102.12022/12023</a:t>
            </a:r>
            <a:endParaRPr lang="en-US" sz="730" dirty="0"/>
          </a:p>
        </p:txBody>
      </p:sp>
      <p:sp>
        <p:nvSpPr>
          <p:cNvPr id="9" name="Text 7"/>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19 / 24</a:t>
            </a:r>
            <a:endParaRPr lang="en-US" sz="750" dirty="0"/>
          </a:p>
        </p:txBody>
      </p:sp>
      <p:sp>
        <p:nvSpPr>
          <p:cNvPr id="10" name="Shape 8"/>
          <p:cNvSpPr/>
          <p:nvPr/>
        </p:nvSpPr>
        <p:spPr>
          <a:xfrm>
            <a:off x="594360" y="1719072"/>
            <a:ext cx="3520440" cy="1965960"/>
          </a:xfrm>
          <a:prstGeom prst="roundRect">
            <a:avLst>
              <a:gd name="adj" fmla="val 5581"/>
            </a:avLst>
          </a:prstGeom>
          <a:solidFill>
            <a:srgbClr val="0D2231"/>
          </a:solidFill>
          <a:ln w="12700">
            <a:solidFill>
              <a:srgbClr val="55D8E0"/>
            </a:solidFill>
            <a:prstDash val="solid"/>
          </a:ln>
          <a:effectLst>
            <a:outerShdw sx="100000" sy="100000" kx="0" ky="0" algn="bl" rotWithShape="0" blurRad="12700" dist="50800" dir="2700000">
              <a:srgbClr val="000000">
                <a:alpha val="18000"/>
              </a:srgbClr>
            </a:outerShdw>
          </a:effectLst>
        </p:spPr>
      </p:sp>
      <p:sp>
        <p:nvSpPr>
          <p:cNvPr id="11" name="Shape 9"/>
          <p:cNvSpPr/>
          <p:nvPr/>
        </p:nvSpPr>
        <p:spPr>
          <a:xfrm>
            <a:off x="822960" y="1947672"/>
            <a:ext cx="658368" cy="658368"/>
          </a:xfrm>
          <a:prstGeom prst="line">
            <a:avLst/>
          </a:prstGeom>
          <a:solidFill>
            <a:srgbClr val="0B1C2A">
              <a:alpha val="0"/>
            </a:srgbClr>
          </a:solidFill>
          <a:ln w="38100">
            <a:solidFill>
              <a:srgbClr val="55D8E0"/>
            </a:solidFill>
            <a:prstDash val="solid"/>
          </a:ln>
        </p:spPr>
      </p:sp>
      <p:sp>
        <p:nvSpPr>
          <p:cNvPr id="12" name="Shape 10"/>
          <p:cNvSpPr/>
          <p:nvPr/>
        </p:nvSpPr>
        <p:spPr>
          <a:xfrm>
            <a:off x="777240" y="1901952"/>
            <a:ext cx="164592" cy="164592"/>
          </a:xfrm>
          <a:prstGeom prst="ellipse">
            <a:avLst/>
          </a:prstGeom>
          <a:solidFill>
            <a:srgbClr val="55D8E0"/>
          </a:solidFill>
          <a:ln w="12700">
            <a:solidFill>
              <a:srgbClr val="55D8E0"/>
            </a:solidFill>
            <a:prstDash val="solid"/>
          </a:ln>
        </p:spPr>
      </p:sp>
      <p:sp>
        <p:nvSpPr>
          <p:cNvPr id="13" name="Shape 11"/>
          <p:cNvSpPr/>
          <p:nvPr/>
        </p:nvSpPr>
        <p:spPr>
          <a:xfrm>
            <a:off x="1371600" y="2496312"/>
            <a:ext cx="164592" cy="164592"/>
          </a:xfrm>
          <a:prstGeom prst="ellipse">
            <a:avLst/>
          </a:prstGeom>
          <a:solidFill>
            <a:srgbClr val="55D8E0"/>
          </a:solidFill>
          <a:ln w="12700">
            <a:solidFill>
              <a:srgbClr val="55D8E0"/>
            </a:solidFill>
            <a:prstDash val="solid"/>
          </a:ln>
        </p:spPr>
      </p:sp>
      <p:sp>
        <p:nvSpPr>
          <p:cNvPr id="14" name="Text 12"/>
          <p:cNvSpPr/>
          <p:nvPr/>
        </p:nvSpPr>
        <p:spPr>
          <a:xfrm>
            <a:off x="1600200" y="1975104"/>
            <a:ext cx="2148840" cy="329184"/>
          </a:xfrm>
          <a:prstGeom prst="rect">
            <a:avLst/>
          </a:prstGeom>
          <a:noFill/>
          <a:ln/>
        </p:spPr>
        <p:txBody>
          <a:bodyPr wrap="square" lIns="0" tIns="0" rIns="0" bIns="0" rtlCol="0" anchor="ctr">
            <a:normAutofit/>
          </a:bodyPr>
          <a:lstStyle/>
          <a:p>
            <a:pPr indent="0" marL="0">
              <a:buNone/>
            </a:pPr>
            <a:r>
              <a:rPr lang="en-US" sz="1600" b="1" dirty="0">
                <a:solidFill>
                  <a:srgbClr val="55D8E0"/>
                </a:solidFill>
                <a:latin typeface="Noto Sans CJK JP" pitchFamily="34" charset="0"/>
                <a:ea typeface="Noto Sans CJK JP" pitchFamily="34" charset="-122"/>
                <a:cs typeface="Noto Sans CJK JP" pitchFamily="34" charset="-120"/>
              </a:rPr>
              <a:t>辺長ダイナミクス</a:t>
            </a:r>
            <a:endParaRPr lang="en-US" sz="1600" dirty="0"/>
          </a:p>
        </p:txBody>
      </p:sp>
      <p:sp>
        <p:nvSpPr>
          <p:cNvPr id="15" name="Text 13"/>
          <p:cNvSpPr/>
          <p:nvPr/>
        </p:nvSpPr>
        <p:spPr>
          <a:xfrm>
            <a:off x="850392" y="2743200"/>
            <a:ext cx="3008376" cy="658368"/>
          </a:xfrm>
          <a:prstGeom prst="rect">
            <a:avLst/>
          </a:prstGeom>
          <a:noFill/>
          <a:ln/>
        </p:spPr>
        <p:txBody>
          <a:bodyPr wrap="square" lIns="0" tIns="0" rIns="0" bIns="0" rtlCol="0" anchor="ctr">
            <a:normAutofit/>
          </a:bodyPr>
          <a:lstStyle/>
          <a:p>
            <a:pPr indent="0" marL="0">
              <a:buNone/>
            </a:pPr>
            <a:r>
              <a:rPr lang="en-US" sz="1250" dirty="0">
                <a:solidFill>
                  <a:srgbClr val="F4F7FA"/>
                </a:solidFill>
                <a:latin typeface="Noto Sans CJK JP" pitchFamily="34" charset="0"/>
                <a:ea typeface="Noto Sans CJK JP" pitchFamily="34" charset="-122"/>
                <a:cs typeface="Noto Sans CJK JP" pitchFamily="34" charset="-120"/>
              </a:rPr>
              <a:t>辺の長さを変数にし、グラフ曲率と離散Einstein–Hilbert型作用を構成。正則木は一定の負曲率。</a:t>
            </a:r>
            <a:endParaRPr lang="en-US" sz="1250" dirty="0"/>
          </a:p>
        </p:txBody>
      </p:sp>
      <p:sp>
        <p:nvSpPr>
          <p:cNvPr id="16" name="Shape 14"/>
          <p:cNvSpPr/>
          <p:nvPr/>
        </p:nvSpPr>
        <p:spPr>
          <a:xfrm>
            <a:off x="4334256" y="1719072"/>
            <a:ext cx="3520440" cy="1965960"/>
          </a:xfrm>
          <a:prstGeom prst="roundRect">
            <a:avLst>
              <a:gd name="adj" fmla="val 5581"/>
            </a:avLst>
          </a:prstGeom>
          <a:solidFill>
            <a:srgbClr val="0D2231"/>
          </a:solidFill>
          <a:ln w="12700">
            <a:solidFill>
              <a:srgbClr val="F2B65D"/>
            </a:solidFill>
            <a:prstDash val="solid"/>
          </a:ln>
          <a:effectLst>
            <a:outerShdw sx="100000" sy="100000" kx="0" ky="0" algn="bl" rotWithShape="0" blurRad="12700" dist="50800" dir="2700000">
              <a:srgbClr val="000000">
                <a:alpha val="18000"/>
              </a:srgbClr>
            </a:outerShdw>
          </a:effectLst>
        </p:spPr>
      </p:sp>
      <p:sp>
        <p:nvSpPr>
          <p:cNvPr id="17" name="Shape 15"/>
          <p:cNvSpPr/>
          <p:nvPr/>
        </p:nvSpPr>
        <p:spPr>
          <a:xfrm>
            <a:off x="4562856" y="1947672"/>
            <a:ext cx="658368" cy="658368"/>
          </a:xfrm>
          <a:prstGeom prst="arc">
            <a:avLst/>
          </a:prstGeom>
          <a:solidFill>
            <a:srgbClr val="0B1C2A">
              <a:alpha val="0"/>
            </a:srgbClr>
          </a:solidFill>
          <a:ln w="38100">
            <a:solidFill>
              <a:srgbClr val="F2B65D"/>
            </a:solidFill>
            <a:prstDash val="solid"/>
          </a:ln>
        </p:spPr>
      </p:sp>
      <p:sp>
        <p:nvSpPr>
          <p:cNvPr id="18" name="Text 16"/>
          <p:cNvSpPr/>
          <p:nvPr/>
        </p:nvSpPr>
        <p:spPr>
          <a:xfrm>
            <a:off x="5340096" y="1975104"/>
            <a:ext cx="2148840" cy="329184"/>
          </a:xfrm>
          <a:prstGeom prst="rect">
            <a:avLst/>
          </a:prstGeom>
          <a:noFill/>
          <a:ln/>
        </p:spPr>
        <p:txBody>
          <a:bodyPr wrap="square" lIns="0" tIns="0" rIns="0" bIns="0" rtlCol="0" anchor="ctr">
            <a:normAutofit/>
          </a:bodyPr>
          <a:lstStyle/>
          <a:p>
            <a:pPr indent="0" marL="0">
              <a:buNone/>
            </a:pPr>
            <a:r>
              <a:rPr lang="en-US" sz="1600" b="1" dirty="0">
                <a:solidFill>
                  <a:srgbClr val="F2B65D"/>
                </a:solidFill>
                <a:latin typeface="Noto Sans CJK JP" pitchFamily="34" charset="0"/>
                <a:ea typeface="Noto Sans CJK JP" pitchFamily="34" charset="-122"/>
                <a:cs typeface="Noto Sans CJK JP" pitchFamily="34" charset="-120"/>
              </a:rPr>
              <a:t>p進的なスピン</a:t>
            </a:r>
            <a:endParaRPr lang="en-US" sz="1600" dirty="0"/>
          </a:p>
        </p:txBody>
      </p:sp>
      <p:sp>
        <p:nvSpPr>
          <p:cNvPr id="19" name="Text 17"/>
          <p:cNvSpPr/>
          <p:nvPr/>
        </p:nvSpPr>
        <p:spPr>
          <a:xfrm>
            <a:off x="4590288" y="2743200"/>
            <a:ext cx="3008376" cy="658368"/>
          </a:xfrm>
          <a:prstGeom prst="rect">
            <a:avLst/>
          </a:prstGeom>
          <a:noFill/>
          <a:ln/>
        </p:spPr>
        <p:txBody>
          <a:bodyPr wrap="square" lIns="0" tIns="0" rIns="0" bIns="0" rtlCol="0" anchor="ctr">
            <a:normAutofit/>
          </a:bodyPr>
          <a:lstStyle/>
          <a:p>
            <a:pPr indent="0" marL="0">
              <a:buNone/>
            </a:pPr>
            <a:r>
              <a:rPr lang="en-US" sz="1250" dirty="0">
                <a:solidFill>
                  <a:srgbClr val="F4F7FA"/>
                </a:solidFill>
                <a:latin typeface="Noto Sans CJK JP" pitchFamily="34" charset="0"/>
                <a:ea typeface="Noto Sans CJK JP" pitchFamily="34" charset="-122"/>
                <a:cs typeface="Noto Sans CJK JP" pitchFamily="34" charset="-120"/>
              </a:rPr>
              <a:t>符号指標を境界のスピン情報として扱い、木の線グラフ上の非動的ゲージ場とWilson線で再現。</a:t>
            </a:r>
            <a:endParaRPr lang="en-US" sz="1250" dirty="0"/>
          </a:p>
        </p:txBody>
      </p:sp>
      <p:sp>
        <p:nvSpPr>
          <p:cNvPr id="20" name="Shape 18"/>
          <p:cNvSpPr/>
          <p:nvPr/>
        </p:nvSpPr>
        <p:spPr>
          <a:xfrm>
            <a:off x="8074152" y="1719072"/>
            <a:ext cx="3520440" cy="1965960"/>
          </a:xfrm>
          <a:prstGeom prst="roundRect">
            <a:avLst>
              <a:gd name="adj" fmla="val 5581"/>
            </a:avLst>
          </a:prstGeom>
          <a:solidFill>
            <a:srgbClr val="0D2231"/>
          </a:solidFill>
          <a:ln w="12700">
            <a:solidFill>
              <a:srgbClr val="67D3A5"/>
            </a:solidFill>
            <a:prstDash val="solid"/>
          </a:ln>
          <a:effectLst>
            <a:outerShdw sx="100000" sy="100000" kx="0" ky="0" algn="bl" rotWithShape="0" blurRad="12700" dist="50800" dir="2700000">
              <a:srgbClr val="000000">
                <a:alpha val="18000"/>
              </a:srgbClr>
            </a:outerShdw>
          </a:effectLst>
        </p:spPr>
      </p:sp>
      <p:sp>
        <p:nvSpPr>
          <p:cNvPr id="21" name="Shape 19"/>
          <p:cNvSpPr/>
          <p:nvPr/>
        </p:nvSpPr>
        <p:spPr>
          <a:xfrm>
            <a:off x="8302752" y="1947672"/>
            <a:ext cx="658368" cy="658368"/>
          </a:xfrm>
          <a:prstGeom prst="hexagon">
            <a:avLst/>
          </a:prstGeom>
          <a:solidFill>
            <a:srgbClr val="67D3A5"/>
          </a:solidFill>
          <a:ln w="38100">
            <a:solidFill>
              <a:srgbClr val="67D3A5"/>
            </a:solidFill>
            <a:prstDash val="solid"/>
          </a:ln>
        </p:spPr>
      </p:sp>
      <p:sp>
        <p:nvSpPr>
          <p:cNvPr id="22" name="Text 20"/>
          <p:cNvSpPr/>
          <p:nvPr/>
        </p:nvSpPr>
        <p:spPr>
          <a:xfrm>
            <a:off x="9079992" y="1975104"/>
            <a:ext cx="2148840" cy="329184"/>
          </a:xfrm>
          <a:prstGeom prst="rect">
            <a:avLst/>
          </a:prstGeom>
          <a:noFill/>
          <a:ln/>
        </p:spPr>
        <p:txBody>
          <a:bodyPr wrap="square" lIns="0" tIns="0" rIns="0" bIns="0" rtlCol="0" anchor="ctr">
            <a:normAutofit/>
          </a:bodyPr>
          <a:lstStyle/>
          <a:p>
            <a:pPr indent="0" marL="0">
              <a:buNone/>
            </a:pPr>
            <a:r>
              <a:rPr lang="en-US" sz="1600" b="1" dirty="0">
                <a:solidFill>
                  <a:srgbClr val="67D3A5"/>
                </a:solidFill>
                <a:latin typeface="Noto Sans CJK JP" pitchFamily="34" charset="0"/>
                <a:ea typeface="Noto Sans CJK JP" pitchFamily="34" charset="-122"/>
                <a:cs typeface="Noto Sans CJK JP" pitchFamily="34" charset="-120"/>
              </a:rPr>
              <a:t>創発Einstein方程式</a:t>
            </a:r>
            <a:endParaRPr lang="en-US" sz="1600" dirty="0"/>
          </a:p>
        </p:txBody>
      </p:sp>
      <p:sp>
        <p:nvSpPr>
          <p:cNvPr id="23" name="Text 21"/>
          <p:cNvSpPr/>
          <p:nvPr/>
        </p:nvSpPr>
        <p:spPr>
          <a:xfrm>
            <a:off x="8330184" y="2743200"/>
            <a:ext cx="3008376" cy="658368"/>
          </a:xfrm>
          <a:prstGeom prst="rect">
            <a:avLst/>
          </a:prstGeom>
          <a:noFill/>
          <a:ln/>
        </p:spPr>
        <p:txBody>
          <a:bodyPr wrap="square" lIns="0" tIns="0" rIns="0" bIns="0" rtlCol="0" anchor="ctr">
            <a:normAutofit/>
          </a:bodyPr>
          <a:lstStyle/>
          <a:p>
            <a:pPr indent="0" marL="0">
              <a:buNone/>
            </a:pPr>
            <a:r>
              <a:rPr lang="en-US" sz="1250" dirty="0">
                <a:solidFill>
                  <a:srgbClr val="F4F7FA"/>
                </a:solidFill>
                <a:latin typeface="Noto Sans CJK JP" pitchFamily="34" charset="0"/>
                <a:ea typeface="Noto Sans CJK JP" pitchFamily="34" charset="-122"/>
                <a:cs typeface="Noto Sans CJK JP" pitchFamily="34" charset="-120"/>
              </a:rPr>
              <a:t>テンソルネットワークの変形から距離と曲率を定義し、摂動的に一意なグラフ版Einstein方程式を導く。</a:t>
            </a:r>
            <a:endParaRPr lang="en-US" sz="1250" dirty="0"/>
          </a:p>
        </p:txBody>
      </p:sp>
      <p:sp>
        <p:nvSpPr>
          <p:cNvPr id="24" name="Shape 22"/>
          <p:cNvSpPr/>
          <p:nvPr/>
        </p:nvSpPr>
        <p:spPr>
          <a:xfrm>
            <a:off x="594360" y="3968496"/>
            <a:ext cx="3520440" cy="1143000"/>
          </a:xfrm>
          <a:prstGeom prst="roundRect">
            <a:avLst>
              <a:gd name="adj" fmla="val 9600"/>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25" name="Text 23"/>
          <p:cNvSpPr/>
          <p:nvPr/>
        </p:nvSpPr>
        <p:spPr>
          <a:xfrm>
            <a:off x="758952" y="4078224"/>
            <a:ext cx="319125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Wilson線の模式式</a:t>
            </a:r>
            <a:endParaRPr lang="en-US" sz="1050" dirty="0"/>
          </a:p>
        </p:txBody>
      </p:sp>
      <p:pic>
        <p:nvPicPr>
          <p:cNvPr id="2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83611" y="4361688"/>
            <a:ext cx="1941938" cy="640080"/>
          </a:xfrm>
          <a:prstGeom prst="rect">
            <a:avLst/>
          </a:prstGeom>
        </p:spPr>
      </p:pic>
      <p:sp>
        <p:nvSpPr>
          <p:cNvPr id="27" name="Shape 24"/>
          <p:cNvSpPr/>
          <p:nvPr/>
        </p:nvSpPr>
        <p:spPr>
          <a:xfrm>
            <a:off x="4334256" y="3968496"/>
            <a:ext cx="7260336" cy="1975104"/>
          </a:xfrm>
          <a:prstGeom prst="roundRect">
            <a:avLst>
              <a:gd name="adj" fmla="val 5556"/>
            </a:avLst>
          </a:prstGeom>
          <a:solidFill>
            <a:srgbClr val="0B1C2A"/>
          </a:solidFill>
          <a:ln w="12700">
            <a:solidFill>
              <a:srgbClr val="A58AE8"/>
            </a:solidFill>
            <a:prstDash val="solid"/>
          </a:ln>
        </p:spPr>
      </p:sp>
      <p:sp>
        <p:nvSpPr>
          <p:cNvPr id="28" name="Text 25"/>
          <p:cNvSpPr/>
          <p:nvPr/>
        </p:nvSpPr>
        <p:spPr>
          <a:xfrm>
            <a:off x="4645152" y="4261104"/>
            <a:ext cx="1234440" cy="274320"/>
          </a:xfrm>
          <a:prstGeom prst="rect">
            <a:avLst/>
          </a:prstGeom>
          <a:noFill/>
          <a:ln/>
        </p:spPr>
        <p:txBody>
          <a:bodyPr wrap="square" lIns="0" tIns="0" rIns="0" bIns="0" rtlCol="0" anchor="ctr"/>
          <a:lstStyle/>
          <a:p>
            <a:pPr indent="0" marL="0">
              <a:buNone/>
            </a:pPr>
            <a:r>
              <a:rPr lang="en-US" sz="1500" b="1" dirty="0">
                <a:solidFill>
                  <a:srgbClr val="A58AE8"/>
                </a:solidFill>
                <a:latin typeface="Noto Sans CJK JP" pitchFamily="34" charset="0"/>
                <a:ea typeface="Noto Sans CJK JP" pitchFamily="34" charset="-122"/>
                <a:cs typeface="Noto Sans CJK JP" pitchFamily="34" charset="-120"/>
              </a:rPr>
              <a:t>共通する発想</a:t>
            </a:r>
            <a:endParaRPr lang="en-US" sz="1500" dirty="0"/>
          </a:p>
        </p:txBody>
      </p:sp>
      <p:sp>
        <p:nvSpPr>
          <p:cNvPr id="29" name="Shape 26"/>
          <p:cNvSpPr/>
          <p:nvPr/>
        </p:nvSpPr>
        <p:spPr>
          <a:xfrm>
            <a:off x="4663440" y="4782312"/>
            <a:ext cx="91440" cy="91440"/>
          </a:xfrm>
          <a:prstGeom prst="ellipse">
            <a:avLst/>
          </a:prstGeom>
          <a:solidFill>
            <a:srgbClr val="A58AE8"/>
          </a:solidFill>
          <a:ln w="12700">
            <a:solidFill>
              <a:srgbClr val="A58AE8"/>
            </a:solidFill>
            <a:prstDash val="solid"/>
          </a:ln>
        </p:spPr>
      </p:sp>
      <p:sp>
        <p:nvSpPr>
          <p:cNvPr id="30" name="Text 27"/>
          <p:cNvSpPr/>
          <p:nvPr/>
        </p:nvSpPr>
        <p:spPr>
          <a:xfrm>
            <a:off x="4846320" y="4663440"/>
            <a:ext cx="6172200" cy="347472"/>
          </a:xfrm>
          <a:prstGeom prst="rect">
            <a:avLst/>
          </a:prstGeom>
          <a:noFill/>
          <a:ln/>
        </p:spPr>
        <p:txBody>
          <a:bodyPr wrap="square" lIns="0" tIns="0" rIns="0" bIns="0" rtlCol="0" anchor="ctr">
            <a:normAutofit/>
          </a:bodyPr>
          <a:lstStyle/>
          <a:p>
            <a:pPr indent="0" marL="0">
              <a:buNone/>
            </a:pPr>
            <a:r>
              <a:rPr lang="en-US" sz="1230" dirty="0">
                <a:solidFill>
                  <a:srgbClr val="F4F7FA"/>
                </a:solidFill>
                <a:latin typeface="Noto Sans CJK JP" pitchFamily="34" charset="0"/>
                <a:ea typeface="Noto Sans CJK JP" pitchFamily="34" charset="-122"/>
                <a:cs typeface="Noto Sans CJK JP" pitchFamily="34" charset="-120"/>
              </a:rPr>
              <a:t>境界CFTのデータから、木の辺長・曲率・ゲージホロノミーを復元する</a:t>
            </a:r>
            <a:endParaRPr lang="en-US" sz="1230" dirty="0"/>
          </a:p>
        </p:txBody>
      </p:sp>
      <p:sp>
        <p:nvSpPr>
          <p:cNvPr id="31" name="Shape 28"/>
          <p:cNvSpPr/>
          <p:nvPr/>
        </p:nvSpPr>
        <p:spPr>
          <a:xfrm>
            <a:off x="4663440" y="5129784"/>
            <a:ext cx="91440" cy="91440"/>
          </a:xfrm>
          <a:prstGeom prst="ellipse">
            <a:avLst/>
          </a:prstGeom>
          <a:solidFill>
            <a:srgbClr val="A58AE8"/>
          </a:solidFill>
          <a:ln w="12700">
            <a:solidFill>
              <a:srgbClr val="A58AE8"/>
            </a:solidFill>
            <a:prstDash val="solid"/>
          </a:ln>
        </p:spPr>
      </p:sp>
      <p:sp>
        <p:nvSpPr>
          <p:cNvPr id="32" name="Text 29"/>
          <p:cNvSpPr/>
          <p:nvPr/>
        </p:nvSpPr>
        <p:spPr>
          <a:xfrm>
            <a:off x="4846320" y="5010912"/>
            <a:ext cx="6172200" cy="347472"/>
          </a:xfrm>
          <a:prstGeom prst="rect">
            <a:avLst/>
          </a:prstGeom>
          <a:noFill/>
          <a:ln/>
        </p:spPr>
        <p:txBody>
          <a:bodyPr wrap="square" lIns="0" tIns="0" rIns="0" bIns="0" rtlCol="0" anchor="ctr">
            <a:normAutofit/>
          </a:bodyPr>
          <a:lstStyle/>
          <a:p>
            <a:pPr indent="0" marL="0">
              <a:buNone/>
            </a:pPr>
            <a:r>
              <a:rPr lang="en-US" sz="1230" dirty="0">
                <a:solidFill>
                  <a:srgbClr val="F4F7FA"/>
                </a:solidFill>
                <a:latin typeface="Noto Sans CJK JP" pitchFamily="34" charset="0"/>
                <a:ea typeface="Noto Sans CJK JP" pitchFamily="34" charset="-122"/>
                <a:cs typeface="Noto Sans CJK JP" pitchFamily="34" charset="-120"/>
              </a:rPr>
              <a:t>連続時空の微分幾何をそのまま移植せず、グラフ上の整合条件から定義する</a:t>
            </a:r>
            <a:endParaRPr lang="en-US" sz="1230" dirty="0"/>
          </a:p>
        </p:txBody>
      </p:sp>
      <p:sp>
        <p:nvSpPr>
          <p:cNvPr id="33" name="Shape 30"/>
          <p:cNvSpPr/>
          <p:nvPr/>
        </p:nvSpPr>
        <p:spPr>
          <a:xfrm>
            <a:off x="4663440" y="5477256"/>
            <a:ext cx="91440" cy="91440"/>
          </a:xfrm>
          <a:prstGeom prst="ellipse">
            <a:avLst/>
          </a:prstGeom>
          <a:solidFill>
            <a:srgbClr val="A58AE8"/>
          </a:solidFill>
          <a:ln w="12700">
            <a:solidFill>
              <a:srgbClr val="A58AE8"/>
            </a:solidFill>
            <a:prstDash val="solid"/>
          </a:ln>
        </p:spPr>
      </p:sp>
      <p:sp>
        <p:nvSpPr>
          <p:cNvPr id="34" name="Text 31"/>
          <p:cNvSpPr/>
          <p:nvPr/>
        </p:nvSpPr>
        <p:spPr>
          <a:xfrm>
            <a:off x="4846320" y="5358384"/>
            <a:ext cx="6172200" cy="347472"/>
          </a:xfrm>
          <a:prstGeom prst="rect">
            <a:avLst/>
          </a:prstGeom>
          <a:noFill/>
          <a:ln/>
        </p:spPr>
        <p:txBody>
          <a:bodyPr wrap="square" lIns="0" tIns="0" rIns="0" bIns="0" rtlCol="0" anchor="ctr">
            <a:normAutofit/>
          </a:bodyPr>
          <a:lstStyle/>
          <a:p>
            <a:pPr indent="0" marL="0">
              <a:buNone/>
            </a:pPr>
            <a:r>
              <a:rPr lang="en-US" sz="1230" dirty="0">
                <a:solidFill>
                  <a:srgbClr val="F4F7FA"/>
                </a:solidFill>
                <a:latin typeface="Noto Sans CJK JP" pitchFamily="34" charset="0"/>
                <a:ea typeface="Noto Sans CJK JP" pitchFamily="34" charset="-122"/>
                <a:cs typeface="Noto Sans CJK JP" pitchFamily="34" charset="-120"/>
              </a:rPr>
              <a:t>まだ完全な量子重力ではないが、幾何が情報から生じる過程を明示できる</a:t>
            </a:r>
            <a:endParaRPr lang="en-US" sz="123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FRONTIER</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有限温度と2026年の前線：Tate曲線・局所高さ関数</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木の商空間に一つの周期を作り、熱・一ループ・数論を接続</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20</a:t>
            </a:r>
            <a:endParaRPr lang="en-US" sz="1000" dirty="0"/>
          </a:p>
        </p:txBody>
      </p:sp>
      <p:sp>
        <p:nvSpPr>
          <p:cNvPr id="8" name="Text 6"/>
          <p:cNvSpPr/>
          <p:nvPr/>
        </p:nvSpPr>
        <p:spPr>
          <a:xfrm>
            <a:off x="548640" y="6547104"/>
            <a:ext cx="9966960" cy="146304"/>
          </a:xfrm>
          <a:prstGeom prst="rect">
            <a:avLst/>
          </a:prstGeom>
          <a:noFill/>
          <a:ln/>
        </p:spPr>
        <p:txBody>
          <a:bodyPr wrap="square" lIns="0" tIns="0" rIns="0" bIns="0" rtlCol="0" anchor="ctr">
            <a:normAutofit/>
          </a:bodyPr>
          <a:lstStyle/>
          <a:p>
            <a:pPr indent="0" marL="0">
              <a:buNone/>
            </a:pPr>
            <a:r>
              <a:rPr lang="en-US" sz="730" dirty="0">
                <a:solidFill>
                  <a:srgbClr val="7890A1"/>
                </a:solidFill>
                <a:latin typeface="Noto Sans CJK JP" pitchFamily="34" charset="0"/>
                <a:ea typeface="Noto Sans CJK JP" pitchFamily="34" charset="-122"/>
                <a:cs typeface="Noto Sans CJK JP" pitchFamily="34" charset="-120"/>
              </a:rPr>
              <a:t>出典: Huang &amp; Jepsen, arXiv:2408.04199v2 (2025); arXiv:2604.00970v1 (2026, preprint)</a:t>
            </a:r>
            <a:endParaRPr lang="en-US" sz="730" dirty="0"/>
          </a:p>
        </p:txBody>
      </p:sp>
      <p:sp>
        <p:nvSpPr>
          <p:cNvPr id="9" name="Text 7"/>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20 / 24</a:t>
            </a:r>
            <a:endParaRPr lang="en-US" sz="750" dirty="0"/>
          </a:p>
        </p:txBody>
      </p:sp>
      <p:sp>
        <p:nvSpPr>
          <p:cNvPr id="10" name="Shape 8"/>
          <p:cNvSpPr/>
          <p:nvPr/>
        </p:nvSpPr>
        <p:spPr>
          <a:xfrm>
            <a:off x="594360" y="1682496"/>
            <a:ext cx="5715000" cy="4498848"/>
          </a:xfrm>
          <a:prstGeom prst="roundRect">
            <a:avLst>
              <a:gd name="adj" fmla="val 2439"/>
            </a:avLst>
          </a:prstGeom>
          <a:solidFill>
            <a:srgbClr val="0D2231"/>
          </a:solidFill>
          <a:ln w="12700">
            <a:solidFill>
              <a:srgbClr val="F2B65D"/>
            </a:solidFill>
            <a:prstDash val="solid"/>
          </a:ln>
          <a:effectLst>
            <a:outerShdw sx="100000" sy="100000" kx="0" ky="0" algn="bl" rotWithShape="0" blurRad="12700" dist="50800" dir="2700000">
              <a:srgbClr val="000000">
                <a:alpha val="18000"/>
              </a:srgbClr>
            </a:outerShdw>
          </a:effectLst>
        </p:spPr>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8680" y="1874520"/>
            <a:ext cx="5166360" cy="3063240"/>
          </a:xfrm>
          <a:prstGeom prst="rect">
            <a:avLst/>
          </a:prstGeom>
        </p:spPr>
      </p:pic>
      <p:sp>
        <p:nvSpPr>
          <p:cNvPr id="12" name="Shape 9"/>
          <p:cNvSpPr/>
          <p:nvPr/>
        </p:nvSpPr>
        <p:spPr>
          <a:xfrm>
            <a:off x="1325880" y="4919472"/>
            <a:ext cx="4251960" cy="868680"/>
          </a:xfrm>
          <a:prstGeom prst="roundRect">
            <a:avLst>
              <a:gd name="adj" fmla="val 12632"/>
            </a:avLst>
          </a:prstGeom>
          <a:solidFill>
            <a:srgbClr val="F8F4E9"/>
          </a:solidFill>
          <a:ln w="12700">
            <a:solidFill>
              <a:srgbClr val="E3DAC5"/>
            </a:solidFill>
            <a:prstDash val="solid"/>
          </a:ln>
          <a:effectLst>
            <a:outerShdw sx="100000" sy="100000" kx="0" ky="0" algn="bl" rotWithShape="0" blurRad="12700" dist="50800" dir="2700000">
              <a:srgbClr val="000000">
                <a:alpha val="18000"/>
              </a:srgbClr>
            </a:outerShdw>
          </a:effectLst>
        </p:spPr>
      </p:sp>
      <p:sp>
        <p:nvSpPr>
          <p:cNvPr id="13" name="Text 10"/>
          <p:cNvSpPr/>
          <p:nvPr/>
        </p:nvSpPr>
        <p:spPr>
          <a:xfrm>
            <a:off x="1490472" y="5029200"/>
            <a:ext cx="3922776" cy="228600"/>
          </a:xfrm>
          <a:prstGeom prst="rect">
            <a:avLst/>
          </a:prstGeom>
          <a:noFill/>
          <a:ln/>
        </p:spPr>
        <p:txBody>
          <a:bodyPr wrap="square" lIns="0" tIns="0" rIns="0" bIns="0" rtlCol="0" anchor="ctr"/>
          <a:lstStyle/>
          <a:p>
            <a:pPr indent="0" marL="0">
              <a:buNone/>
            </a:pPr>
            <a:r>
              <a:rPr lang="en-US" sz="1050" b="1" dirty="0">
                <a:solidFill>
                  <a:srgbClr val="58636B"/>
                </a:solidFill>
                <a:latin typeface="Noto Sans CJK JP" pitchFamily="34" charset="0"/>
                <a:ea typeface="Noto Sans CJK JP" pitchFamily="34" charset="-122"/>
                <a:cs typeface="Noto Sans CJK JP" pitchFamily="34" charset="-120"/>
              </a:rPr>
              <a:t>境界のTate曲線</a:t>
            </a:r>
            <a:endParaRPr lang="en-US" sz="105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83764" y="5312664"/>
            <a:ext cx="1536192" cy="365760"/>
          </a:xfrm>
          <a:prstGeom prst="rect">
            <a:avLst/>
          </a:prstGeom>
        </p:spPr>
      </p:pic>
      <p:sp>
        <p:nvSpPr>
          <p:cNvPr id="15" name="Text 11"/>
          <p:cNvSpPr/>
          <p:nvPr/>
        </p:nvSpPr>
        <p:spPr>
          <a:xfrm>
            <a:off x="1097280" y="5843016"/>
            <a:ext cx="4663440" cy="164592"/>
          </a:xfrm>
          <a:prstGeom prst="rect">
            <a:avLst/>
          </a:prstGeom>
          <a:noFill/>
          <a:ln/>
        </p:spPr>
        <p:txBody>
          <a:bodyPr wrap="square" lIns="0" tIns="0" rIns="0" bIns="0" rtlCol="0" anchor="ctr">
            <a:normAutofit/>
          </a:bodyPr>
          <a:lstStyle/>
          <a:p>
            <a:pPr algn="ctr" indent="0" marL="0">
              <a:buNone/>
            </a:pPr>
            <a:r>
              <a:rPr lang="en-US" sz="1070" dirty="0">
                <a:solidFill>
                  <a:srgbClr val="A9BBC9"/>
                </a:solidFill>
                <a:latin typeface="Noto Sans CJK JP" pitchFamily="34" charset="0"/>
                <a:ea typeface="Noto Sans CJK JP" pitchFamily="34" charset="-122"/>
                <a:cs typeface="Noto Sans CJK JP" pitchFamily="34" charset="-120"/>
              </a:rPr>
              <a:t>木の無限経路を周期同一視 → バルクに一つの thermal cycle</a:t>
            </a:r>
            <a:endParaRPr lang="en-US" sz="1070" dirty="0"/>
          </a:p>
        </p:txBody>
      </p:sp>
      <p:sp>
        <p:nvSpPr>
          <p:cNvPr id="16" name="Text 12"/>
          <p:cNvSpPr/>
          <p:nvPr/>
        </p:nvSpPr>
        <p:spPr>
          <a:xfrm>
            <a:off x="1097280" y="6053328"/>
            <a:ext cx="4663440" cy="128016"/>
          </a:xfrm>
          <a:prstGeom prst="rect">
            <a:avLst/>
          </a:prstGeom>
          <a:noFill/>
          <a:ln/>
        </p:spPr>
        <p:txBody>
          <a:bodyPr wrap="square" lIns="0" tIns="0" rIns="0" bIns="0" rtlCol="0" anchor="ctr">
            <a:normAutofit/>
          </a:bodyPr>
          <a:lstStyle/>
          <a:p>
            <a:pPr algn="ctr" indent="0" marL="0">
              <a:buNone/>
            </a:pPr>
            <a:r>
              <a:rPr lang="en-US" sz="840" dirty="0">
                <a:solidFill>
                  <a:srgbClr val="F2B65D"/>
                </a:solidFill>
                <a:latin typeface="Noto Sans CJK JP" pitchFamily="34" charset="0"/>
                <a:ea typeface="Noto Sans CJK JP" pitchFamily="34" charset="-122"/>
                <a:cs typeface="Noto Sans CJK JP" pitchFamily="34" charset="-120"/>
              </a:rPr>
              <a:t>※ この q は Tate パラメータ。前の q=p^n とは別記号。</a:t>
            </a:r>
            <a:endParaRPr lang="en-US" sz="840" dirty="0"/>
          </a:p>
        </p:txBody>
      </p:sp>
      <p:sp>
        <p:nvSpPr>
          <p:cNvPr id="17" name="Shape 13"/>
          <p:cNvSpPr/>
          <p:nvPr/>
        </p:nvSpPr>
        <p:spPr>
          <a:xfrm>
            <a:off x="6565392" y="1682496"/>
            <a:ext cx="5001768" cy="2039112"/>
          </a:xfrm>
          <a:prstGeom prst="roundRect">
            <a:avLst>
              <a:gd name="adj" fmla="val 5381"/>
            </a:avLst>
          </a:prstGeom>
          <a:solidFill>
            <a:srgbClr val="0B1C2A"/>
          </a:solidFill>
          <a:ln w="12700">
            <a:solidFill>
              <a:srgbClr val="55D8E0"/>
            </a:solidFill>
            <a:prstDash val="solid"/>
          </a:ln>
        </p:spPr>
      </p:sp>
      <p:sp>
        <p:nvSpPr>
          <p:cNvPr id="18" name="Text 14"/>
          <p:cNvSpPr/>
          <p:nvPr/>
        </p:nvSpPr>
        <p:spPr>
          <a:xfrm>
            <a:off x="6858000" y="1956816"/>
            <a:ext cx="4389120" cy="329184"/>
          </a:xfrm>
          <a:prstGeom prst="rect">
            <a:avLst/>
          </a:prstGeom>
          <a:noFill/>
          <a:ln/>
        </p:spPr>
        <p:txBody>
          <a:bodyPr wrap="square" lIns="0" tIns="0" rIns="0" bIns="0" rtlCol="0" anchor="ctr"/>
          <a:lstStyle/>
          <a:p>
            <a:pPr indent="0" marL="0">
              <a:buNone/>
            </a:pPr>
            <a:r>
              <a:rPr lang="en-US" sz="1600" b="1" dirty="0">
                <a:solidFill>
                  <a:srgbClr val="55D8E0"/>
                </a:solidFill>
                <a:latin typeface="Noto Sans CJK JP" pitchFamily="34" charset="0"/>
                <a:ea typeface="Noto Sans CJK JP" pitchFamily="34" charset="-122"/>
                <a:cs typeface="Noto Sans CJK JP" pitchFamily="34" charset="-120"/>
              </a:rPr>
              <a:t>2025  有限温度 p進 AdS/CFT</a:t>
            </a:r>
            <a:endParaRPr lang="en-US" sz="1600" dirty="0"/>
          </a:p>
        </p:txBody>
      </p:sp>
      <p:sp>
        <p:nvSpPr>
          <p:cNvPr id="19" name="Shape 15"/>
          <p:cNvSpPr/>
          <p:nvPr/>
        </p:nvSpPr>
        <p:spPr>
          <a:xfrm>
            <a:off x="6858000" y="2606040"/>
            <a:ext cx="91440" cy="91440"/>
          </a:xfrm>
          <a:prstGeom prst="ellipse">
            <a:avLst/>
          </a:prstGeom>
          <a:solidFill>
            <a:srgbClr val="55D8E0"/>
          </a:solidFill>
          <a:ln w="12700">
            <a:solidFill>
              <a:srgbClr val="55D8E0"/>
            </a:solidFill>
            <a:prstDash val="solid"/>
          </a:ln>
        </p:spPr>
      </p:sp>
      <p:sp>
        <p:nvSpPr>
          <p:cNvPr id="20" name="Text 16"/>
          <p:cNvSpPr/>
          <p:nvPr/>
        </p:nvSpPr>
        <p:spPr>
          <a:xfrm>
            <a:off x="7040880" y="2487168"/>
            <a:ext cx="4069080" cy="320040"/>
          </a:xfrm>
          <a:prstGeom prst="rect">
            <a:avLst/>
          </a:prstGeom>
          <a:noFill/>
          <a:ln/>
        </p:spPr>
        <p:txBody>
          <a:bodyPr wrap="square" lIns="0" tIns="0" rIns="0" bIns="0" rtlCol="0" anchor="ctr">
            <a:normAutofit/>
          </a:bodyPr>
          <a:lstStyle/>
          <a:p>
            <a:pPr indent="0" marL="0">
              <a:buNone/>
            </a:pPr>
            <a:r>
              <a:rPr lang="en-US" sz="1230" dirty="0">
                <a:solidFill>
                  <a:srgbClr val="F4F7FA"/>
                </a:solidFill>
                <a:latin typeface="Noto Sans CJK JP" pitchFamily="34" charset="0"/>
                <a:ea typeface="Noto Sans CJK JP" pitchFamily="34" charset="-122"/>
                <a:cs typeface="Noto Sans CJK JP" pitchFamily="34" charset="-120"/>
              </a:rPr>
              <a:t>自由 massive bulk の境界双対を明示的に導出</a:t>
            </a:r>
            <a:endParaRPr lang="en-US" sz="1230" dirty="0"/>
          </a:p>
        </p:txBody>
      </p:sp>
      <p:sp>
        <p:nvSpPr>
          <p:cNvPr id="21" name="Shape 17"/>
          <p:cNvSpPr/>
          <p:nvPr/>
        </p:nvSpPr>
        <p:spPr>
          <a:xfrm>
            <a:off x="6858000" y="2926080"/>
            <a:ext cx="91440" cy="91440"/>
          </a:xfrm>
          <a:prstGeom prst="ellipse">
            <a:avLst/>
          </a:prstGeom>
          <a:solidFill>
            <a:srgbClr val="55D8E0"/>
          </a:solidFill>
          <a:ln w="12700">
            <a:solidFill>
              <a:srgbClr val="55D8E0"/>
            </a:solidFill>
            <a:prstDash val="solid"/>
          </a:ln>
        </p:spPr>
      </p:sp>
      <p:sp>
        <p:nvSpPr>
          <p:cNvPr id="22" name="Text 18"/>
          <p:cNvSpPr/>
          <p:nvPr/>
        </p:nvSpPr>
        <p:spPr>
          <a:xfrm>
            <a:off x="7040880" y="2807208"/>
            <a:ext cx="4069080" cy="320040"/>
          </a:xfrm>
          <a:prstGeom prst="rect">
            <a:avLst/>
          </a:prstGeom>
          <a:noFill/>
          <a:ln/>
        </p:spPr>
        <p:txBody>
          <a:bodyPr wrap="square" lIns="0" tIns="0" rIns="0" bIns="0" rtlCol="0" anchor="ctr">
            <a:normAutofit/>
          </a:bodyPr>
          <a:lstStyle/>
          <a:p>
            <a:pPr indent="0" marL="0">
              <a:buNone/>
            </a:pPr>
            <a:r>
              <a:rPr lang="en-US" sz="1230" dirty="0">
                <a:solidFill>
                  <a:srgbClr val="F4F7FA"/>
                </a:solidFill>
                <a:latin typeface="Noto Sans CJK JP" pitchFamily="34" charset="0"/>
                <a:ea typeface="Noto Sans CJK JP" pitchFamily="34" charset="-122"/>
                <a:cs typeface="Noto Sans CJK JP" pitchFamily="34" charset="-120"/>
              </a:rPr>
              <a:t>二点関数を一ループ、三点関数を樹木レベルで計算</a:t>
            </a:r>
            <a:endParaRPr lang="en-US" sz="1230" dirty="0"/>
          </a:p>
        </p:txBody>
      </p:sp>
      <p:sp>
        <p:nvSpPr>
          <p:cNvPr id="23" name="Shape 19"/>
          <p:cNvSpPr/>
          <p:nvPr/>
        </p:nvSpPr>
        <p:spPr>
          <a:xfrm>
            <a:off x="6858000" y="3246120"/>
            <a:ext cx="91440" cy="91440"/>
          </a:xfrm>
          <a:prstGeom prst="ellipse">
            <a:avLst/>
          </a:prstGeom>
          <a:solidFill>
            <a:srgbClr val="55D8E0"/>
          </a:solidFill>
          <a:ln w="12700">
            <a:solidFill>
              <a:srgbClr val="55D8E0"/>
            </a:solidFill>
            <a:prstDash val="solid"/>
          </a:ln>
        </p:spPr>
      </p:sp>
      <p:sp>
        <p:nvSpPr>
          <p:cNvPr id="24" name="Text 20"/>
          <p:cNvSpPr/>
          <p:nvPr/>
        </p:nvSpPr>
        <p:spPr>
          <a:xfrm>
            <a:off x="7040880" y="3127248"/>
            <a:ext cx="4069080" cy="320040"/>
          </a:xfrm>
          <a:prstGeom prst="rect">
            <a:avLst/>
          </a:prstGeom>
          <a:noFill/>
          <a:ln/>
        </p:spPr>
        <p:txBody>
          <a:bodyPr wrap="square" lIns="0" tIns="0" rIns="0" bIns="0" rtlCol="0" anchor="ctr">
            <a:normAutofit/>
          </a:bodyPr>
          <a:lstStyle/>
          <a:p>
            <a:pPr indent="0" marL="0">
              <a:buNone/>
            </a:pPr>
            <a:r>
              <a:rPr lang="en-US" sz="1230" dirty="0">
                <a:solidFill>
                  <a:srgbClr val="F4F7FA"/>
                </a:solidFill>
                <a:latin typeface="Noto Sans CJK JP" pitchFamily="34" charset="0"/>
                <a:ea typeface="Noto Sans CJK JP" pitchFamily="34" charset="-122"/>
                <a:cs typeface="Noto Sans CJK JP" pitchFamily="34" charset="-120"/>
              </a:rPr>
              <a:t>実数CFTの有限温度問題を検証する可解模型</a:t>
            </a:r>
            <a:endParaRPr lang="en-US" sz="1230" dirty="0"/>
          </a:p>
        </p:txBody>
      </p:sp>
      <p:sp>
        <p:nvSpPr>
          <p:cNvPr id="25" name="Shape 21"/>
          <p:cNvSpPr/>
          <p:nvPr/>
        </p:nvSpPr>
        <p:spPr>
          <a:xfrm>
            <a:off x="6565392" y="3922776"/>
            <a:ext cx="5001768" cy="2258568"/>
          </a:xfrm>
          <a:prstGeom prst="roundRect">
            <a:avLst>
              <a:gd name="adj" fmla="val 4858"/>
            </a:avLst>
          </a:prstGeom>
          <a:solidFill>
            <a:srgbClr val="0B1C2A"/>
          </a:solidFill>
          <a:ln w="12700">
            <a:solidFill>
              <a:srgbClr val="67D3A5"/>
            </a:solidFill>
            <a:prstDash val="solid"/>
          </a:ln>
        </p:spPr>
      </p:sp>
      <p:sp>
        <p:nvSpPr>
          <p:cNvPr id="26" name="Text 22"/>
          <p:cNvSpPr/>
          <p:nvPr/>
        </p:nvSpPr>
        <p:spPr>
          <a:xfrm>
            <a:off x="6858000" y="4197096"/>
            <a:ext cx="4389120" cy="329184"/>
          </a:xfrm>
          <a:prstGeom prst="rect">
            <a:avLst/>
          </a:prstGeom>
          <a:noFill/>
          <a:ln/>
        </p:spPr>
        <p:txBody>
          <a:bodyPr wrap="square" lIns="0" tIns="0" rIns="0" bIns="0" rtlCol="0" anchor="ctr"/>
          <a:lstStyle/>
          <a:p>
            <a:pPr indent="0" marL="0">
              <a:buNone/>
            </a:pPr>
            <a:r>
              <a:rPr lang="en-US" sz="1600" b="1" dirty="0">
                <a:solidFill>
                  <a:srgbClr val="67D3A5"/>
                </a:solidFill>
                <a:latin typeface="Noto Sans CJK JP" pitchFamily="34" charset="0"/>
                <a:ea typeface="Noto Sans CJK JP" pitchFamily="34" charset="-122"/>
                <a:cs typeface="Noto Sans CJK JP" pitchFamily="34" charset="-120"/>
              </a:rPr>
              <a:t>2026  一ループp進弦とNéron局所高さ</a:t>
            </a:r>
            <a:endParaRPr lang="en-US" sz="1600" dirty="0"/>
          </a:p>
        </p:txBody>
      </p:sp>
      <p:sp>
        <p:nvSpPr>
          <p:cNvPr id="27" name="Shape 23"/>
          <p:cNvSpPr/>
          <p:nvPr/>
        </p:nvSpPr>
        <p:spPr>
          <a:xfrm>
            <a:off x="6858000" y="4828032"/>
            <a:ext cx="91440" cy="91440"/>
          </a:xfrm>
          <a:prstGeom prst="ellipse">
            <a:avLst/>
          </a:prstGeom>
          <a:solidFill>
            <a:srgbClr val="67D3A5"/>
          </a:solidFill>
          <a:ln w="12700">
            <a:solidFill>
              <a:srgbClr val="67D3A5"/>
            </a:solidFill>
            <a:prstDash val="solid"/>
          </a:ln>
        </p:spPr>
      </p:sp>
      <p:sp>
        <p:nvSpPr>
          <p:cNvPr id="28" name="Text 24"/>
          <p:cNvSpPr/>
          <p:nvPr/>
        </p:nvSpPr>
        <p:spPr>
          <a:xfrm>
            <a:off x="7040880" y="4709160"/>
            <a:ext cx="4069080" cy="283464"/>
          </a:xfrm>
          <a:prstGeom prst="rect">
            <a:avLst/>
          </a:prstGeom>
          <a:noFill/>
          <a:ln/>
        </p:spPr>
        <p:txBody>
          <a:bodyPr wrap="square" lIns="0" tIns="0" rIns="0" bIns="0" rtlCol="0" anchor="ctr">
            <a:normAutofit/>
          </a:bodyPr>
          <a:lstStyle/>
          <a:p>
            <a:pPr indent="0" marL="0">
              <a:buNone/>
            </a:pPr>
            <a:r>
              <a:rPr lang="en-US" sz="1210" dirty="0">
                <a:solidFill>
                  <a:srgbClr val="F4F7FA"/>
                </a:solidFill>
                <a:latin typeface="Noto Sans CJK JP" pitchFamily="34" charset="0"/>
                <a:ea typeface="Noto Sans CJK JP" pitchFamily="34" charset="-122"/>
                <a:cs typeface="Noto Sans CJK JP" pitchFamily="34" charset="-120"/>
              </a:rPr>
              <a:t>種数一のSchottky商として世界面を構成</a:t>
            </a:r>
            <a:endParaRPr lang="en-US" sz="1210" dirty="0"/>
          </a:p>
        </p:txBody>
      </p:sp>
      <p:sp>
        <p:nvSpPr>
          <p:cNvPr id="29" name="Shape 25"/>
          <p:cNvSpPr/>
          <p:nvPr/>
        </p:nvSpPr>
        <p:spPr>
          <a:xfrm>
            <a:off x="6858000" y="5111496"/>
            <a:ext cx="91440" cy="91440"/>
          </a:xfrm>
          <a:prstGeom prst="ellipse">
            <a:avLst/>
          </a:prstGeom>
          <a:solidFill>
            <a:srgbClr val="67D3A5"/>
          </a:solidFill>
          <a:ln w="12700">
            <a:solidFill>
              <a:srgbClr val="67D3A5"/>
            </a:solidFill>
            <a:prstDash val="solid"/>
          </a:ln>
        </p:spPr>
      </p:sp>
      <p:sp>
        <p:nvSpPr>
          <p:cNvPr id="30" name="Text 26"/>
          <p:cNvSpPr/>
          <p:nvPr/>
        </p:nvSpPr>
        <p:spPr>
          <a:xfrm>
            <a:off x="7040880" y="4992624"/>
            <a:ext cx="4069080" cy="283464"/>
          </a:xfrm>
          <a:prstGeom prst="rect">
            <a:avLst/>
          </a:prstGeom>
          <a:noFill/>
          <a:ln/>
        </p:spPr>
        <p:txBody>
          <a:bodyPr wrap="square" lIns="0" tIns="0" rIns="0" bIns="0" rtlCol="0" anchor="ctr">
            <a:normAutofit/>
          </a:bodyPr>
          <a:lstStyle/>
          <a:p>
            <a:pPr indent="0" marL="0">
              <a:buNone/>
            </a:pPr>
            <a:r>
              <a:rPr lang="en-US" sz="1210" dirty="0">
                <a:solidFill>
                  <a:srgbClr val="F4F7FA"/>
                </a:solidFill>
                <a:latin typeface="Noto Sans CJK JP" pitchFamily="34" charset="0"/>
                <a:ea typeface="Noto Sans CJK JP" pitchFamily="34" charset="-122"/>
                <a:cs typeface="Noto Sans CJK JP" pitchFamily="34" charset="-120"/>
              </a:rPr>
              <a:t>境界二点関数がTate曲線のNéron局所高さ関数と一致</a:t>
            </a:r>
            <a:endParaRPr lang="en-US" sz="1210" dirty="0"/>
          </a:p>
        </p:txBody>
      </p:sp>
      <p:sp>
        <p:nvSpPr>
          <p:cNvPr id="31" name="Shape 27"/>
          <p:cNvSpPr/>
          <p:nvPr/>
        </p:nvSpPr>
        <p:spPr>
          <a:xfrm>
            <a:off x="6858000" y="5394960"/>
            <a:ext cx="91440" cy="91440"/>
          </a:xfrm>
          <a:prstGeom prst="ellipse">
            <a:avLst/>
          </a:prstGeom>
          <a:solidFill>
            <a:srgbClr val="67D3A5"/>
          </a:solidFill>
          <a:ln w="12700">
            <a:solidFill>
              <a:srgbClr val="67D3A5"/>
            </a:solidFill>
            <a:prstDash val="solid"/>
          </a:ln>
        </p:spPr>
      </p:sp>
      <p:sp>
        <p:nvSpPr>
          <p:cNvPr id="32" name="Text 28"/>
          <p:cNvSpPr/>
          <p:nvPr/>
        </p:nvSpPr>
        <p:spPr>
          <a:xfrm>
            <a:off x="7040880" y="5276088"/>
            <a:ext cx="4069080" cy="283464"/>
          </a:xfrm>
          <a:prstGeom prst="rect">
            <a:avLst/>
          </a:prstGeom>
          <a:noFill/>
          <a:ln/>
        </p:spPr>
        <p:txBody>
          <a:bodyPr wrap="square" lIns="0" tIns="0" rIns="0" bIns="0" rtlCol="0" anchor="ctr">
            <a:normAutofit/>
          </a:bodyPr>
          <a:lstStyle/>
          <a:p>
            <a:pPr indent="0" marL="0">
              <a:buNone/>
            </a:pPr>
            <a:r>
              <a:rPr lang="en-US" sz="1210" dirty="0">
                <a:solidFill>
                  <a:srgbClr val="F4F7FA"/>
                </a:solidFill>
                <a:latin typeface="Noto Sans CJK JP" pitchFamily="34" charset="0"/>
                <a:ea typeface="Noto Sans CJK JP" pitchFamily="34" charset="-122"/>
                <a:cs typeface="Noto Sans CJK JP" pitchFamily="34" charset="-120"/>
              </a:rPr>
              <a:t>弦理論・ホログラフィー・算術幾何の接点を具体化</a:t>
            </a:r>
            <a:endParaRPr lang="en-US" sz="1210" dirty="0"/>
          </a:p>
        </p:txBody>
      </p:sp>
      <p:sp>
        <p:nvSpPr>
          <p:cNvPr id="33" name="Shape 29"/>
          <p:cNvSpPr/>
          <p:nvPr/>
        </p:nvSpPr>
        <p:spPr>
          <a:xfrm>
            <a:off x="6858000" y="5678424"/>
            <a:ext cx="91440" cy="91440"/>
          </a:xfrm>
          <a:prstGeom prst="ellipse">
            <a:avLst/>
          </a:prstGeom>
          <a:solidFill>
            <a:srgbClr val="67D3A5"/>
          </a:solidFill>
          <a:ln w="12700">
            <a:solidFill>
              <a:srgbClr val="67D3A5"/>
            </a:solidFill>
            <a:prstDash val="solid"/>
          </a:ln>
        </p:spPr>
      </p:sp>
      <p:sp>
        <p:nvSpPr>
          <p:cNvPr id="34" name="Text 30"/>
          <p:cNvSpPr/>
          <p:nvPr/>
        </p:nvSpPr>
        <p:spPr>
          <a:xfrm>
            <a:off x="7040880" y="5559552"/>
            <a:ext cx="4069080" cy="283464"/>
          </a:xfrm>
          <a:prstGeom prst="rect">
            <a:avLst/>
          </a:prstGeom>
          <a:noFill/>
          <a:ln/>
        </p:spPr>
        <p:txBody>
          <a:bodyPr wrap="square" lIns="0" tIns="0" rIns="0" bIns="0" rtlCol="0" anchor="ctr">
            <a:normAutofit/>
          </a:bodyPr>
          <a:lstStyle/>
          <a:p>
            <a:pPr indent="0" marL="0">
              <a:buNone/>
            </a:pPr>
            <a:r>
              <a:rPr lang="en-US" sz="1210" dirty="0">
                <a:solidFill>
                  <a:srgbClr val="F4F7FA"/>
                </a:solidFill>
                <a:latin typeface="Noto Sans CJK JP" pitchFamily="34" charset="0"/>
                <a:ea typeface="Noto Sans CJK JP" pitchFamily="34" charset="-122"/>
                <a:cs typeface="Noto Sans CJK JP" pitchFamily="34" charset="-120"/>
              </a:rPr>
              <a:t>現時点ではプレプリント段階</a:t>
            </a:r>
            <a:endParaRPr lang="en-US" sz="121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ASSESSMENT</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この理論が教えること／教えないこと</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可解模型としての価値と、物理的外挿の限界を分ける</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21</a:t>
            </a:r>
            <a:endParaRPr lang="en-US" sz="1000" dirty="0"/>
          </a:p>
        </p:txBody>
      </p:sp>
      <p:sp>
        <p:nvSpPr>
          <p:cNvPr id="8" name="Text 6"/>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21 / 24</a:t>
            </a:r>
            <a:endParaRPr lang="en-US" sz="750" dirty="0"/>
          </a:p>
        </p:txBody>
      </p:sp>
      <p:sp>
        <p:nvSpPr>
          <p:cNvPr id="9" name="Shape 7"/>
          <p:cNvSpPr/>
          <p:nvPr/>
        </p:nvSpPr>
        <p:spPr>
          <a:xfrm>
            <a:off x="594360" y="1700784"/>
            <a:ext cx="5394960" cy="4462272"/>
          </a:xfrm>
          <a:prstGeom prst="roundRect">
            <a:avLst>
              <a:gd name="adj" fmla="val 2459"/>
            </a:avLst>
          </a:prstGeom>
          <a:solidFill>
            <a:srgbClr val="0D2231"/>
          </a:solidFill>
          <a:ln w="12700">
            <a:solidFill>
              <a:srgbClr val="67D3A5"/>
            </a:solidFill>
            <a:prstDash val="solid"/>
          </a:ln>
          <a:effectLst>
            <a:outerShdw sx="100000" sy="100000" kx="0" ky="0" algn="bl" rotWithShape="0" blurRad="12700" dist="50800" dir="2700000">
              <a:srgbClr val="000000">
                <a:alpha val="18000"/>
              </a:srgbClr>
            </a:outerShdw>
          </a:effectLst>
        </p:spPr>
      </p:sp>
      <p:sp>
        <p:nvSpPr>
          <p:cNvPr id="10" name="Shape 8"/>
          <p:cNvSpPr/>
          <p:nvPr/>
        </p:nvSpPr>
        <p:spPr>
          <a:xfrm>
            <a:off x="896112" y="1938528"/>
            <a:ext cx="1097280" cy="310896"/>
          </a:xfrm>
          <a:prstGeom prst="roundRect">
            <a:avLst/>
          </a:prstGeom>
          <a:solidFill>
            <a:srgbClr val="153246"/>
          </a:solidFill>
          <a:ln w="13970">
            <a:solidFill>
              <a:srgbClr val="67D3A5"/>
            </a:solidFill>
            <a:prstDash val="solid"/>
          </a:ln>
        </p:spPr>
      </p:sp>
      <p:sp>
        <p:nvSpPr>
          <p:cNvPr id="11" name="Text 9"/>
          <p:cNvSpPr/>
          <p:nvPr/>
        </p:nvSpPr>
        <p:spPr>
          <a:xfrm>
            <a:off x="969264" y="1984248"/>
            <a:ext cx="950976" cy="201168"/>
          </a:xfrm>
          <a:prstGeom prst="rect">
            <a:avLst/>
          </a:prstGeom>
          <a:noFill/>
          <a:ln/>
        </p:spPr>
        <p:txBody>
          <a:bodyPr wrap="square" lIns="0" tIns="0" rIns="0" bIns="0" rtlCol="0" anchor="ctr">
            <a:normAutofit/>
          </a:bodyPr>
          <a:lstStyle/>
          <a:p>
            <a:pPr algn="ctr" indent="0" marL="0">
              <a:buNone/>
            </a:pPr>
            <a:r>
              <a:rPr lang="en-US" sz="1000" b="1" dirty="0">
                <a:solidFill>
                  <a:srgbClr val="67D3A5"/>
                </a:solidFill>
                <a:latin typeface="Noto Sans CJK JP" pitchFamily="34" charset="0"/>
                <a:ea typeface="Noto Sans CJK JP" pitchFamily="34" charset="-122"/>
                <a:cs typeface="Noto Sans CJK JP" pitchFamily="34" charset="-120"/>
              </a:rPr>
              <a:t>教えること</a:t>
            </a:r>
            <a:endParaRPr lang="en-US" sz="1000" dirty="0"/>
          </a:p>
        </p:txBody>
      </p:sp>
      <p:sp>
        <p:nvSpPr>
          <p:cNvPr id="12" name="Shape 10"/>
          <p:cNvSpPr/>
          <p:nvPr/>
        </p:nvSpPr>
        <p:spPr>
          <a:xfrm>
            <a:off x="914400" y="2633472"/>
            <a:ext cx="91440" cy="91440"/>
          </a:xfrm>
          <a:prstGeom prst="ellipse">
            <a:avLst/>
          </a:prstGeom>
          <a:solidFill>
            <a:srgbClr val="67D3A5"/>
          </a:solidFill>
          <a:ln w="12700">
            <a:solidFill>
              <a:srgbClr val="67D3A5"/>
            </a:solidFill>
            <a:prstDash val="solid"/>
          </a:ln>
        </p:spPr>
      </p:sp>
      <p:sp>
        <p:nvSpPr>
          <p:cNvPr id="13" name="Text 11"/>
          <p:cNvSpPr/>
          <p:nvPr/>
        </p:nvSpPr>
        <p:spPr>
          <a:xfrm>
            <a:off x="1097280" y="2514600"/>
            <a:ext cx="4389120" cy="521208"/>
          </a:xfrm>
          <a:prstGeom prst="rect">
            <a:avLst/>
          </a:prstGeom>
          <a:noFill/>
          <a:ln/>
        </p:spPr>
        <p:txBody>
          <a:bodyPr wrap="square" lIns="0" tIns="0" rIns="0" bIns="0" rtlCol="0" anchor="ctr">
            <a:normAutofit/>
          </a:bodyPr>
          <a:lstStyle/>
          <a:p>
            <a:pPr indent="0" marL="0">
              <a:buNone/>
            </a:pPr>
            <a:r>
              <a:rPr lang="en-US" sz="1330" dirty="0">
                <a:solidFill>
                  <a:srgbClr val="F4F7FA"/>
                </a:solidFill>
                <a:latin typeface="Noto Sans CJK JP" pitchFamily="34" charset="0"/>
                <a:ea typeface="Noto Sans CJK JP" pitchFamily="34" charset="-122"/>
                <a:cs typeface="Noto Sans CJK JP" pitchFamily="34" charset="-120"/>
              </a:rPr>
              <a:t>非局所弦場作用とタキオン凝縮を厳密に追える</a:t>
            </a:r>
            <a:endParaRPr lang="en-US" sz="1330" dirty="0"/>
          </a:p>
        </p:txBody>
      </p:sp>
      <p:sp>
        <p:nvSpPr>
          <p:cNvPr id="14" name="Shape 12"/>
          <p:cNvSpPr/>
          <p:nvPr/>
        </p:nvSpPr>
        <p:spPr>
          <a:xfrm>
            <a:off x="914400" y="3154680"/>
            <a:ext cx="91440" cy="91440"/>
          </a:xfrm>
          <a:prstGeom prst="ellipse">
            <a:avLst/>
          </a:prstGeom>
          <a:solidFill>
            <a:srgbClr val="67D3A5"/>
          </a:solidFill>
          <a:ln w="12700">
            <a:solidFill>
              <a:srgbClr val="67D3A5"/>
            </a:solidFill>
            <a:prstDash val="solid"/>
          </a:ln>
        </p:spPr>
      </p:sp>
      <p:sp>
        <p:nvSpPr>
          <p:cNvPr id="15" name="Text 13"/>
          <p:cNvSpPr/>
          <p:nvPr/>
        </p:nvSpPr>
        <p:spPr>
          <a:xfrm>
            <a:off x="1097280" y="3035808"/>
            <a:ext cx="4389120" cy="521208"/>
          </a:xfrm>
          <a:prstGeom prst="rect">
            <a:avLst/>
          </a:prstGeom>
          <a:noFill/>
          <a:ln/>
        </p:spPr>
        <p:txBody>
          <a:bodyPr wrap="square" lIns="0" tIns="0" rIns="0" bIns="0" rtlCol="0" anchor="ctr">
            <a:normAutofit/>
          </a:bodyPr>
          <a:lstStyle/>
          <a:p>
            <a:pPr indent="0" marL="0">
              <a:buNone/>
            </a:pPr>
            <a:r>
              <a:rPr lang="en-US" sz="1330" dirty="0">
                <a:solidFill>
                  <a:srgbClr val="F4F7FA"/>
                </a:solidFill>
                <a:latin typeface="Noto Sans CJK JP" pitchFamily="34" charset="0"/>
                <a:ea typeface="Noto Sans CJK JP" pitchFamily="34" charset="-122"/>
                <a:cs typeface="Noto Sans CJK JP" pitchFamily="34" charset="-120"/>
              </a:rPr>
              <a:t>RGの階層がバルクの木幾何になる仕組みを可視化できる</a:t>
            </a:r>
            <a:endParaRPr lang="en-US" sz="1330" dirty="0"/>
          </a:p>
        </p:txBody>
      </p:sp>
      <p:sp>
        <p:nvSpPr>
          <p:cNvPr id="16" name="Shape 14"/>
          <p:cNvSpPr/>
          <p:nvPr/>
        </p:nvSpPr>
        <p:spPr>
          <a:xfrm>
            <a:off x="914400" y="3675888"/>
            <a:ext cx="91440" cy="91440"/>
          </a:xfrm>
          <a:prstGeom prst="ellipse">
            <a:avLst/>
          </a:prstGeom>
          <a:solidFill>
            <a:srgbClr val="67D3A5"/>
          </a:solidFill>
          <a:ln w="12700">
            <a:solidFill>
              <a:srgbClr val="67D3A5"/>
            </a:solidFill>
            <a:prstDash val="solid"/>
          </a:ln>
        </p:spPr>
      </p:sp>
      <p:sp>
        <p:nvSpPr>
          <p:cNvPr id="17" name="Text 15"/>
          <p:cNvSpPr/>
          <p:nvPr/>
        </p:nvSpPr>
        <p:spPr>
          <a:xfrm>
            <a:off x="1097280" y="3557016"/>
            <a:ext cx="4389120" cy="521208"/>
          </a:xfrm>
          <a:prstGeom prst="rect">
            <a:avLst/>
          </a:prstGeom>
          <a:noFill/>
          <a:ln/>
        </p:spPr>
        <p:txBody>
          <a:bodyPr wrap="square" lIns="0" tIns="0" rIns="0" bIns="0" rtlCol="0" anchor="ctr">
            <a:normAutofit/>
          </a:bodyPr>
          <a:lstStyle/>
          <a:p>
            <a:pPr indent="0" marL="0">
              <a:buNone/>
            </a:pPr>
            <a:r>
              <a:rPr lang="en-US" sz="1330" dirty="0">
                <a:solidFill>
                  <a:srgbClr val="F4F7FA"/>
                </a:solidFill>
                <a:latin typeface="Noto Sans CJK JP" pitchFamily="34" charset="0"/>
                <a:ea typeface="Noto Sans CJK JP" pitchFamily="34" charset="-122"/>
                <a:cs typeface="Noto Sans CJK JP" pitchFamily="34" charset="-120"/>
              </a:rPr>
              <a:t>相関関数・テンソル網・グラフ重力を同じデータで比較できる</a:t>
            </a:r>
            <a:endParaRPr lang="en-US" sz="1330" dirty="0"/>
          </a:p>
        </p:txBody>
      </p:sp>
      <p:sp>
        <p:nvSpPr>
          <p:cNvPr id="18" name="Shape 16"/>
          <p:cNvSpPr/>
          <p:nvPr/>
        </p:nvSpPr>
        <p:spPr>
          <a:xfrm>
            <a:off x="914400" y="4197096"/>
            <a:ext cx="91440" cy="91440"/>
          </a:xfrm>
          <a:prstGeom prst="ellipse">
            <a:avLst/>
          </a:prstGeom>
          <a:solidFill>
            <a:srgbClr val="67D3A5"/>
          </a:solidFill>
          <a:ln w="12700">
            <a:solidFill>
              <a:srgbClr val="67D3A5"/>
            </a:solidFill>
            <a:prstDash val="solid"/>
          </a:ln>
        </p:spPr>
      </p:sp>
      <p:sp>
        <p:nvSpPr>
          <p:cNvPr id="19" name="Text 17"/>
          <p:cNvSpPr/>
          <p:nvPr/>
        </p:nvSpPr>
        <p:spPr>
          <a:xfrm>
            <a:off x="1097280" y="4078224"/>
            <a:ext cx="4389120" cy="521208"/>
          </a:xfrm>
          <a:prstGeom prst="rect">
            <a:avLst/>
          </a:prstGeom>
          <a:noFill/>
          <a:ln/>
        </p:spPr>
        <p:txBody>
          <a:bodyPr wrap="square" lIns="0" tIns="0" rIns="0" bIns="0" rtlCol="0" anchor="ctr">
            <a:normAutofit/>
          </a:bodyPr>
          <a:lstStyle/>
          <a:p>
            <a:pPr indent="0" marL="0">
              <a:buNone/>
            </a:pPr>
            <a:r>
              <a:rPr lang="en-US" sz="1330" dirty="0">
                <a:solidFill>
                  <a:srgbClr val="F4F7FA"/>
                </a:solidFill>
                <a:latin typeface="Noto Sans CJK JP" pitchFamily="34" charset="0"/>
                <a:ea typeface="Noto Sans CJK JP" pitchFamily="34" charset="-122"/>
                <a:cs typeface="Noto Sans CJK JP" pitchFamily="34" charset="-120"/>
              </a:rPr>
              <a:t>局所ゼータ関数・Tate曲線・高さ関数と物理を接続できる</a:t>
            </a:r>
            <a:endParaRPr lang="en-US" sz="1330" dirty="0"/>
          </a:p>
        </p:txBody>
      </p:sp>
      <p:sp>
        <p:nvSpPr>
          <p:cNvPr id="20" name="Shape 18"/>
          <p:cNvSpPr/>
          <p:nvPr/>
        </p:nvSpPr>
        <p:spPr>
          <a:xfrm>
            <a:off x="914400" y="4718304"/>
            <a:ext cx="91440" cy="91440"/>
          </a:xfrm>
          <a:prstGeom prst="ellipse">
            <a:avLst/>
          </a:prstGeom>
          <a:solidFill>
            <a:srgbClr val="67D3A5"/>
          </a:solidFill>
          <a:ln w="12700">
            <a:solidFill>
              <a:srgbClr val="67D3A5"/>
            </a:solidFill>
            <a:prstDash val="solid"/>
          </a:ln>
        </p:spPr>
      </p:sp>
      <p:sp>
        <p:nvSpPr>
          <p:cNvPr id="21" name="Text 19"/>
          <p:cNvSpPr/>
          <p:nvPr/>
        </p:nvSpPr>
        <p:spPr>
          <a:xfrm>
            <a:off x="1097280" y="4599432"/>
            <a:ext cx="4389120" cy="521208"/>
          </a:xfrm>
          <a:prstGeom prst="rect">
            <a:avLst/>
          </a:prstGeom>
          <a:noFill/>
          <a:ln/>
        </p:spPr>
        <p:txBody>
          <a:bodyPr wrap="square" lIns="0" tIns="0" rIns="0" bIns="0" rtlCol="0" anchor="ctr">
            <a:normAutofit/>
          </a:bodyPr>
          <a:lstStyle/>
          <a:p>
            <a:pPr indent="0" marL="0">
              <a:buNone/>
            </a:pPr>
            <a:r>
              <a:rPr lang="en-US" sz="1330" dirty="0">
                <a:solidFill>
                  <a:srgbClr val="F4F7FA"/>
                </a:solidFill>
                <a:latin typeface="Noto Sans CJK JP" pitchFamily="34" charset="0"/>
                <a:ea typeface="Noto Sans CJK JP" pitchFamily="34" charset="-122"/>
                <a:cs typeface="Noto Sans CJK JP" pitchFamily="34" charset="-120"/>
              </a:rPr>
              <a:t>AdS/CFTのどの要素が連続性に依存しないかを検査できる</a:t>
            </a:r>
            <a:endParaRPr lang="en-US" sz="1330" dirty="0"/>
          </a:p>
        </p:txBody>
      </p:sp>
      <p:sp>
        <p:nvSpPr>
          <p:cNvPr id="22" name="Shape 20"/>
          <p:cNvSpPr/>
          <p:nvPr/>
        </p:nvSpPr>
        <p:spPr>
          <a:xfrm>
            <a:off x="6217920" y="1700784"/>
            <a:ext cx="5349240" cy="4462272"/>
          </a:xfrm>
          <a:prstGeom prst="roundRect">
            <a:avLst>
              <a:gd name="adj" fmla="val 2459"/>
            </a:avLst>
          </a:prstGeom>
          <a:solidFill>
            <a:srgbClr val="0D2231"/>
          </a:solidFill>
          <a:ln w="12700">
            <a:solidFill>
              <a:srgbClr val="F0806B"/>
            </a:solidFill>
            <a:prstDash val="solid"/>
          </a:ln>
          <a:effectLst>
            <a:outerShdw sx="100000" sy="100000" kx="0" ky="0" algn="bl" rotWithShape="0" blurRad="12700" dist="50800" dir="2700000">
              <a:srgbClr val="000000">
                <a:alpha val="18000"/>
              </a:srgbClr>
            </a:outerShdw>
          </a:effectLst>
        </p:spPr>
      </p:sp>
      <p:sp>
        <p:nvSpPr>
          <p:cNvPr id="23" name="Shape 21"/>
          <p:cNvSpPr/>
          <p:nvPr/>
        </p:nvSpPr>
        <p:spPr>
          <a:xfrm>
            <a:off x="6519672" y="1938528"/>
            <a:ext cx="1234440" cy="310896"/>
          </a:xfrm>
          <a:prstGeom prst="roundRect">
            <a:avLst/>
          </a:prstGeom>
          <a:solidFill>
            <a:srgbClr val="153246"/>
          </a:solidFill>
          <a:ln w="13970">
            <a:solidFill>
              <a:srgbClr val="F0806B"/>
            </a:solidFill>
            <a:prstDash val="solid"/>
          </a:ln>
        </p:spPr>
      </p:sp>
      <p:sp>
        <p:nvSpPr>
          <p:cNvPr id="24" name="Text 22"/>
          <p:cNvSpPr/>
          <p:nvPr/>
        </p:nvSpPr>
        <p:spPr>
          <a:xfrm>
            <a:off x="6592824" y="1984248"/>
            <a:ext cx="1088136" cy="201168"/>
          </a:xfrm>
          <a:prstGeom prst="rect">
            <a:avLst/>
          </a:prstGeom>
          <a:noFill/>
          <a:ln/>
        </p:spPr>
        <p:txBody>
          <a:bodyPr wrap="square" lIns="0" tIns="0" rIns="0" bIns="0" rtlCol="0" anchor="ctr">
            <a:normAutofit/>
          </a:bodyPr>
          <a:lstStyle/>
          <a:p>
            <a:pPr algn="ctr" indent="0" marL="0">
              <a:buNone/>
            </a:pPr>
            <a:r>
              <a:rPr lang="en-US" sz="1000" b="1" dirty="0">
                <a:solidFill>
                  <a:srgbClr val="F0806B"/>
                </a:solidFill>
                <a:latin typeface="Noto Sans CJK JP" pitchFamily="34" charset="0"/>
                <a:ea typeface="Noto Sans CJK JP" pitchFamily="34" charset="-122"/>
                <a:cs typeface="Noto Sans CJK JP" pitchFamily="34" charset="-120"/>
              </a:rPr>
              <a:t>教えないこと</a:t>
            </a:r>
            <a:endParaRPr lang="en-US" sz="1000" dirty="0"/>
          </a:p>
        </p:txBody>
      </p:sp>
      <p:sp>
        <p:nvSpPr>
          <p:cNvPr id="25" name="Shape 23"/>
          <p:cNvSpPr/>
          <p:nvPr/>
        </p:nvSpPr>
        <p:spPr>
          <a:xfrm>
            <a:off x="6537960" y="2633472"/>
            <a:ext cx="91440" cy="91440"/>
          </a:xfrm>
          <a:prstGeom prst="ellipse">
            <a:avLst/>
          </a:prstGeom>
          <a:solidFill>
            <a:srgbClr val="F0806B"/>
          </a:solidFill>
          <a:ln w="12700">
            <a:solidFill>
              <a:srgbClr val="F0806B"/>
            </a:solidFill>
            <a:prstDash val="solid"/>
          </a:ln>
        </p:spPr>
      </p:sp>
      <p:sp>
        <p:nvSpPr>
          <p:cNvPr id="26" name="Text 24"/>
          <p:cNvSpPr/>
          <p:nvPr/>
        </p:nvSpPr>
        <p:spPr>
          <a:xfrm>
            <a:off x="6720840" y="2514600"/>
            <a:ext cx="4343400" cy="521208"/>
          </a:xfrm>
          <a:prstGeom prst="rect">
            <a:avLst/>
          </a:prstGeom>
          <a:noFill/>
          <a:ln/>
        </p:spPr>
        <p:txBody>
          <a:bodyPr wrap="square" lIns="0" tIns="0" rIns="0" bIns="0" rtlCol="0" anchor="ctr">
            <a:normAutofit/>
          </a:bodyPr>
          <a:lstStyle/>
          <a:p>
            <a:pPr indent="0" marL="0">
              <a:buNone/>
            </a:pPr>
            <a:r>
              <a:rPr lang="en-US" sz="1330" dirty="0">
                <a:solidFill>
                  <a:srgbClr val="F4F7FA"/>
                </a:solidFill>
                <a:latin typeface="Noto Sans CJK JP" pitchFamily="34" charset="0"/>
                <a:ea typeface="Noto Sans CJK JP" pitchFamily="34" charset="-122"/>
                <a:cs typeface="Noto Sans CJK JP" pitchFamily="34" charset="-120"/>
              </a:rPr>
              <a:t>観測宇宙を直接記述する完成した模型ではない</a:t>
            </a:r>
            <a:endParaRPr lang="en-US" sz="1330" dirty="0"/>
          </a:p>
        </p:txBody>
      </p:sp>
      <p:sp>
        <p:nvSpPr>
          <p:cNvPr id="27" name="Shape 25"/>
          <p:cNvSpPr/>
          <p:nvPr/>
        </p:nvSpPr>
        <p:spPr>
          <a:xfrm>
            <a:off x="6537960" y="3154680"/>
            <a:ext cx="91440" cy="91440"/>
          </a:xfrm>
          <a:prstGeom prst="ellipse">
            <a:avLst/>
          </a:prstGeom>
          <a:solidFill>
            <a:srgbClr val="F0806B"/>
          </a:solidFill>
          <a:ln w="12700">
            <a:solidFill>
              <a:srgbClr val="F0806B"/>
            </a:solidFill>
            <a:prstDash val="solid"/>
          </a:ln>
        </p:spPr>
      </p:sp>
      <p:sp>
        <p:nvSpPr>
          <p:cNvPr id="28" name="Text 26"/>
          <p:cNvSpPr/>
          <p:nvPr/>
        </p:nvSpPr>
        <p:spPr>
          <a:xfrm>
            <a:off x="6720840" y="3035808"/>
            <a:ext cx="4343400" cy="521208"/>
          </a:xfrm>
          <a:prstGeom prst="rect">
            <a:avLst/>
          </a:prstGeom>
          <a:noFill/>
          <a:ln/>
        </p:spPr>
        <p:txBody>
          <a:bodyPr wrap="square" lIns="0" tIns="0" rIns="0" bIns="0" rtlCol="0" anchor="ctr">
            <a:normAutofit/>
          </a:bodyPr>
          <a:lstStyle/>
          <a:p>
            <a:pPr indent="0" marL="0">
              <a:buNone/>
            </a:pPr>
            <a:r>
              <a:rPr lang="en-US" sz="1330" dirty="0">
                <a:solidFill>
                  <a:srgbClr val="F4F7FA"/>
                </a:solidFill>
                <a:latin typeface="Noto Sans CJK JP" pitchFamily="34" charset="0"/>
                <a:ea typeface="Noto Sans CJK JP" pitchFamily="34" charset="-122"/>
                <a:cs typeface="Noto Sans CJK JP" pitchFamily="34" charset="-120"/>
              </a:rPr>
              <a:t>ローレンツ時間・因果構造の標準的実現は未確立</a:t>
            </a:r>
            <a:endParaRPr lang="en-US" sz="1330" dirty="0"/>
          </a:p>
        </p:txBody>
      </p:sp>
      <p:sp>
        <p:nvSpPr>
          <p:cNvPr id="29" name="Shape 27"/>
          <p:cNvSpPr/>
          <p:nvPr/>
        </p:nvSpPr>
        <p:spPr>
          <a:xfrm>
            <a:off x="6537960" y="3675888"/>
            <a:ext cx="91440" cy="91440"/>
          </a:xfrm>
          <a:prstGeom prst="ellipse">
            <a:avLst/>
          </a:prstGeom>
          <a:solidFill>
            <a:srgbClr val="F0806B"/>
          </a:solidFill>
          <a:ln w="12700">
            <a:solidFill>
              <a:srgbClr val="F0806B"/>
            </a:solidFill>
            <a:prstDash val="solid"/>
          </a:ln>
        </p:spPr>
      </p:sp>
      <p:sp>
        <p:nvSpPr>
          <p:cNvPr id="30" name="Text 28"/>
          <p:cNvSpPr/>
          <p:nvPr/>
        </p:nvSpPr>
        <p:spPr>
          <a:xfrm>
            <a:off x="6720840" y="3557016"/>
            <a:ext cx="4343400" cy="521208"/>
          </a:xfrm>
          <a:prstGeom prst="rect">
            <a:avLst/>
          </a:prstGeom>
          <a:noFill/>
          <a:ln/>
        </p:spPr>
        <p:txBody>
          <a:bodyPr wrap="square" lIns="0" tIns="0" rIns="0" bIns="0" rtlCol="0" anchor="ctr">
            <a:normAutofit/>
          </a:bodyPr>
          <a:lstStyle/>
          <a:p>
            <a:pPr indent="0" marL="0">
              <a:buNone/>
            </a:pPr>
            <a:r>
              <a:rPr lang="en-US" sz="1330" dirty="0">
                <a:solidFill>
                  <a:srgbClr val="F4F7FA"/>
                </a:solidFill>
                <a:latin typeface="Noto Sans CJK JP" pitchFamily="34" charset="0"/>
                <a:ea typeface="Noto Sans CJK JP" pitchFamily="34" charset="-122"/>
                <a:cs typeface="Noto Sans CJK JP" pitchFamily="34" charset="-120"/>
              </a:rPr>
              <a:t>歴史的p進弦は主に開いたボソン弦のタキオン部門</a:t>
            </a:r>
            <a:endParaRPr lang="en-US" sz="1330" dirty="0"/>
          </a:p>
        </p:txBody>
      </p:sp>
      <p:sp>
        <p:nvSpPr>
          <p:cNvPr id="31" name="Shape 29"/>
          <p:cNvSpPr/>
          <p:nvPr/>
        </p:nvSpPr>
        <p:spPr>
          <a:xfrm>
            <a:off x="6537960" y="4197096"/>
            <a:ext cx="91440" cy="91440"/>
          </a:xfrm>
          <a:prstGeom prst="ellipse">
            <a:avLst/>
          </a:prstGeom>
          <a:solidFill>
            <a:srgbClr val="F0806B"/>
          </a:solidFill>
          <a:ln w="12700">
            <a:solidFill>
              <a:srgbClr val="F0806B"/>
            </a:solidFill>
            <a:prstDash val="solid"/>
          </a:ln>
        </p:spPr>
      </p:sp>
      <p:sp>
        <p:nvSpPr>
          <p:cNvPr id="32" name="Text 30"/>
          <p:cNvSpPr/>
          <p:nvPr/>
        </p:nvSpPr>
        <p:spPr>
          <a:xfrm>
            <a:off x="6720840" y="4078224"/>
            <a:ext cx="4343400" cy="521208"/>
          </a:xfrm>
          <a:prstGeom prst="rect">
            <a:avLst/>
          </a:prstGeom>
          <a:noFill/>
          <a:ln/>
        </p:spPr>
        <p:txBody>
          <a:bodyPr wrap="square" lIns="0" tIns="0" rIns="0" bIns="0" rtlCol="0" anchor="ctr">
            <a:normAutofit/>
          </a:bodyPr>
          <a:lstStyle/>
          <a:p>
            <a:pPr indent="0" marL="0">
              <a:buNone/>
            </a:pPr>
            <a:r>
              <a:rPr lang="en-US" sz="1330" dirty="0">
                <a:solidFill>
                  <a:srgbClr val="F4F7FA"/>
                </a:solidFill>
                <a:latin typeface="Noto Sans CJK JP" pitchFamily="34" charset="0"/>
                <a:ea typeface="Noto Sans CJK JP" pitchFamily="34" charset="-122"/>
                <a:cs typeface="Noto Sans CJK JP" pitchFamily="34" charset="-120"/>
              </a:rPr>
              <a:t>閉弦・超弦・完全な量子重力の構成は限定的</a:t>
            </a:r>
            <a:endParaRPr lang="en-US" sz="1330" dirty="0"/>
          </a:p>
        </p:txBody>
      </p:sp>
      <p:sp>
        <p:nvSpPr>
          <p:cNvPr id="33" name="Shape 31"/>
          <p:cNvSpPr/>
          <p:nvPr/>
        </p:nvSpPr>
        <p:spPr>
          <a:xfrm>
            <a:off x="6537960" y="4718304"/>
            <a:ext cx="91440" cy="91440"/>
          </a:xfrm>
          <a:prstGeom prst="ellipse">
            <a:avLst/>
          </a:prstGeom>
          <a:solidFill>
            <a:srgbClr val="F0806B"/>
          </a:solidFill>
          <a:ln w="12700">
            <a:solidFill>
              <a:srgbClr val="F0806B"/>
            </a:solidFill>
            <a:prstDash val="solid"/>
          </a:ln>
        </p:spPr>
      </p:sp>
      <p:sp>
        <p:nvSpPr>
          <p:cNvPr id="34" name="Text 32"/>
          <p:cNvSpPr/>
          <p:nvPr/>
        </p:nvSpPr>
        <p:spPr>
          <a:xfrm>
            <a:off x="6720840" y="4599432"/>
            <a:ext cx="4343400" cy="521208"/>
          </a:xfrm>
          <a:prstGeom prst="rect">
            <a:avLst/>
          </a:prstGeom>
          <a:noFill/>
          <a:ln/>
        </p:spPr>
        <p:txBody>
          <a:bodyPr wrap="square" lIns="0" tIns="0" rIns="0" bIns="0" rtlCol="0" anchor="ctr">
            <a:normAutofit/>
          </a:bodyPr>
          <a:lstStyle/>
          <a:p>
            <a:pPr indent="0" marL="0">
              <a:buNone/>
            </a:pPr>
            <a:r>
              <a:rPr lang="en-US" sz="1330" dirty="0">
                <a:solidFill>
                  <a:srgbClr val="F4F7FA"/>
                </a:solidFill>
                <a:latin typeface="Noto Sans CJK JP" pitchFamily="34" charset="0"/>
                <a:ea typeface="Noto Sans CJK JP" pitchFamily="34" charset="-122"/>
                <a:cs typeface="Noto Sans CJK JP" pitchFamily="34" charset="-120"/>
              </a:rPr>
              <a:t>アデール無限積は正則化と収束を慎重に扱う必要がある</a:t>
            </a:r>
            <a:endParaRPr lang="en-US" sz="1330" dirty="0"/>
          </a:p>
        </p:txBody>
      </p:sp>
      <p:sp>
        <p:nvSpPr>
          <p:cNvPr id="35" name="Shape 33"/>
          <p:cNvSpPr/>
          <p:nvPr/>
        </p:nvSpPr>
        <p:spPr>
          <a:xfrm>
            <a:off x="1417320" y="5650992"/>
            <a:ext cx="9372600" cy="502920"/>
          </a:xfrm>
          <a:prstGeom prst="roundRect">
            <a:avLst>
              <a:gd name="adj" fmla="val 21818"/>
            </a:avLst>
          </a:prstGeom>
          <a:solidFill>
            <a:srgbClr val="2B1E1D"/>
          </a:solidFill>
          <a:ln w="12700">
            <a:solidFill>
              <a:srgbClr val="F2B65D"/>
            </a:solidFill>
            <a:prstDash val="solid"/>
          </a:ln>
        </p:spPr>
      </p:sp>
      <p:sp>
        <p:nvSpPr>
          <p:cNvPr id="36" name="Text 34"/>
          <p:cNvSpPr/>
          <p:nvPr/>
        </p:nvSpPr>
        <p:spPr>
          <a:xfrm>
            <a:off x="1691640" y="5797296"/>
            <a:ext cx="8823960" cy="210312"/>
          </a:xfrm>
          <a:prstGeom prst="rect">
            <a:avLst/>
          </a:prstGeom>
          <a:noFill/>
          <a:ln/>
        </p:spPr>
        <p:txBody>
          <a:bodyPr wrap="square" lIns="0" tIns="0" rIns="0" bIns="0" rtlCol="0" anchor="ctr">
            <a:normAutofit/>
          </a:bodyPr>
          <a:lstStyle/>
          <a:p>
            <a:pPr algn="ctr" indent="0" marL="0">
              <a:buNone/>
            </a:pPr>
            <a:r>
              <a:rPr lang="en-US" sz="1250" b="1" dirty="0">
                <a:solidFill>
                  <a:srgbClr val="F2B65D"/>
                </a:solidFill>
                <a:latin typeface="Noto Sans CJK JP" pitchFamily="34" charset="0"/>
                <a:ea typeface="Noto Sans CJK JP" pitchFamily="34" charset="-122"/>
                <a:cs typeface="Noto Sans CJK JP" pitchFamily="34" charset="-120"/>
              </a:rPr>
              <a:t>結論：現実の代替ではなく、ホログラフィーの論理を分解して検証する「算術的な実験室」</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SUMMARY</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まとめ：数論的置換が、弦とホログラフィーを可解にする</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三つの要点</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22</a:t>
            </a:r>
            <a:endParaRPr lang="en-US" sz="1000" dirty="0"/>
          </a:p>
        </p:txBody>
      </p:sp>
      <p:sp>
        <p:nvSpPr>
          <p:cNvPr id="8" name="Text 6"/>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22 / 24</a:t>
            </a:r>
            <a:endParaRPr lang="en-US" sz="750" dirty="0"/>
          </a:p>
        </p:txBody>
      </p:sp>
      <p:sp>
        <p:nvSpPr>
          <p:cNvPr id="9" name="Shape 7"/>
          <p:cNvSpPr/>
          <p:nvPr/>
        </p:nvSpPr>
        <p:spPr>
          <a:xfrm>
            <a:off x="658368" y="1828800"/>
            <a:ext cx="3337560" cy="3383280"/>
          </a:xfrm>
          <a:prstGeom prst="roundRect">
            <a:avLst>
              <a:gd name="adj" fmla="val 3288"/>
            </a:avLst>
          </a:prstGeom>
          <a:solidFill>
            <a:srgbClr val="0D2231"/>
          </a:solidFill>
          <a:ln w="12700">
            <a:solidFill>
              <a:srgbClr val="F2B65D"/>
            </a:solidFill>
            <a:prstDash val="solid"/>
          </a:ln>
          <a:effectLst>
            <a:outerShdw sx="100000" sy="100000" kx="0" ky="0" algn="bl" rotWithShape="0" blurRad="12700" dist="50800" dir="2700000">
              <a:srgbClr val="000000">
                <a:alpha val="18000"/>
              </a:srgbClr>
            </a:outerShdw>
          </a:effectLst>
        </p:spPr>
      </p:sp>
      <p:sp>
        <p:nvSpPr>
          <p:cNvPr id="10" name="Text 8"/>
          <p:cNvSpPr/>
          <p:nvPr/>
        </p:nvSpPr>
        <p:spPr>
          <a:xfrm>
            <a:off x="914400" y="2121408"/>
            <a:ext cx="731520" cy="411480"/>
          </a:xfrm>
          <a:prstGeom prst="rect">
            <a:avLst/>
          </a:prstGeom>
          <a:noFill/>
          <a:ln/>
        </p:spPr>
        <p:txBody>
          <a:bodyPr wrap="square" lIns="0" tIns="0" rIns="0" bIns="0" rtlCol="0" anchor="ctr"/>
          <a:lstStyle/>
          <a:p>
            <a:pPr indent="0" marL="0">
              <a:buNone/>
            </a:pPr>
            <a:r>
              <a:rPr lang="en-US" sz="2100" b="1" dirty="0">
                <a:solidFill>
                  <a:srgbClr val="F2B65D"/>
                </a:solidFill>
                <a:latin typeface="Noto Sans Mono CJK JP" pitchFamily="34" charset="0"/>
                <a:ea typeface="Noto Sans Mono CJK JP" pitchFamily="34" charset="-122"/>
                <a:cs typeface="Noto Sans Mono CJK JP" pitchFamily="34" charset="-120"/>
              </a:rPr>
              <a:t>01</a:t>
            </a:r>
            <a:endParaRPr lang="en-US" sz="2100" dirty="0"/>
          </a:p>
        </p:txBody>
      </p:sp>
      <p:sp>
        <p:nvSpPr>
          <p:cNvPr id="11" name="Text 9"/>
          <p:cNvSpPr/>
          <p:nvPr/>
        </p:nvSpPr>
        <p:spPr>
          <a:xfrm>
            <a:off x="932688" y="2788920"/>
            <a:ext cx="2788920" cy="411480"/>
          </a:xfrm>
          <a:prstGeom prst="rect">
            <a:avLst/>
          </a:prstGeom>
          <a:noFill/>
          <a:ln/>
        </p:spPr>
        <p:txBody>
          <a:bodyPr wrap="square" lIns="0" tIns="0" rIns="0" bIns="0" rtlCol="0" anchor="ctr"/>
          <a:lstStyle/>
          <a:p>
            <a:pPr algn="ctr" indent="0" marL="0">
              <a:buNone/>
            </a:pPr>
            <a:r>
              <a:rPr lang="en-US" sz="1900" b="1" dirty="0">
                <a:solidFill>
                  <a:srgbClr val="F4F7FA"/>
                </a:solidFill>
                <a:latin typeface="Noto Sans CJK JP" pitchFamily="34" charset="0"/>
                <a:ea typeface="Noto Sans CJK JP" pitchFamily="34" charset="-122"/>
                <a:cs typeface="Noto Sans CJK JP" pitchFamily="34" charset="-120"/>
              </a:rPr>
              <a:t>p進弦理論</a:t>
            </a:r>
            <a:endParaRPr lang="en-US" sz="1900" dirty="0"/>
          </a:p>
        </p:txBody>
      </p:sp>
      <p:sp>
        <p:nvSpPr>
          <p:cNvPr id="12" name="Text 10"/>
          <p:cNvSpPr/>
          <p:nvPr/>
        </p:nvSpPr>
        <p:spPr>
          <a:xfrm>
            <a:off x="978408" y="3493008"/>
            <a:ext cx="2697480" cy="1024128"/>
          </a:xfrm>
          <a:prstGeom prst="rect">
            <a:avLst/>
          </a:prstGeom>
          <a:noFill/>
          <a:ln/>
        </p:spPr>
        <p:txBody>
          <a:bodyPr wrap="square" lIns="0" tIns="0" rIns="0" bIns="0" rtlCol="0" anchor="ctr">
            <a:normAutofit/>
          </a:bodyPr>
          <a:lstStyle/>
          <a:p>
            <a:pPr algn="ctr" indent="0" marL="0">
              <a:buNone/>
            </a:pPr>
            <a:r>
              <a:rPr lang="en-US" sz="1350" dirty="0">
                <a:solidFill>
                  <a:srgbClr val="A9BBC9"/>
                </a:solidFill>
                <a:latin typeface="Noto Sans CJK JP" pitchFamily="34" charset="0"/>
                <a:ea typeface="Noto Sans CJK JP" pitchFamily="34" charset="-122"/>
                <a:cs typeface="Noto Sans CJK JP" pitchFamily="34" charset="-120"/>
              </a:rPr>
              <a:t>世界面境界の実数積分をp進積分へ置換。散乱振幅と非局所タキオン作用が厳密に扱える。</a:t>
            </a:r>
            <a:endParaRPr lang="en-US" sz="1350" dirty="0"/>
          </a:p>
        </p:txBody>
      </p:sp>
      <p:sp>
        <p:nvSpPr>
          <p:cNvPr id="13" name="Shape 11"/>
          <p:cNvSpPr/>
          <p:nvPr/>
        </p:nvSpPr>
        <p:spPr>
          <a:xfrm>
            <a:off x="4453128" y="1828800"/>
            <a:ext cx="3337560" cy="3383280"/>
          </a:xfrm>
          <a:prstGeom prst="roundRect">
            <a:avLst>
              <a:gd name="adj" fmla="val 3288"/>
            </a:avLst>
          </a:prstGeom>
          <a:solidFill>
            <a:srgbClr val="0D2231"/>
          </a:solidFill>
          <a:ln w="12700">
            <a:solidFill>
              <a:srgbClr val="55D8E0"/>
            </a:solidFill>
            <a:prstDash val="solid"/>
          </a:ln>
          <a:effectLst>
            <a:outerShdw sx="100000" sy="100000" kx="0" ky="0" algn="bl" rotWithShape="0" blurRad="12700" dist="50800" dir="2700000">
              <a:srgbClr val="000000">
                <a:alpha val="18000"/>
              </a:srgbClr>
            </a:outerShdw>
          </a:effectLst>
        </p:spPr>
      </p:sp>
      <p:sp>
        <p:nvSpPr>
          <p:cNvPr id="14" name="Text 12"/>
          <p:cNvSpPr/>
          <p:nvPr/>
        </p:nvSpPr>
        <p:spPr>
          <a:xfrm>
            <a:off x="4709160" y="2121408"/>
            <a:ext cx="731520" cy="411480"/>
          </a:xfrm>
          <a:prstGeom prst="rect">
            <a:avLst/>
          </a:prstGeom>
          <a:noFill/>
          <a:ln/>
        </p:spPr>
        <p:txBody>
          <a:bodyPr wrap="square" lIns="0" tIns="0" rIns="0" bIns="0" rtlCol="0" anchor="ctr"/>
          <a:lstStyle/>
          <a:p>
            <a:pPr indent="0" marL="0">
              <a:buNone/>
            </a:pPr>
            <a:r>
              <a:rPr lang="en-US" sz="2100" b="1" dirty="0">
                <a:solidFill>
                  <a:srgbClr val="55D8E0"/>
                </a:solidFill>
                <a:latin typeface="Noto Sans Mono CJK JP" pitchFamily="34" charset="0"/>
                <a:ea typeface="Noto Sans Mono CJK JP" pitchFamily="34" charset="-122"/>
                <a:cs typeface="Noto Sans Mono CJK JP" pitchFamily="34" charset="-120"/>
              </a:rPr>
              <a:t>02</a:t>
            </a:r>
            <a:endParaRPr lang="en-US" sz="2100" dirty="0"/>
          </a:p>
        </p:txBody>
      </p:sp>
      <p:sp>
        <p:nvSpPr>
          <p:cNvPr id="15" name="Text 13"/>
          <p:cNvSpPr/>
          <p:nvPr/>
        </p:nvSpPr>
        <p:spPr>
          <a:xfrm>
            <a:off x="4727448" y="2788920"/>
            <a:ext cx="2788920" cy="411480"/>
          </a:xfrm>
          <a:prstGeom prst="rect">
            <a:avLst/>
          </a:prstGeom>
          <a:noFill/>
          <a:ln/>
        </p:spPr>
        <p:txBody>
          <a:bodyPr wrap="square" lIns="0" tIns="0" rIns="0" bIns="0" rtlCol="0" anchor="ctr"/>
          <a:lstStyle/>
          <a:p>
            <a:pPr algn="ctr" indent="0" marL="0">
              <a:buNone/>
            </a:pPr>
            <a:r>
              <a:rPr lang="en-US" sz="1900" b="1" dirty="0">
                <a:solidFill>
                  <a:srgbClr val="F4F7FA"/>
                </a:solidFill>
                <a:latin typeface="Noto Sans CJK JP" pitchFamily="34" charset="0"/>
                <a:ea typeface="Noto Sans CJK JP" pitchFamily="34" charset="-122"/>
                <a:cs typeface="Noto Sans CJK JP" pitchFamily="34" charset="-120"/>
              </a:rPr>
              <a:t>p進 AdS/CFT</a:t>
            </a:r>
            <a:endParaRPr lang="en-US" sz="1900" dirty="0"/>
          </a:p>
        </p:txBody>
      </p:sp>
      <p:sp>
        <p:nvSpPr>
          <p:cNvPr id="16" name="Text 14"/>
          <p:cNvSpPr/>
          <p:nvPr/>
        </p:nvSpPr>
        <p:spPr>
          <a:xfrm>
            <a:off x="4773168" y="3493008"/>
            <a:ext cx="2697480" cy="1024128"/>
          </a:xfrm>
          <a:prstGeom prst="rect">
            <a:avLst/>
          </a:prstGeom>
          <a:noFill/>
          <a:ln/>
        </p:spPr>
        <p:txBody>
          <a:bodyPr wrap="square" lIns="0" tIns="0" rIns="0" bIns="0" rtlCol="0" anchor="ctr">
            <a:normAutofit/>
          </a:bodyPr>
          <a:lstStyle/>
          <a:p>
            <a:pPr algn="ctr" indent="0" marL="0">
              <a:buNone/>
            </a:pPr>
            <a:r>
              <a:rPr lang="en-US" sz="1350" dirty="0">
                <a:solidFill>
                  <a:srgbClr val="A9BBC9"/>
                </a:solidFill>
                <a:latin typeface="Noto Sans CJK JP" pitchFamily="34" charset="0"/>
                <a:ea typeface="Noto Sans CJK JP" pitchFamily="34" charset="-122"/>
                <a:cs typeface="Noto Sans CJK JP" pitchFamily="34" charset="-120"/>
              </a:rPr>
              <a:t>p進CFTの境界に対し、Bruhat–Tits木をバルクとする離散ホログラフィーを構成。</a:t>
            </a:r>
            <a:endParaRPr lang="en-US" sz="1350" dirty="0"/>
          </a:p>
        </p:txBody>
      </p:sp>
      <p:sp>
        <p:nvSpPr>
          <p:cNvPr id="17" name="Shape 15"/>
          <p:cNvSpPr/>
          <p:nvPr/>
        </p:nvSpPr>
        <p:spPr>
          <a:xfrm>
            <a:off x="8247888" y="1828800"/>
            <a:ext cx="3337560" cy="3383280"/>
          </a:xfrm>
          <a:prstGeom prst="roundRect">
            <a:avLst>
              <a:gd name="adj" fmla="val 3288"/>
            </a:avLst>
          </a:prstGeom>
          <a:solidFill>
            <a:srgbClr val="0D2231"/>
          </a:solidFill>
          <a:ln w="12700">
            <a:solidFill>
              <a:srgbClr val="67D3A5"/>
            </a:solidFill>
            <a:prstDash val="solid"/>
          </a:ln>
          <a:effectLst>
            <a:outerShdw sx="100000" sy="100000" kx="0" ky="0" algn="bl" rotWithShape="0" blurRad="12700" dist="50800" dir="2700000">
              <a:srgbClr val="000000">
                <a:alpha val="18000"/>
              </a:srgbClr>
            </a:outerShdw>
          </a:effectLst>
        </p:spPr>
      </p:sp>
      <p:sp>
        <p:nvSpPr>
          <p:cNvPr id="18" name="Text 16"/>
          <p:cNvSpPr/>
          <p:nvPr/>
        </p:nvSpPr>
        <p:spPr>
          <a:xfrm>
            <a:off x="8503920" y="2121408"/>
            <a:ext cx="731520" cy="411480"/>
          </a:xfrm>
          <a:prstGeom prst="rect">
            <a:avLst/>
          </a:prstGeom>
          <a:noFill/>
          <a:ln/>
        </p:spPr>
        <p:txBody>
          <a:bodyPr wrap="square" lIns="0" tIns="0" rIns="0" bIns="0" rtlCol="0" anchor="ctr"/>
          <a:lstStyle/>
          <a:p>
            <a:pPr indent="0" marL="0">
              <a:buNone/>
            </a:pPr>
            <a:r>
              <a:rPr lang="en-US" sz="2100" b="1" dirty="0">
                <a:solidFill>
                  <a:srgbClr val="67D3A5"/>
                </a:solidFill>
                <a:latin typeface="Noto Sans Mono CJK JP" pitchFamily="34" charset="0"/>
                <a:ea typeface="Noto Sans Mono CJK JP" pitchFamily="34" charset="-122"/>
                <a:cs typeface="Noto Sans Mono CJK JP" pitchFamily="34" charset="-120"/>
              </a:rPr>
              <a:t>03</a:t>
            </a:r>
            <a:endParaRPr lang="en-US" sz="2100" dirty="0"/>
          </a:p>
        </p:txBody>
      </p:sp>
      <p:sp>
        <p:nvSpPr>
          <p:cNvPr id="19" name="Text 17"/>
          <p:cNvSpPr/>
          <p:nvPr/>
        </p:nvSpPr>
        <p:spPr>
          <a:xfrm>
            <a:off x="8522208" y="2788920"/>
            <a:ext cx="2788920" cy="411480"/>
          </a:xfrm>
          <a:prstGeom prst="rect">
            <a:avLst/>
          </a:prstGeom>
          <a:noFill/>
          <a:ln/>
        </p:spPr>
        <p:txBody>
          <a:bodyPr wrap="square" lIns="0" tIns="0" rIns="0" bIns="0" rtlCol="0" anchor="ctr"/>
          <a:lstStyle/>
          <a:p>
            <a:pPr algn="ctr" indent="0" marL="0">
              <a:buNone/>
            </a:pPr>
            <a:r>
              <a:rPr lang="en-US" sz="1900" b="1" dirty="0">
                <a:solidFill>
                  <a:srgbClr val="F4F7FA"/>
                </a:solidFill>
                <a:latin typeface="Noto Sans CJK JP" pitchFamily="34" charset="0"/>
                <a:ea typeface="Noto Sans CJK JP" pitchFamily="34" charset="-122"/>
                <a:cs typeface="Noto Sans CJK JP" pitchFamily="34" charset="-120"/>
              </a:rPr>
              <a:t>研究上の価値</a:t>
            </a:r>
            <a:endParaRPr lang="en-US" sz="1900" dirty="0"/>
          </a:p>
        </p:txBody>
      </p:sp>
      <p:sp>
        <p:nvSpPr>
          <p:cNvPr id="20" name="Text 18"/>
          <p:cNvSpPr/>
          <p:nvPr/>
        </p:nvSpPr>
        <p:spPr>
          <a:xfrm>
            <a:off x="8567928" y="3493008"/>
            <a:ext cx="2697480" cy="1024128"/>
          </a:xfrm>
          <a:prstGeom prst="rect">
            <a:avLst/>
          </a:prstGeom>
          <a:noFill/>
          <a:ln/>
        </p:spPr>
        <p:txBody>
          <a:bodyPr wrap="square" lIns="0" tIns="0" rIns="0" bIns="0" rtlCol="0" anchor="ctr">
            <a:normAutofit/>
          </a:bodyPr>
          <a:lstStyle/>
          <a:p>
            <a:pPr algn="ctr" indent="0" marL="0">
              <a:buNone/>
            </a:pPr>
            <a:r>
              <a:rPr lang="en-US" sz="1350" dirty="0">
                <a:solidFill>
                  <a:srgbClr val="A9BBC9"/>
                </a:solidFill>
                <a:latin typeface="Noto Sans CJK JP" pitchFamily="34" charset="0"/>
                <a:ea typeface="Noto Sans CJK JP" pitchFamily="34" charset="-122"/>
                <a:cs typeface="Noto Sans CJK JP" pitchFamily="34" charset="-120"/>
              </a:rPr>
              <a:t>超距離・木・局所ゼータが、相関関数、テンソル網、重力、算術幾何を同じ計算言語にする。</a:t>
            </a:r>
            <a:endParaRPr lang="en-US" sz="1350" dirty="0"/>
          </a:p>
        </p:txBody>
      </p:sp>
      <p:sp>
        <p:nvSpPr>
          <p:cNvPr id="21" name="Shape 19"/>
          <p:cNvSpPr/>
          <p:nvPr/>
        </p:nvSpPr>
        <p:spPr>
          <a:xfrm>
            <a:off x="2103120" y="5650992"/>
            <a:ext cx="384048" cy="384048"/>
          </a:xfrm>
          <a:prstGeom prst="ellipse">
            <a:avLst/>
          </a:prstGeom>
          <a:solidFill>
            <a:srgbClr val="F2B65D"/>
          </a:solidFill>
          <a:ln w="25400">
            <a:solidFill>
              <a:srgbClr val="07131E"/>
            </a:solidFill>
            <a:prstDash val="solid"/>
          </a:ln>
        </p:spPr>
      </p:sp>
      <p:sp>
        <p:nvSpPr>
          <p:cNvPr id="22" name="Shape 20"/>
          <p:cNvSpPr/>
          <p:nvPr/>
        </p:nvSpPr>
        <p:spPr>
          <a:xfrm>
            <a:off x="5897880" y="5650992"/>
            <a:ext cx="384048" cy="384048"/>
          </a:xfrm>
          <a:prstGeom prst="ellipse">
            <a:avLst/>
          </a:prstGeom>
          <a:solidFill>
            <a:srgbClr val="55D8E0"/>
          </a:solidFill>
          <a:ln w="25400">
            <a:solidFill>
              <a:srgbClr val="07131E"/>
            </a:solidFill>
            <a:prstDash val="solid"/>
          </a:ln>
        </p:spPr>
      </p:sp>
      <p:sp>
        <p:nvSpPr>
          <p:cNvPr id="23" name="Shape 21"/>
          <p:cNvSpPr/>
          <p:nvPr/>
        </p:nvSpPr>
        <p:spPr>
          <a:xfrm>
            <a:off x="9692640" y="5650992"/>
            <a:ext cx="384048" cy="384048"/>
          </a:xfrm>
          <a:prstGeom prst="ellipse">
            <a:avLst/>
          </a:prstGeom>
          <a:solidFill>
            <a:srgbClr val="67D3A5"/>
          </a:solidFill>
          <a:ln w="25400">
            <a:solidFill>
              <a:srgbClr val="07131E"/>
            </a:solidFill>
            <a:prstDash val="solid"/>
          </a:ln>
        </p:spPr>
      </p:sp>
      <p:sp>
        <p:nvSpPr>
          <p:cNvPr id="24" name="Shape 22"/>
          <p:cNvSpPr/>
          <p:nvPr/>
        </p:nvSpPr>
        <p:spPr>
          <a:xfrm>
            <a:off x="2487168" y="5843016"/>
            <a:ext cx="3410712" cy="0"/>
          </a:xfrm>
          <a:prstGeom prst="line">
            <a:avLst/>
          </a:prstGeom>
          <a:noFill/>
          <a:ln w="50800">
            <a:solidFill>
              <a:srgbClr val="2B4658"/>
            </a:solidFill>
            <a:prstDash val="solid"/>
          </a:ln>
        </p:spPr>
      </p:sp>
      <p:sp>
        <p:nvSpPr>
          <p:cNvPr id="25" name="Shape 23"/>
          <p:cNvSpPr/>
          <p:nvPr/>
        </p:nvSpPr>
        <p:spPr>
          <a:xfrm>
            <a:off x="6281928" y="5843016"/>
            <a:ext cx="3410712" cy="0"/>
          </a:xfrm>
          <a:prstGeom prst="line">
            <a:avLst/>
          </a:prstGeom>
          <a:noFill/>
          <a:ln w="50800">
            <a:solidFill>
              <a:srgbClr val="2B4658"/>
            </a:solidFill>
            <a:prstDash val="solid"/>
          </a:ln>
        </p:spPr>
      </p:sp>
      <p:sp>
        <p:nvSpPr>
          <p:cNvPr id="26" name="Text 24"/>
          <p:cNvSpPr/>
          <p:nvPr/>
        </p:nvSpPr>
        <p:spPr>
          <a:xfrm>
            <a:off x="1627632" y="6089904"/>
            <a:ext cx="1325880" cy="210312"/>
          </a:xfrm>
          <a:prstGeom prst="rect">
            <a:avLst/>
          </a:prstGeom>
          <a:noFill/>
          <a:ln/>
        </p:spPr>
        <p:txBody>
          <a:bodyPr wrap="square" lIns="0" tIns="0" rIns="0" bIns="0" rtlCol="0" anchor="ctr"/>
          <a:lstStyle/>
          <a:p>
            <a:pPr algn="ctr" indent="0" marL="0">
              <a:buNone/>
            </a:pPr>
            <a:r>
              <a:rPr lang="en-US" sz="1100" dirty="0">
                <a:solidFill>
                  <a:srgbClr val="F2B65D"/>
                </a:solidFill>
                <a:latin typeface="Noto Sans CJK JP" pitchFamily="34" charset="0"/>
                <a:ea typeface="Noto Sans CJK JP" pitchFamily="34" charset="-122"/>
                <a:cs typeface="Noto Sans CJK JP" pitchFamily="34" charset="-120"/>
              </a:rPr>
              <a:t>数体系</a:t>
            </a:r>
            <a:endParaRPr lang="en-US" sz="1100" dirty="0"/>
          </a:p>
        </p:txBody>
      </p:sp>
      <p:sp>
        <p:nvSpPr>
          <p:cNvPr id="27" name="Text 25"/>
          <p:cNvSpPr/>
          <p:nvPr/>
        </p:nvSpPr>
        <p:spPr>
          <a:xfrm>
            <a:off x="5230368" y="6089904"/>
            <a:ext cx="1325880" cy="210312"/>
          </a:xfrm>
          <a:prstGeom prst="rect">
            <a:avLst/>
          </a:prstGeom>
          <a:noFill/>
          <a:ln/>
        </p:spPr>
        <p:txBody>
          <a:bodyPr wrap="square" lIns="0" tIns="0" rIns="0" bIns="0" rtlCol="0" anchor="ctr"/>
          <a:lstStyle/>
          <a:p>
            <a:pPr algn="ctr" indent="0" marL="0">
              <a:buNone/>
            </a:pPr>
            <a:r>
              <a:rPr lang="en-US" sz="1100" dirty="0">
                <a:solidFill>
                  <a:srgbClr val="55D8E0"/>
                </a:solidFill>
                <a:latin typeface="Noto Sans CJK JP" pitchFamily="34" charset="0"/>
                <a:ea typeface="Noto Sans CJK JP" pitchFamily="34" charset="-122"/>
                <a:cs typeface="Noto Sans CJK JP" pitchFamily="34" charset="-120"/>
              </a:rPr>
              <a:t>離散幾何</a:t>
            </a:r>
            <a:endParaRPr lang="en-US" sz="1100" dirty="0"/>
          </a:p>
        </p:txBody>
      </p:sp>
      <p:sp>
        <p:nvSpPr>
          <p:cNvPr id="28" name="Text 26"/>
          <p:cNvSpPr/>
          <p:nvPr/>
        </p:nvSpPr>
        <p:spPr>
          <a:xfrm>
            <a:off x="8915400" y="6089904"/>
            <a:ext cx="1691640" cy="210312"/>
          </a:xfrm>
          <a:prstGeom prst="rect">
            <a:avLst/>
          </a:prstGeom>
          <a:noFill/>
          <a:ln/>
        </p:spPr>
        <p:txBody>
          <a:bodyPr wrap="square" lIns="0" tIns="0" rIns="0" bIns="0" rtlCol="0" anchor="ctr"/>
          <a:lstStyle/>
          <a:p>
            <a:pPr algn="ctr" indent="0" marL="0">
              <a:buNone/>
            </a:pPr>
            <a:r>
              <a:rPr lang="en-US" sz="1100" dirty="0">
                <a:solidFill>
                  <a:srgbClr val="67D3A5"/>
                </a:solidFill>
                <a:latin typeface="Noto Sans CJK JP" pitchFamily="34" charset="0"/>
                <a:ea typeface="Noto Sans CJK JP" pitchFamily="34" charset="-122"/>
                <a:cs typeface="Noto Sans CJK JP" pitchFamily="34" charset="-120"/>
              </a:rPr>
              <a:t>ホログラフィー・数論</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REFERENCES</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主要文献 1：p進弦理論</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古典的論文とタキオン凝縮</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23</a:t>
            </a:r>
            <a:endParaRPr lang="en-US" sz="1000" dirty="0"/>
          </a:p>
        </p:txBody>
      </p:sp>
      <p:sp>
        <p:nvSpPr>
          <p:cNvPr id="8" name="Text 6"/>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23 / 24</a:t>
            </a:r>
            <a:endParaRPr lang="en-US" sz="750" dirty="0"/>
          </a:p>
        </p:txBody>
      </p:sp>
      <p:sp>
        <p:nvSpPr>
          <p:cNvPr id="9" name="Shape 7"/>
          <p:cNvSpPr/>
          <p:nvPr/>
        </p:nvSpPr>
        <p:spPr>
          <a:xfrm>
            <a:off x="658368" y="1737360"/>
            <a:ext cx="10881360" cy="484632"/>
          </a:xfrm>
          <a:prstGeom prst="roundRect">
            <a:avLst>
              <a:gd name="adj" fmla="val 22642"/>
            </a:avLst>
          </a:prstGeom>
          <a:solidFill>
            <a:srgbClr val="0D2231"/>
          </a:solidFill>
          <a:ln w="12700">
            <a:solidFill>
              <a:srgbClr val="2B4658"/>
            </a:solidFill>
            <a:prstDash val="solid"/>
          </a:ln>
        </p:spPr>
      </p:sp>
      <p:sp>
        <p:nvSpPr>
          <p:cNvPr id="10" name="Text 8"/>
          <p:cNvSpPr/>
          <p:nvPr/>
        </p:nvSpPr>
        <p:spPr>
          <a:xfrm>
            <a:off x="841248" y="1865376"/>
            <a:ext cx="411480" cy="201168"/>
          </a:xfrm>
          <a:prstGeom prst="rect">
            <a:avLst/>
          </a:prstGeom>
          <a:noFill/>
          <a:ln/>
        </p:spPr>
        <p:txBody>
          <a:bodyPr wrap="square" lIns="0" tIns="0" rIns="0" bIns="0" rtlCol="0" anchor="ctr"/>
          <a:lstStyle/>
          <a:p>
            <a:pPr indent="0" marL="0">
              <a:buNone/>
            </a:pPr>
            <a:r>
              <a:rPr lang="en-US" sz="1050" b="1" dirty="0">
                <a:solidFill>
                  <a:srgbClr val="F2B65D"/>
                </a:solidFill>
                <a:latin typeface="Noto Sans Mono CJK JP" pitchFamily="34" charset="0"/>
                <a:ea typeface="Noto Sans Mono CJK JP" pitchFamily="34" charset="-122"/>
                <a:cs typeface="Noto Sans Mono CJK JP" pitchFamily="34" charset="-120"/>
              </a:rPr>
              <a:t>[1]</a:t>
            </a:r>
            <a:endParaRPr lang="en-US" sz="1050" dirty="0"/>
          </a:p>
        </p:txBody>
      </p:sp>
      <p:sp>
        <p:nvSpPr>
          <p:cNvPr id="11" name="Text 9"/>
          <p:cNvSpPr/>
          <p:nvPr/>
        </p:nvSpPr>
        <p:spPr>
          <a:xfrm>
            <a:off x="1298448" y="1828800"/>
            <a:ext cx="9921240" cy="283464"/>
          </a:xfrm>
          <a:prstGeom prst="rect">
            <a:avLst/>
          </a:prstGeom>
          <a:noFill/>
          <a:ln/>
        </p:spPr>
        <p:txBody>
          <a:bodyPr wrap="square" lIns="0" tIns="0" rIns="0" bIns="0" rtlCol="0" anchor="ctr">
            <a:normAutofit/>
          </a:bodyPr>
          <a:lstStyle/>
          <a:p>
            <a:pPr indent="0" marL="0">
              <a:buNone/>
            </a:pPr>
            <a:r>
              <a:rPr lang="en-US" sz="1080" dirty="0">
                <a:solidFill>
                  <a:srgbClr val="F4F7FA"/>
                </a:solidFill>
                <a:latin typeface="Noto Sans CJK JP" pitchFamily="34" charset="0"/>
                <a:ea typeface="Noto Sans CJK JP" pitchFamily="34" charset="-122"/>
                <a:cs typeface="Noto Sans CJK JP" pitchFamily="34" charset="-120"/>
              </a:rPr>
              <a:t>I. V. Volovich, “p-Adic String,” Class. Quantum Grav. 4, L83–L87 (1987).</a:t>
            </a:r>
            <a:endParaRPr lang="en-US" sz="1080" dirty="0"/>
          </a:p>
        </p:txBody>
      </p:sp>
      <p:sp>
        <p:nvSpPr>
          <p:cNvPr id="12" name="Shape 10"/>
          <p:cNvSpPr/>
          <p:nvPr/>
        </p:nvSpPr>
        <p:spPr>
          <a:xfrm>
            <a:off x="658368" y="2359152"/>
            <a:ext cx="10881360" cy="484632"/>
          </a:xfrm>
          <a:prstGeom prst="roundRect">
            <a:avLst>
              <a:gd name="adj" fmla="val 22642"/>
            </a:avLst>
          </a:prstGeom>
          <a:solidFill>
            <a:srgbClr val="0B1C2A"/>
          </a:solidFill>
          <a:ln w="12700">
            <a:solidFill>
              <a:srgbClr val="2B4658"/>
            </a:solidFill>
            <a:prstDash val="solid"/>
          </a:ln>
        </p:spPr>
      </p:sp>
      <p:sp>
        <p:nvSpPr>
          <p:cNvPr id="13" name="Text 11"/>
          <p:cNvSpPr/>
          <p:nvPr/>
        </p:nvSpPr>
        <p:spPr>
          <a:xfrm>
            <a:off x="841248" y="2487168"/>
            <a:ext cx="411480" cy="201168"/>
          </a:xfrm>
          <a:prstGeom prst="rect">
            <a:avLst/>
          </a:prstGeom>
          <a:noFill/>
          <a:ln/>
        </p:spPr>
        <p:txBody>
          <a:bodyPr wrap="square" lIns="0" tIns="0" rIns="0" bIns="0" rtlCol="0" anchor="ctr"/>
          <a:lstStyle/>
          <a:p>
            <a:pPr indent="0" marL="0">
              <a:buNone/>
            </a:pPr>
            <a:r>
              <a:rPr lang="en-US" sz="1050" b="1" dirty="0">
                <a:solidFill>
                  <a:srgbClr val="F2B65D"/>
                </a:solidFill>
                <a:latin typeface="Noto Sans Mono CJK JP" pitchFamily="34" charset="0"/>
                <a:ea typeface="Noto Sans Mono CJK JP" pitchFamily="34" charset="-122"/>
                <a:cs typeface="Noto Sans Mono CJK JP" pitchFamily="34" charset="-120"/>
              </a:rPr>
              <a:t>[2]</a:t>
            </a:r>
            <a:endParaRPr lang="en-US" sz="1050" dirty="0"/>
          </a:p>
        </p:txBody>
      </p:sp>
      <p:sp>
        <p:nvSpPr>
          <p:cNvPr id="14" name="Text 12"/>
          <p:cNvSpPr/>
          <p:nvPr/>
        </p:nvSpPr>
        <p:spPr>
          <a:xfrm>
            <a:off x="1298448" y="2450592"/>
            <a:ext cx="9921240" cy="283464"/>
          </a:xfrm>
          <a:prstGeom prst="rect">
            <a:avLst/>
          </a:prstGeom>
          <a:noFill/>
          <a:ln/>
        </p:spPr>
        <p:txBody>
          <a:bodyPr wrap="square" lIns="0" tIns="0" rIns="0" bIns="0" rtlCol="0" anchor="ctr">
            <a:normAutofit/>
          </a:bodyPr>
          <a:lstStyle/>
          <a:p>
            <a:pPr indent="0" marL="0">
              <a:buNone/>
            </a:pPr>
            <a:r>
              <a:rPr lang="en-US" sz="1080" dirty="0">
                <a:solidFill>
                  <a:srgbClr val="F4F7FA"/>
                </a:solidFill>
                <a:latin typeface="Noto Sans CJK JP" pitchFamily="34" charset="0"/>
                <a:ea typeface="Noto Sans CJK JP" pitchFamily="34" charset="-122"/>
                <a:cs typeface="Noto Sans CJK JP" pitchFamily="34" charset="-120"/>
              </a:rPr>
              <a:t>P. G. O. Freund and M. Olson, “Non-Archimedean Strings,” Phys. Lett. B 199, 186–190 (1987).</a:t>
            </a:r>
            <a:endParaRPr lang="en-US" sz="1080" dirty="0"/>
          </a:p>
        </p:txBody>
      </p:sp>
      <p:sp>
        <p:nvSpPr>
          <p:cNvPr id="15" name="Shape 13"/>
          <p:cNvSpPr/>
          <p:nvPr/>
        </p:nvSpPr>
        <p:spPr>
          <a:xfrm>
            <a:off x="658368" y="2980944"/>
            <a:ext cx="10881360" cy="484632"/>
          </a:xfrm>
          <a:prstGeom prst="roundRect">
            <a:avLst>
              <a:gd name="adj" fmla="val 22642"/>
            </a:avLst>
          </a:prstGeom>
          <a:solidFill>
            <a:srgbClr val="0D2231"/>
          </a:solidFill>
          <a:ln w="12700">
            <a:solidFill>
              <a:srgbClr val="2B4658"/>
            </a:solidFill>
            <a:prstDash val="solid"/>
          </a:ln>
        </p:spPr>
      </p:sp>
      <p:sp>
        <p:nvSpPr>
          <p:cNvPr id="16" name="Text 14"/>
          <p:cNvSpPr/>
          <p:nvPr/>
        </p:nvSpPr>
        <p:spPr>
          <a:xfrm>
            <a:off x="841248" y="3108960"/>
            <a:ext cx="411480" cy="201168"/>
          </a:xfrm>
          <a:prstGeom prst="rect">
            <a:avLst/>
          </a:prstGeom>
          <a:noFill/>
          <a:ln/>
        </p:spPr>
        <p:txBody>
          <a:bodyPr wrap="square" lIns="0" tIns="0" rIns="0" bIns="0" rtlCol="0" anchor="ctr"/>
          <a:lstStyle/>
          <a:p>
            <a:pPr indent="0" marL="0">
              <a:buNone/>
            </a:pPr>
            <a:r>
              <a:rPr lang="en-US" sz="1050" b="1" dirty="0">
                <a:solidFill>
                  <a:srgbClr val="F2B65D"/>
                </a:solidFill>
                <a:latin typeface="Noto Sans Mono CJK JP" pitchFamily="34" charset="0"/>
                <a:ea typeface="Noto Sans Mono CJK JP" pitchFamily="34" charset="-122"/>
                <a:cs typeface="Noto Sans Mono CJK JP" pitchFamily="34" charset="-120"/>
              </a:rPr>
              <a:t>[3]</a:t>
            </a:r>
            <a:endParaRPr lang="en-US" sz="1050" dirty="0"/>
          </a:p>
        </p:txBody>
      </p:sp>
      <p:sp>
        <p:nvSpPr>
          <p:cNvPr id="17" name="Text 15"/>
          <p:cNvSpPr/>
          <p:nvPr/>
        </p:nvSpPr>
        <p:spPr>
          <a:xfrm>
            <a:off x="1298448" y="3072384"/>
            <a:ext cx="9921240" cy="283464"/>
          </a:xfrm>
          <a:prstGeom prst="rect">
            <a:avLst/>
          </a:prstGeom>
          <a:noFill/>
          <a:ln/>
        </p:spPr>
        <p:txBody>
          <a:bodyPr wrap="square" lIns="0" tIns="0" rIns="0" bIns="0" rtlCol="0" anchor="ctr">
            <a:normAutofit/>
          </a:bodyPr>
          <a:lstStyle/>
          <a:p>
            <a:pPr indent="0" marL="0">
              <a:buNone/>
            </a:pPr>
            <a:r>
              <a:rPr lang="en-US" sz="1080" dirty="0">
                <a:solidFill>
                  <a:srgbClr val="F4F7FA"/>
                </a:solidFill>
                <a:latin typeface="Noto Sans CJK JP" pitchFamily="34" charset="0"/>
                <a:ea typeface="Noto Sans CJK JP" pitchFamily="34" charset="-122"/>
                <a:cs typeface="Noto Sans CJK JP" pitchFamily="34" charset="-120"/>
              </a:rPr>
              <a:t>P. G. O. Freund and E. Witten, “Adelic String Amplitudes,” Phys. Lett. B 199, 191–194 (1987).</a:t>
            </a:r>
            <a:endParaRPr lang="en-US" sz="1080" dirty="0"/>
          </a:p>
        </p:txBody>
      </p:sp>
      <p:sp>
        <p:nvSpPr>
          <p:cNvPr id="18" name="Shape 16"/>
          <p:cNvSpPr/>
          <p:nvPr/>
        </p:nvSpPr>
        <p:spPr>
          <a:xfrm>
            <a:off x="658368" y="3602736"/>
            <a:ext cx="10881360" cy="484632"/>
          </a:xfrm>
          <a:prstGeom prst="roundRect">
            <a:avLst>
              <a:gd name="adj" fmla="val 22642"/>
            </a:avLst>
          </a:prstGeom>
          <a:solidFill>
            <a:srgbClr val="0B1C2A"/>
          </a:solidFill>
          <a:ln w="12700">
            <a:solidFill>
              <a:srgbClr val="2B4658"/>
            </a:solidFill>
            <a:prstDash val="solid"/>
          </a:ln>
        </p:spPr>
      </p:sp>
      <p:sp>
        <p:nvSpPr>
          <p:cNvPr id="19" name="Text 17"/>
          <p:cNvSpPr/>
          <p:nvPr/>
        </p:nvSpPr>
        <p:spPr>
          <a:xfrm>
            <a:off x="841248" y="3730752"/>
            <a:ext cx="411480" cy="201168"/>
          </a:xfrm>
          <a:prstGeom prst="rect">
            <a:avLst/>
          </a:prstGeom>
          <a:noFill/>
          <a:ln/>
        </p:spPr>
        <p:txBody>
          <a:bodyPr wrap="square" lIns="0" tIns="0" rIns="0" bIns="0" rtlCol="0" anchor="ctr"/>
          <a:lstStyle/>
          <a:p>
            <a:pPr indent="0" marL="0">
              <a:buNone/>
            </a:pPr>
            <a:r>
              <a:rPr lang="en-US" sz="1050" b="1" dirty="0">
                <a:solidFill>
                  <a:srgbClr val="F2B65D"/>
                </a:solidFill>
                <a:latin typeface="Noto Sans Mono CJK JP" pitchFamily="34" charset="0"/>
                <a:ea typeface="Noto Sans Mono CJK JP" pitchFamily="34" charset="-122"/>
                <a:cs typeface="Noto Sans Mono CJK JP" pitchFamily="34" charset="-120"/>
              </a:rPr>
              <a:t>[4]</a:t>
            </a:r>
            <a:endParaRPr lang="en-US" sz="1050" dirty="0"/>
          </a:p>
        </p:txBody>
      </p:sp>
      <p:sp>
        <p:nvSpPr>
          <p:cNvPr id="20" name="Text 18"/>
          <p:cNvSpPr/>
          <p:nvPr/>
        </p:nvSpPr>
        <p:spPr>
          <a:xfrm>
            <a:off x="1298448" y="3694176"/>
            <a:ext cx="9921240" cy="283464"/>
          </a:xfrm>
          <a:prstGeom prst="rect">
            <a:avLst/>
          </a:prstGeom>
          <a:noFill/>
          <a:ln/>
        </p:spPr>
        <p:txBody>
          <a:bodyPr wrap="square" lIns="0" tIns="0" rIns="0" bIns="0" rtlCol="0" anchor="ctr">
            <a:normAutofit/>
          </a:bodyPr>
          <a:lstStyle/>
          <a:p>
            <a:pPr indent="0" marL="0">
              <a:buNone/>
            </a:pPr>
            <a:r>
              <a:rPr lang="en-US" sz="1080" dirty="0">
                <a:solidFill>
                  <a:srgbClr val="F4F7FA"/>
                </a:solidFill>
                <a:latin typeface="Noto Sans CJK JP" pitchFamily="34" charset="0"/>
                <a:ea typeface="Noto Sans CJK JP" pitchFamily="34" charset="-122"/>
                <a:cs typeface="Noto Sans CJK JP" pitchFamily="34" charset="-120"/>
              </a:rPr>
              <a:t>L. Brekke, P. G. O. Freund, M. Olson and E. Witten, “Non-Archimedean String Dynamics,” Nucl. Phys. B 302, 365–402 (1988).</a:t>
            </a:r>
            <a:endParaRPr lang="en-US" sz="1080" dirty="0"/>
          </a:p>
        </p:txBody>
      </p:sp>
      <p:sp>
        <p:nvSpPr>
          <p:cNvPr id="21" name="Shape 19"/>
          <p:cNvSpPr/>
          <p:nvPr/>
        </p:nvSpPr>
        <p:spPr>
          <a:xfrm>
            <a:off x="658368" y="4224528"/>
            <a:ext cx="10881360" cy="484632"/>
          </a:xfrm>
          <a:prstGeom prst="roundRect">
            <a:avLst>
              <a:gd name="adj" fmla="val 22642"/>
            </a:avLst>
          </a:prstGeom>
          <a:solidFill>
            <a:srgbClr val="0D2231"/>
          </a:solidFill>
          <a:ln w="12700">
            <a:solidFill>
              <a:srgbClr val="2B4658"/>
            </a:solidFill>
            <a:prstDash val="solid"/>
          </a:ln>
        </p:spPr>
      </p:sp>
      <p:sp>
        <p:nvSpPr>
          <p:cNvPr id="22" name="Text 20"/>
          <p:cNvSpPr/>
          <p:nvPr/>
        </p:nvSpPr>
        <p:spPr>
          <a:xfrm>
            <a:off x="841248" y="4352544"/>
            <a:ext cx="411480" cy="201168"/>
          </a:xfrm>
          <a:prstGeom prst="rect">
            <a:avLst/>
          </a:prstGeom>
          <a:noFill/>
          <a:ln/>
        </p:spPr>
        <p:txBody>
          <a:bodyPr wrap="square" lIns="0" tIns="0" rIns="0" bIns="0" rtlCol="0" anchor="ctr"/>
          <a:lstStyle/>
          <a:p>
            <a:pPr indent="0" marL="0">
              <a:buNone/>
            </a:pPr>
            <a:r>
              <a:rPr lang="en-US" sz="1050" b="1" dirty="0">
                <a:solidFill>
                  <a:srgbClr val="F2B65D"/>
                </a:solidFill>
                <a:latin typeface="Noto Sans Mono CJK JP" pitchFamily="34" charset="0"/>
                <a:ea typeface="Noto Sans Mono CJK JP" pitchFamily="34" charset="-122"/>
                <a:cs typeface="Noto Sans Mono CJK JP" pitchFamily="34" charset="-120"/>
              </a:rPr>
              <a:t>[5]</a:t>
            </a:r>
            <a:endParaRPr lang="en-US" sz="1050" dirty="0"/>
          </a:p>
        </p:txBody>
      </p:sp>
      <p:sp>
        <p:nvSpPr>
          <p:cNvPr id="23" name="Text 21"/>
          <p:cNvSpPr/>
          <p:nvPr/>
        </p:nvSpPr>
        <p:spPr>
          <a:xfrm>
            <a:off x="1298448" y="4315968"/>
            <a:ext cx="9921240" cy="283464"/>
          </a:xfrm>
          <a:prstGeom prst="rect">
            <a:avLst/>
          </a:prstGeom>
          <a:noFill/>
          <a:ln/>
        </p:spPr>
        <p:txBody>
          <a:bodyPr wrap="square" lIns="0" tIns="0" rIns="0" bIns="0" rtlCol="0" anchor="ctr">
            <a:normAutofit/>
          </a:bodyPr>
          <a:lstStyle/>
          <a:p>
            <a:pPr indent="0" marL="0">
              <a:buNone/>
            </a:pPr>
            <a:r>
              <a:rPr lang="en-US" sz="1080" dirty="0">
                <a:solidFill>
                  <a:srgbClr val="F4F7FA"/>
                </a:solidFill>
                <a:latin typeface="Noto Sans CJK JP" pitchFamily="34" charset="0"/>
                <a:ea typeface="Noto Sans CJK JP" pitchFamily="34" charset="-122"/>
                <a:cs typeface="Noto Sans CJK JP" pitchFamily="34" charset="-120"/>
              </a:rPr>
              <a:t>A. V. Zabrodin, “Non-Archimedean Strings and Bruhat–Tits Trees,” Commun. Math. Phys. 123, 463–483 (1989).</a:t>
            </a:r>
            <a:endParaRPr lang="en-US" sz="1080" dirty="0"/>
          </a:p>
        </p:txBody>
      </p:sp>
      <p:sp>
        <p:nvSpPr>
          <p:cNvPr id="24" name="Shape 22"/>
          <p:cNvSpPr/>
          <p:nvPr/>
        </p:nvSpPr>
        <p:spPr>
          <a:xfrm>
            <a:off x="658368" y="4846320"/>
            <a:ext cx="10881360" cy="484632"/>
          </a:xfrm>
          <a:prstGeom prst="roundRect">
            <a:avLst>
              <a:gd name="adj" fmla="val 22642"/>
            </a:avLst>
          </a:prstGeom>
          <a:solidFill>
            <a:srgbClr val="0B1C2A"/>
          </a:solidFill>
          <a:ln w="12700">
            <a:solidFill>
              <a:srgbClr val="2B4658"/>
            </a:solidFill>
            <a:prstDash val="solid"/>
          </a:ln>
        </p:spPr>
      </p:sp>
      <p:sp>
        <p:nvSpPr>
          <p:cNvPr id="25" name="Text 23"/>
          <p:cNvSpPr/>
          <p:nvPr/>
        </p:nvSpPr>
        <p:spPr>
          <a:xfrm>
            <a:off x="841248" y="4974336"/>
            <a:ext cx="411480" cy="201168"/>
          </a:xfrm>
          <a:prstGeom prst="rect">
            <a:avLst/>
          </a:prstGeom>
          <a:noFill/>
          <a:ln/>
        </p:spPr>
        <p:txBody>
          <a:bodyPr wrap="square" lIns="0" tIns="0" rIns="0" bIns="0" rtlCol="0" anchor="ctr"/>
          <a:lstStyle/>
          <a:p>
            <a:pPr indent="0" marL="0">
              <a:buNone/>
            </a:pPr>
            <a:r>
              <a:rPr lang="en-US" sz="1050" b="1" dirty="0">
                <a:solidFill>
                  <a:srgbClr val="F2B65D"/>
                </a:solidFill>
                <a:latin typeface="Noto Sans Mono CJK JP" pitchFamily="34" charset="0"/>
                <a:ea typeface="Noto Sans Mono CJK JP" pitchFamily="34" charset="-122"/>
                <a:cs typeface="Noto Sans Mono CJK JP" pitchFamily="34" charset="-120"/>
              </a:rPr>
              <a:t>[6]</a:t>
            </a:r>
            <a:endParaRPr lang="en-US" sz="1050" dirty="0"/>
          </a:p>
        </p:txBody>
      </p:sp>
      <p:sp>
        <p:nvSpPr>
          <p:cNvPr id="26" name="Text 24"/>
          <p:cNvSpPr/>
          <p:nvPr/>
        </p:nvSpPr>
        <p:spPr>
          <a:xfrm>
            <a:off x="1298448" y="4937760"/>
            <a:ext cx="9921240" cy="283464"/>
          </a:xfrm>
          <a:prstGeom prst="rect">
            <a:avLst/>
          </a:prstGeom>
          <a:noFill/>
          <a:ln/>
        </p:spPr>
        <p:txBody>
          <a:bodyPr wrap="square" lIns="0" tIns="0" rIns="0" bIns="0" rtlCol="0" anchor="ctr">
            <a:normAutofit/>
          </a:bodyPr>
          <a:lstStyle/>
          <a:p>
            <a:pPr indent="0" marL="0">
              <a:buNone/>
            </a:pPr>
            <a:r>
              <a:rPr lang="en-US" sz="1080" dirty="0">
                <a:solidFill>
                  <a:srgbClr val="F4F7FA"/>
                </a:solidFill>
                <a:latin typeface="Noto Sans CJK JP" pitchFamily="34" charset="0"/>
                <a:ea typeface="Noto Sans CJK JP" pitchFamily="34" charset="-122"/>
                <a:cs typeface="Noto Sans CJK JP" pitchFamily="34" charset="-120"/>
              </a:rPr>
              <a:t>D. Ghoshal and A. Sen, “Tachyon Condensation and Brane Descent Relations in p-adic String Theory,” Nucl. Phys. B 584, 300–312 (2000), arXiv:hep-th/0003278.</a:t>
            </a:r>
            <a:endParaRPr lang="en-US" sz="1080" dirty="0"/>
          </a:p>
        </p:txBody>
      </p:sp>
      <p:sp>
        <p:nvSpPr>
          <p:cNvPr id="27" name="Shape 25"/>
          <p:cNvSpPr/>
          <p:nvPr/>
        </p:nvSpPr>
        <p:spPr>
          <a:xfrm>
            <a:off x="658368" y="5468112"/>
            <a:ext cx="10881360" cy="484632"/>
          </a:xfrm>
          <a:prstGeom prst="roundRect">
            <a:avLst>
              <a:gd name="adj" fmla="val 22642"/>
            </a:avLst>
          </a:prstGeom>
          <a:solidFill>
            <a:srgbClr val="0D2231"/>
          </a:solidFill>
          <a:ln w="12700">
            <a:solidFill>
              <a:srgbClr val="2B4658"/>
            </a:solidFill>
            <a:prstDash val="solid"/>
          </a:ln>
        </p:spPr>
      </p:sp>
      <p:sp>
        <p:nvSpPr>
          <p:cNvPr id="28" name="Text 26"/>
          <p:cNvSpPr/>
          <p:nvPr/>
        </p:nvSpPr>
        <p:spPr>
          <a:xfrm>
            <a:off x="841248" y="5596128"/>
            <a:ext cx="411480" cy="201168"/>
          </a:xfrm>
          <a:prstGeom prst="rect">
            <a:avLst/>
          </a:prstGeom>
          <a:noFill/>
          <a:ln/>
        </p:spPr>
        <p:txBody>
          <a:bodyPr wrap="square" lIns="0" tIns="0" rIns="0" bIns="0" rtlCol="0" anchor="ctr"/>
          <a:lstStyle/>
          <a:p>
            <a:pPr indent="0" marL="0">
              <a:buNone/>
            </a:pPr>
            <a:r>
              <a:rPr lang="en-US" sz="1050" b="1" dirty="0">
                <a:solidFill>
                  <a:srgbClr val="F2B65D"/>
                </a:solidFill>
                <a:latin typeface="Noto Sans Mono CJK JP" pitchFamily="34" charset="0"/>
                <a:ea typeface="Noto Sans Mono CJK JP" pitchFamily="34" charset="-122"/>
                <a:cs typeface="Noto Sans Mono CJK JP" pitchFamily="34" charset="-120"/>
              </a:rPr>
              <a:t>[7]</a:t>
            </a:r>
            <a:endParaRPr lang="en-US" sz="1050" dirty="0"/>
          </a:p>
        </p:txBody>
      </p:sp>
      <p:sp>
        <p:nvSpPr>
          <p:cNvPr id="29" name="Text 27"/>
          <p:cNvSpPr/>
          <p:nvPr/>
        </p:nvSpPr>
        <p:spPr>
          <a:xfrm>
            <a:off x="1298448" y="5559552"/>
            <a:ext cx="9921240" cy="283464"/>
          </a:xfrm>
          <a:prstGeom prst="rect">
            <a:avLst/>
          </a:prstGeom>
          <a:noFill/>
          <a:ln/>
        </p:spPr>
        <p:txBody>
          <a:bodyPr wrap="square" lIns="0" tIns="0" rIns="0" bIns="0" rtlCol="0" anchor="ctr">
            <a:normAutofit/>
          </a:bodyPr>
          <a:lstStyle/>
          <a:p>
            <a:pPr indent="0" marL="0">
              <a:buNone/>
            </a:pPr>
            <a:r>
              <a:rPr lang="en-US" sz="1080" dirty="0">
                <a:solidFill>
                  <a:srgbClr val="F4F7FA"/>
                </a:solidFill>
                <a:latin typeface="Noto Sans CJK JP" pitchFamily="34" charset="0"/>
                <a:ea typeface="Noto Sans CJK JP" pitchFamily="34" charset="-122"/>
                <a:cs typeface="Noto Sans CJK JP" pitchFamily="34" charset="-120"/>
              </a:rPr>
              <a:t>C. B. Jepsen, “Adelic Amplitudes and Intricacies of Infinite Products,” Nucl. Phys. B 987, 116094 (2023).</a:t>
            </a:r>
            <a:endParaRPr lang="en-US" sz="1080" dirty="0"/>
          </a:p>
        </p:txBody>
      </p:sp>
      <p:sp>
        <p:nvSpPr>
          <p:cNvPr id="30" name="Text 28"/>
          <p:cNvSpPr/>
          <p:nvPr/>
        </p:nvSpPr>
        <p:spPr>
          <a:xfrm>
            <a:off x="868680" y="6190488"/>
            <a:ext cx="10241280" cy="256032"/>
          </a:xfrm>
          <a:prstGeom prst="rect">
            <a:avLst/>
          </a:prstGeom>
          <a:noFill/>
          <a:ln/>
        </p:spPr>
        <p:txBody>
          <a:bodyPr wrap="square" lIns="0" tIns="0" rIns="0" bIns="0" rtlCol="0" anchor="ctr">
            <a:normAutofit/>
          </a:bodyPr>
          <a:lstStyle/>
          <a:p>
            <a:pPr algn="ctr" indent="0" marL="0">
              <a:buNone/>
            </a:pPr>
            <a:r>
              <a:rPr lang="en-US" sz="1020" dirty="0">
                <a:solidFill>
                  <a:srgbClr val="A9BBC9"/>
                </a:solidFill>
                <a:latin typeface="Noto Sans CJK JP" pitchFamily="34" charset="0"/>
                <a:ea typeface="Noto Sans CJK JP" pitchFamily="34" charset="-122"/>
                <a:cs typeface="Noto Sans CJK JP" pitchFamily="34" charset="-120"/>
              </a:rPr>
              <a:t>注：振幅の規約と結合定数の正規化は文献ごとに異なる。スライドでは構造が見える代表的な規約を採用。</a:t>
            </a:r>
            <a:endParaRPr lang="en-US" sz="10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7131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E"/>
          </a:solidFill>
          <a:ln w="12700">
            <a:solidFill>
              <a:srgbClr val="07131E"/>
            </a:solidFill>
            <a:prstDash val="solid"/>
          </a:ln>
        </p:spPr>
      </p:sp>
      <p:sp>
        <p:nvSpPr>
          <p:cNvPr id="3" name="Shape 1"/>
          <p:cNvSpPr/>
          <p:nvPr/>
        </p:nvSpPr>
        <p:spPr>
          <a:xfrm>
            <a:off x="502920" y="612648"/>
            <a:ext cx="502920" cy="0"/>
          </a:xfrm>
          <a:prstGeom prst="line">
            <a:avLst/>
          </a:prstGeom>
          <a:noFill/>
          <a:ln w="38100">
            <a:solidFill>
              <a:srgbClr val="55D8E0"/>
            </a:solidFill>
            <a:prstDash val="solid"/>
          </a:ln>
        </p:spPr>
      </p:sp>
      <p:sp>
        <p:nvSpPr>
          <p:cNvPr id="4" name="Text 2"/>
          <p:cNvSpPr/>
          <p:nvPr/>
        </p:nvSpPr>
        <p:spPr>
          <a:xfrm>
            <a:off x="1078992" y="429768"/>
            <a:ext cx="2926080" cy="292608"/>
          </a:xfrm>
          <a:prstGeom prst="rect">
            <a:avLst/>
          </a:prstGeom>
          <a:noFill/>
          <a:ln/>
        </p:spPr>
        <p:txBody>
          <a:bodyPr wrap="square" lIns="0" tIns="0" rIns="0" bIns="0" rtlCol="0" anchor="ctr"/>
          <a:lstStyle/>
          <a:p>
            <a:pPr indent="0" marL="0">
              <a:buNone/>
            </a:pPr>
            <a:r>
              <a:rPr lang="en-US" sz="1000" b="1" spc="120" kern="0" dirty="0">
                <a:solidFill>
                  <a:srgbClr val="55D8E0"/>
                </a:solidFill>
                <a:latin typeface="Noto Sans Mono CJK JP" pitchFamily="34" charset="0"/>
                <a:ea typeface="Noto Sans Mono CJK JP" pitchFamily="34" charset="-122"/>
                <a:cs typeface="Noto Sans Mono CJK JP" pitchFamily="34" charset="-120"/>
              </a:rPr>
              <a:t>REFERENCES</a:t>
            </a:r>
            <a:endParaRPr lang="en-US" sz="1000" dirty="0"/>
          </a:p>
        </p:txBody>
      </p:sp>
      <p:sp>
        <p:nvSpPr>
          <p:cNvPr id="5" name="Text 3"/>
          <p:cNvSpPr/>
          <p:nvPr/>
        </p:nvSpPr>
        <p:spPr>
          <a:xfrm>
            <a:off x="530352" y="786384"/>
            <a:ext cx="11064240" cy="484632"/>
          </a:xfrm>
          <a:prstGeom prst="rect">
            <a:avLst/>
          </a:prstGeom>
          <a:noFill/>
          <a:ln/>
        </p:spPr>
        <p:txBody>
          <a:bodyPr wrap="square" lIns="0" tIns="0" rIns="0" bIns="0" rtlCol="0" anchor="ctr">
            <a:normAutofit/>
          </a:bodyPr>
          <a:lstStyle/>
          <a:p>
            <a:pPr indent="0" marL="0">
              <a:buNone/>
            </a:pPr>
            <a:r>
              <a:rPr lang="en-US" sz="2700" b="1" dirty="0">
                <a:solidFill>
                  <a:srgbClr val="F4F7FA"/>
                </a:solidFill>
                <a:latin typeface="Noto Sans CJK JP" pitchFamily="34" charset="0"/>
                <a:ea typeface="Noto Sans CJK JP" pitchFamily="34" charset="-122"/>
                <a:cs typeface="Noto Sans CJK JP" pitchFamily="34" charset="-120"/>
              </a:rPr>
              <a:t>主要文献 2：p進 AdS/CFT と発展</a:t>
            </a:r>
            <a:endParaRPr lang="en-US" sz="2700" dirty="0"/>
          </a:p>
        </p:txBody>
      </p:sp>
      <p:sp>
        <p:nvSpPr>
          <p:cNvPr id="6" name="Text 4"/>
          <p:cNvSpPr/>
          <p:nvPr/>
        </p:nvSpPr>
        <p:spPr>
          <a:xfrm>
            <a:off x="548640" y="1243584"/>
            <a:ext cx="10881360" cy="310896"/>
          </a:xfrm>
          <a:prstGeom prst="rect">
            <a:avLst/>
          </a:prstGeom>
          <a:noFill/>
          <a:ln/>
        </p:spPr>
        <p:txBody>
          <a:bodyPr wrap="square" lIns="0" tIns="0" rIns="0" bIns="0" rtlCol="0" anchor="ctr">
            <a:normAutofit/>
          </a:bodyPr>
          <a:lstStyle/>
          <a:p>
            <a:pPr indent="0" marL="0">
              <a:buNone/>
            </a:pPr>
            <a:r>
              <a:rPr lang="en-US" sz="1250" dirty="0">
                <a:solidFill>
                  <a:srgbClr val="A9BBC9"/>
                </a:solidFill>
                <a:latin typeface="Noto Sans CJK JP" pitchFamily="34" charset="0"/>
                <a:ea typeface="Noto Sans CJK JP" pitchFamily="34" charset="-122"/>
                <a:cs typeface="Noto Sans CJK JP" pitchFamily="34" charset="-120"/>
              </a:rPr>
              <a:t>離散ホログラフィー、テンソルネットワーク、重力、有限温度</a:t>
            </a:r>
            <a:endParaRPr lang="en-US" sz="1250" dirty="0"/>
          </a:p>
        </p:txBody>
      </p:sp>
      <p:sp>
        <p:nvSpPr>
          <p:cNvPr id="7" name="Text 5"/>
          <p:cNvSpPr/>
          <p:nvPr/>
        </p:nvSpPr>
        <p:spPr>
          <a:xfrm>
            <a:off x="11247120" y="411480"/>
            <a:ext cx="411480" cy="310896"/>
          </a:xfrm>
          <a:prstGeom prst="rect">
            <a:avLst/>
          </a:prstGeom>
          <a:noFill/>
          <a:ln/>
        </p:spPr>
        <p:txBody>
          <a:bodyPr wrap="square" lIns="0" tIns="0" rIns="0" bIns="0" rtlCol="0" anchor="ctr"/>
          <a:lstStyle/>
          <a:p>
            <a:pPr algn="r" indent="0" marL="0">
              <a:buNone/>
            </a:pPr>
            <a:r>
              <a:rPr lang="en-US" sz="1000" b="1" dirty="0">
                <a:solidFill>
                  <a:srgbClr val="A9BBC9"/>
                </a:solidFill>
                <a:latin typeface="Noto Sans Mono CJK JP" pitchFamily="34" charset="0"/>
                <a:ea typeface="Noto Sans Mono CJK JP" pitchFamily="34" charset="-122"/>
                <a:cs typeface="Noto Sans Mono CJK JP" pitchFamily="34" charset="-120"/>
              </a:rPr>
              <a:t>24</a:t>
            </a:r>
            <a:endParaRPr lang="en-US" sz="1000" dirty="0"/>
          </a:p>
        </p:txBody>
      </p:sp>
      <p:sp>
        <p:nvSpPr>
          <p:cNvPr id="8" name="Text 6"/>
          <p:cNvSpPr/>
          <p:nvPr/>
        </p:nvSpPr>
        <p:spPr>
          <a:xfrm>
            <a:off x="10835640" y="6519672"/>
            <a:ext cx="822960" cy="164592"/>
          </a:xfrm>
          <a:prstGeom prst="rect">
            <a:avLst/>
          </a:prstGeom>
          <a:noFill/>
          <a:ln/>
        </p:spPr>
        <p:txBody>
          <a:bodyPr wrap="square" lIns="0" tIns="0" rIns="0" bIns="0" rtlCol="0" anchor="ctr"/>
          <a:lstStyle/>
          <a:p>
            <a:pPr algn="r" indent="0" marL="0">
              <a:buNone/>
            </a:pPr>
            <a:r>
              <a:rPr lang="en-US" sz="750" dirty="0">
                <a:solidFill>
                  <a:srgbClr val="7890A1"/>
                </a:solidFill>
                <a:latin typeface="Noto Sans Mono CJK JP" pitchFamily="34" charset="0"/>
                <a:ea typeface="Noto Sans Mono CJK JP" pitchFamily="34" charset="-122"/>
                <a:cs typeface="Noto Sans Mono CJK JP" pitchFamily="34" charset="-120"/>
              </a:rPr>
              <a:t>24 / 24</a:t>
            </a:r>
            <a:endParaRPr lang="en-US" sz="750" dirty="0"/>
          </a:p>
        </p:txBody>
      </p:sp>
      <p:sp>
        <p:nvSpPr>
          <p:cNvPr id="9" name="Shape 7"/>
          <p:cNvSpPr/>
          <p:nvPr/>
        </p:nvSpPr>
        <p:spPr>
          <a:xfrm>
            <a:off x="658368" y="1682496"/>
            <a:ext cx="10881360" cy="438912"/>
          </a:xfrm>
          <a:prstGeom prst="roundRect">
            <a:avLst>
              <a:gd name="adj" fmla="val 25000"/>
            </a:avLst>
          </a:prstGeom>
          <a:solidFill>
            <a:srgbClr val="0D2231"/>
          </a:solidFill>
          <a:ln w="12700">
            <a:solidFill>
              <a:srgbClr val="2B4658"/>
            </a:solidFill>
            <a:prstDash val="solid"/>
          </a:ln>
        </p:spPr>
      </p:sp>
      <p:sp>
        <p:nvSpPr>
          <p:cNvPr id="10" name="Text 8"/>
          <p:cNvSpPr/>
          <p:nvPr/>
        </p:nvSpPr>
        <p:spPr>
          <a:xfrm>
            <a:off x="841248" y="1792224"/>
            <a:ext cx="438912" cy="182880"/>
          </a:xfrm>
          <a:prstGeom prst="rect">
            <a:avLst/>
          </a:prstGeom>
          <a:noFill/>
          <a:ln/>
        </p:spPr>
        <p:txBody>
          <a:bodyPr wrap="square" lIns="0" tIns="0" rIns="0" bIns="0" rtlCol="0" anchor="ctr"/>
          <a:lstStyle/>
          <a:p>
            <a:pPr indent="0" marL="0">
              <a:buNone/>
            </a:pPr>
            <a:r>
              <a:rPr lang="en-US" sz="1020" b="1" dirty="0">
                <a:solidFill>
                  <a:srgbClr val="55D8E0"/>
                </a:solidFill>
                <a:latin typeface="Noto Sans Mono CJK JP" pitchFamily="34" charset="0"/>
                <a:ea typeface="Noto Sans Mono CJK JP" pitchFamily="34" charset="-122"/>
                <a:cs typeface="Noto Sans Mono CJK JP" pitchFamily="34" charset="-120"/>
              </a:rPr>
              <a:t>[8]</a:t>
            </a:r>
            <a:endParaRPr lang="en-US" sz="1020" dirty="0"/>
          </a:p>
        </p:txBody>
      </p:sp>
      <p:sp>
        <p:nvSpPr>
          <p:cNvPr id="11" name="Text 9"/>
          <p:cNvSpPr/>
          <p:nvPr/>
        </p:nvSpPr>
        <p:spPr>
          <a:xfrm>
            <a:off x="1298448" y="1755648"/>
            <a:ext cx="9921240" cy="265176"/>
          </a:xfrm>
          <a:prstGeom prst="rect">
            <a:avLst/>
          </a:prstGeom>
          <a:noFill/>
          <a:ln/>
        </p:spPr>
        <p:txBody>
          <a:bodyPr wrap="square" lIns="0" tIns="0" rIns="0" bIns="0" rtlCol="0" anchor="ctr">
            <a:normAutofit/>
          </a:bodyPr>
          <a:lstStyle/>
          <a:p>
            <a:pPr indent="0" marL="0">
              <a:buNone/>
            </a:pPr>
            <a:r>
              <a:rPr lang="en-US" sz="1015" dirty="0">
                <a:solidFill>
                  <a:srgbClr val="F4F7FA"/>
                </a:solidFill>
                <a:latin typeface="Noto Sans CJK JP" pitchFamily="34" charset="0"/>
                <a:ea typeface="Noto Sans CJK JP" pitchFamily="34" charset="-122"/>
                <a:cs typeface="Noto Sans CJK JP" pitchFamily="34" charset="-120"/>
              </a:rPr>
              <a:t>S. S. Gubser et al., “p-Adic AdS/CFT,” Commun. Math. Phys. 352, 1019–1059 (2017), arXiv:1605.01061.</a:t>
            </a:r>
            <a:endParaRPr lang="en-US" sz="1015" dirty="0"/>
          </a:p>
        </p:txBody>
      </p:sp>
      <p:sp>
        <p:nvSpPr>
          <p:cNvPr id="12" name="Shape 10"/>
          <p:cNvSpPr/>
          <p:nvPr/>
        </p:nvSpPr>
        <p:spPr>
          <a:xfrm>
            <a:off x="658368" y="2240280"/>
            <a:ext cx="10881360" cy="438912"/>
          </a:xfrm>
          <a:prstGeom prst="roundRect">
            <a:avLst>
              <a:gd name="adj" fmla="val 25000"/>
            </a:avLst>
          </a:prstGeom>
          <a:solidFill>
            <a:srgbClr val="0B1C2A"/>
          </a:solidFill>
          <a:ln w="12700">
            <a:solidFill>
              <a:srgbClr val="2B4658"/>
            </a:solidFill>
            <a:prstDash val="solid"/>
          </a:ln>
        </p:spPr>
      </p:sp>
      <p:sp>
        <p:nvSpPr>
          <p:cNvPr id="13" name="Text 11"/>
          <p:cNvSpPr/>
          <p:nvPr/>
        </p:nvSpPr>
        <p:spPr>
          <a:xfrm>
            <a:off x="841248" y="2350008"/>
            <a:ext cx="438912" cy="182880"/>
          </a:xfrm>
          <a:prstGeom prst="rect">
            <a:avLst/>
          </a:prstGeom>
          <a:noFill/>
          <a:ln/>
        </p:spPr>
        <p:txBody>
          <a:bodyPr wrap="square" lIns="0" tIns="0" rIns="0" bIns="0" rtlCol="0" anchor="ctr"/>
          <a:lstStyle/>
          <a:p>
            <a:pPr indent="0" marL="0">
              <a:buNone/>
            </a:pPr>
            <a:r>
              <a:rPr lang="en-US" sz="1020" b="1" dirty="0">
                <a:solidFill>
                  <a:srgbClr val="55D8E0"/>
                </a:solidFill>
                <a:latin typeface="Noto Sans Mono CJK JP" pitchFamily="34" charset="0"/>
                <a:ea typeface="Noto Sans Mono CJK JP" pitchFamily="34" charset="-122"/>
                <a:cs typeface="Noto Sans Mono CJK JP" pitchFamily="34" charset="-120"/>
              </a:rPr>
              <a:t>[9]</a:t>
            </a:r>
            <a:endParaRPr lang="en-US" sz="1020" dirty="0"/>
          </a:p>
        </p:txBody>
      </p:sp>
      <p:sp>
        <p:nvSpPr>
          <p:cNvPr id="14" name="Text 12"/>
          <p:cNvSpPr/>
          <p:nvPr/>
        </p:nvSpPr>
        <p:spPr>
          <a:xfrm>
            <a:off x="1298448" y="2313432"/>
            <a:ext cx="9921240" cy="265176"/>
          </a:xfrm>
          <a:prstGeom prst="rect">
            <a:avLst/>
          </a:prstGeom>
          <a:noFill/>
          <a:ln/>
        </p:spPr>
        <p:txBody>
          <a:bodyPr wrap="square" lIns="0" tIns="0" rIns="0" bIns="0" rtlCol="0" anchor="ctr">
            <a:normAutofit/>
          </a:bodyPr>
          <a:lstStyle/>
          <a:p>
            <a:pPr indent="0" marL="0">
              <a:buNone/>
            </a:pPr>
            <a:r>
              <a:rPr lang="en-US" sz="1015" dirty="0">
                <a:solidFill>
                  <a:srgbClr val="F4F7FA"/>
                </a:solidFill>
                <a:latin typeface="Noto Sans CJK JP" pitchFamily="34" charset="0"/>
                <a:ea typeface="Noto Sans CJK JP" pitchFamily="34" charset="-122"/>
                <a:cs typeface="Noto Sans CJK JP" pitchFamily="34" charset="-120"/>
              </a:rPr>
              <a:t>M. Heydeman, M. Marcolli, I. Saberi and B. Stoica, “Tensor Networks, p-adic Fields, and Algebraic Curves,” Adv. Theor. Math. Phys. 22, 93–176 (2018), arXiv:1605.07639.</a:t>
            </a:r>
            <a:endParaRPr lang="en-US" sz="1015" dirty="0"/>
          </a:p>
        </p:txBody>
      </p:sp>
      <p:sp>
        <p:nvSpPr>
          <p:cNvPr id="15" name="Shape 13"/>
          <p:cNvSpPr/>
          <p:nvPr/>
        </p:nvSpPr>
        <p:spPr>
          <a:xfrm>
            <a:off x="658368" y="2798064"/>
            <a:ext cx="10881360" cy="438912"/>
          </a:xfrm>
          <a:prstGeom prst="roundRect">
            <a:avLst>
              <a:gd name="adj" fmla="val 25000"/>
            </a:avLst>
          </a:prstGeom>
          <a:solidFill>
            <a:srgbClr val="0D2231"/>
          </a:solidFill>
          <a:ln w="12700">
            <a:solidFill>
              <a:srgbClr val="2B4658"/>
            </a:solidFill>
            <a:prstDash val="solid"/>
          </a:ln>
        </p:spPr>
      </p:sp>
      <p:sp>
        <p:nvSpPr>
          <p:cNvPr id="16" name="Text 14"/>
          <p:cNvSpPr/>
          <p:nvPr/>
        </p:nvSpPr>
        <p:spPr>
          <a:xfrm>
            <a:off x="841248" y="2907792"/>
            <a:ext cx="438912" cy="182880"/>
          </a:xfrm>
          <a:prstGeom prst="rect">
            <a:avLst/>
          </a:prstGeom>
          <a:noFill/>
          <a:ln/>
        </p:spPr>
        <p:txBody>
          <a:bodyPr wrap="square" lIns="0" tIns="0" rIns="0" bIns="0" rtlCol="0" anchor="ctr"/>
          <a:lstStyle/>
          <a:p>
            <a:pPr indent="0" marL="0">
              <a:buNone/>
            </a:pPr>
            <a:r>
              <a:rPr lang="en-US" sz="1020" b="1" dirty="0">
                <a:solidFill>
                  <a:srgbClr val="55D8E0"/>
                </a:solidFill>
                <a:latin typeface="Noto Sans Mono CJK JP" pitchFamily="34" charset="0"/>
                <a:ea typeface="Noto Sans Mono CJK JP" pitchFamily="34" charset="-122"/>
                <a:cs typeface="Noto Sans Mono CJK JP" pitchFamily="34" charset="-120"/>
              </a:rPr>
              <a:t>[10]</a:t>
            </a:r>
            <a:endParaRPr lang="en-US" sz="1020" dirty="0"/>
          </a:p>
        </p:txBody>
      </p:sp>
      <p:sp>
        <p:nvSpPr>
          <p:cNvPr id="17" name="Text 15"/>
          <p:cNvSpPr/>
          <p:nvPr/>
        </p:nvSpPr>
        <p:spPr>
          <a:xfrm>
            <a:off x="1298448" y="2871216"/>
            <a:ext cx="9921240" cy="265176"/>
          </a:xfrm>
          <a:prstGeom prst="rect">
            <a:avLst/>
          </a:prstGeom>
          <a:noFill/>
          <a:ln/>
        </p:spPr>
        <p:txBody>
          <a:bodyPr wrap="square" lIns="0" tIns="0" rIns="0" bIns="0" rtlCol="0" anchor="ctr">
            <a:normAutofit/>
          </a:bodyPr>
          <a:lstStyle/>
          <a:p>
            <a:pPr indent="0" marL="0">
              <a:buNone/>
            </a:pPr>
            <a:r>
              <a:rPr lang="en-US" sz="1015" dirty="0">
                <a:solidFill>
                  <a:srgbClr val="F4F7FA"/>
                </a:solidFill>
                <a:latin typeface="Noto Sans CJK JP" pitchFamily="34" charset="0"/>
                <a:ea typeface="Noto Sans CJK JP" pitchFamily="34" charset="-122"/>
                <a:cs typeface="Noto Sans CJK JP" pitchFamily="34" charset="-120"/>
              </a:rPr>
              <a:t>S. S. Gubser et al., “Edge Length Dynamics on Graphs with Applications to p-adic AdS/CFT,” JHEP 06 (2017) 157, arXiv:1612.09580.</a:t>
            </a:r>
            <a:endParaRPr lang="en-US" sz="1015" dirty="0"/>
          </a:p>
        </p:txBody>
      </p:sp>
      <p:sp>
        <p:nvSpPr>
          <p:cNvPr id="18" name="Shape 16"/>
          <p:cNvSpPr/>
          <p:nvPr/>
        </p:nvSpPr>
        <p:spPr>
          <a:xfrm>
            <a:off x="658368" y="3355848"/>
            <a:ext cx="10881360" cy="438912"/>
          </a:xfrm>
          <a:prstGeom prst="roundRect">
            <a:avLst>
              <a:gd name="adj" fmla="val 25000"/>
            </a:avLst>
          </a:prstGeom>
          <a:solidFill>
            <a:srgbClr val="0B1C2A"/>
          </a:solidFill>
          <a:ln w="12700">
            <a:solidFill>
              <a:srgbClr val="2B4658"/>
            </a:solidFill>
            <a:prstDash val="solid"/>
          </a:ln>
        </p:spPr>
      </p:sp>
      <p:sp>
        <p:nvSpPr>
          <p:cNvPr id="19" name="Text 17"/>
          <p:cNvSpPr/>
          <p:nvPr/>
        </p:nvSpPr>
        <p:spPr>
          <a:xfrm>
            <a:off x="841248" y="3465576"/>
            <a:ext cx="438912" cy="182880"/>
          </a:xfrm>
          <a:prstGeom prst="rect">
            <a:avLst/>
          </a:prstGeom>
          <a:noFill/>
          <a:ln/>
        </p:spPr>
        <p:txBody>
          <a:bodyPr wrap="square" lIns="0" tIns="0" rIns="0" bIns="0" rtlCol="0" anchor="ctr"/>
          <a:lstStyle/>
          <a:p>
            <a:pPr indent="0" marL="0">
              <a:buNone/>
            </a:pPr>
            <a:r>
              <a:rPr lang="en-US" sz="1020" b="1" dirty="0">
                <a:solidFill>
                  <a:srgbClr val="55D8E0"/>
                </a:solidFill>
                <a:latin typeface="Noto Sans Mono CJK JP" pitchFamily="34" charset="0"/>
                <a:ea typeface="Noto Sans Mono CJK JP" pitchFamily="34" charset="-122"/>
                <a:cs typeface="Noto Sans Mono CJK JP" pitchFamily="34" charset="-120"/>
              </a:rPr>
              <a:t>[11]</a:t>
            </a:r>
            <a:endParaRPr lang="en-US" sz="1020" dirty="0"/>
          </a:p>
        </p:txBody>
      </p:sp>
      <p:sp>
        <p:nvSpPr>
          <p:cNvPr id="20" name="Text 18"/>
          <p:cNvSpPr/>
          <p:nvPr/>
        </p:nvSpPr>
        <p:spPr>
          <a:xfrm>
            <a:off x="1298448" y="3429000"/>
            <a:ext cx="9921240" cy="265176"/>
          </a:xfrm>
          <a:prstGeom prst="rect">
            <a:avLst/>
          </a:prstGeom>
          <a:noFill/>
          <a:ln/>
        </p:spPr>
        <p:txBody>
          <a:bodyPr wrap="square" lIns="0" tIns="0" rIns="0" bIns="0" rtlCol="0" anchor="ctr">
            <a:normAutofit/>
          </a:bodyPr>
          <a:lstStyle/>
          <a:p>
            <a:pPr indent="0" marL="0">
              <a:buNone/>
            </a:pPr>
            <a:r>
              <a:rPr lang="en-US" sz="1015" dirty="0">
                <a:solidFill>
                  <a:srgbClr val="F4F7FA"/>
                </a:solidFill>
                <a:latin typeface="Noto Sans CJK JP" pitchFamily="34" charset="0"/>
                <a:ea typeface="Noto Sans CJK JP" pitchFamily="34" charset="-122"/>
                <a:cs typeface="Noto Sans CJK JP" pitchFamily="34" charset="-120"/>
              </a:rPr>
              <a:t>L.-Y. Hung, W. Li and C. M. Melby-Thompson, “p-adic CFT is a Holographic Tensor Network,” JHEP 04 (2019) 170, arXiv:1902.01411.</a:t>
            </a:r>
            <a:endParaRPr lang="en-US" sz="1015" dirty="0"/>
          </a:p>
        </p:txBody>
      </p:sp>
      <p:sp>
        <p:nvSpPr>
          <p:cNvPr id="21" name="Shape 19"/>
          <p:cNvSpPr/>
          <p:nvPr/>
        </p:nvSpPr>
        <p:spPr>
          <a:xfrm>
            <a:off x="658368" y="3913632"/>
            <a:ext cx="10881360" cy="438912"/>
          </a:xfrm>
          <a:prstGeom prst="roundRect">
            <a:avLst>
              <a:gd name="adj" fmla="val 25000"/>
            </a:avLst>
          </a:prstGeom>
          <a:solidFill>
            <a:srgbClr val="0D2231"/>
          </a:solidFill>
          <a:ln w="12700">
            <a:solidFill>
              <a:srgbClr val="2B4658"/>
            </a:solidFill>
            <a:prstDash val="solid"/>
          </a:ln>
        </p:spPr>
      </p:sp>
      <p:sp>
        <p:nvSpPr>
          <p:cNvPr id="22" name="Text 20"/>
          <p:cNvSpPr/>
          <p:nvPr/>
        </p:nvSpPr>
        <p:spPr>
          <a:xfrm>
            <a:off x="841248" y="4023360"/>
            <a:ext cx="438912" cy="182880"/>
          </a:xfrm>
          <a:prstGeom prst="rect">
            <a:avLst/>
          </a:prstGeom>
          <a:noFill/>
          <a:ln/>
        </p:spPr>
        <p:txBody>
          <a:bodyPr wrap="square" lIns="0" tIns="0" rIns="0" bIns="0" rtlCol="0" anchor="ctr"/>
          <a:lstStyle/>
          <a:p>
            <a:pPr indent="0" marL="0">
              <a:buNone/>
            </a:pPr>
            <a:r>
              <a:rPr lang="en-US" sz="1020" b="1" dirty="0">
                <a:solidFill>
                  <a:srgbClr val="55D8E0"/>
                </a:solidFill>
                <a:latin typeface="Noto Sans Mono CJK JP" pitchFamily="34" charset="0"/>
                <a:ea typeface="Noto Sans Mono CJK JP" pitchFamily="34" charset="-122"/>
                <a:cs typeface="Noto Sans Mono CJK JP" pitchFamily="34" charset="-120"/>
              </a:rPr>
              <a:t>[12]</a:t>
            </a:r>
            <a:endParaRPr lang="en-US" sz="1020" dirty="0"/>
          </a:p>
        </p:txBody>
      </p:sp>
      <p:sp>
        <p:nvSpPr>
          <p:cNvPr id="23" name="Text 21"/>
          <p:cNvSpPr/>
          <p:nvPr/>
        </p:nvSpPr>
        <p:spPr>
          <a:xfrm>
            <a:off x="1298448" y="3986784"/>
            <a:ext cx="9921240" cy="265176"/>
          </a:xfrm>
          <a:prstGeom prst="rect">
            <a:avLst/>
          </a:prstGeom>
          <a:noFill/>
          <a:ln/>
        </p:spPr>
        <p:txBody>
          <a:bodyPr wrap="square" lIns="0" tIns="0" rIns="0" bIns="0" rtlCol="0" anchor="ctr">
            <a:normAutofit/>
          </a:bodyPr>
          <a:lstStyle/>
          <a:p>
            <a:pPr indent="0" marL="0">
              <a:buNone/>
            </a:pPr>
            <a:r>
              <a:rPr lang="en-US" sz="1015" dirty="0">
                <a:solidFill>
                  <a:srgbClr val="F4F7FA"/>
                </a:solidFill>
                <a:latin typeface="Noto Sans CJK JP" pitchFamily="34" charset="0"/>
                <a:ea typeface="Noto Sans CJK JP" pitchFamily="34" charset="-122"/>
                <a:cs typeface="Noto Sans CJK JP" pitchFamily="34" charset="-120"/>
              </a:rPr>
              <a:t>S. S. Gubser, C. Jepsen and B. Trundy, “Spin in p-adic AdS/CFT,” J. Phys. A 52, 144004 (2019), arXiv:1811.02538.</a:t>
            </a:r>
            <a:endParaRPr lang="en-US" sz="1015" dirty="0"/>
          </a:p>
        </p:txBody>
      </p:sp>
      <p:sp>
        <p:nvSpPr>
          <p:cNvPr id="24" name="Shape 22"/>
          <p:cNvSpPr/>
          <p:nvPr/>
        </p:nvSpPr>
        <p:spPr>
          <a:xfrm>
            <a:off x="658368" y="4471416"/>
            <a:ext cx="10881360" cy="438912"/>
          </a:xfrm>
          <a:prstGeom prst="roundRect">
            <a:avLst>
              <a:gd name="adj" fmla="val 25000"/>
            </a:avLst>
          </a:prstGeom>
          <a:solidFill>
            <a:srgbClr val="0B1C2A"/>
          </a:solidFill>
          <a:ln w="12700">
            <a:solidFill>
              <a:srgbClr val="2B4658"/>
            </a:solidFill>
            <a:prstDash val="solid"/>
          </a:ln>
        </p:spPr>
      </p:sp>
      <p:sp>
        <p:nvSpPr>
          <p:cNvPr id="25" name="Text 23"/>
          <p:cNvSpPr/>
          <p:nvPr/>
        </p:nvSpPr>
        <p:spPr>
          <a:xfrm>
            <a:off x="841248" y="4581144"/>
            <a:ext cx="438912" cy="182880"/>
          </a:xfrm>
          <a:prstGeom prst="rect">
            <a:avLst/>
          </a:prstGeom>
          <a:noFill/>
          <a:ln/>
        </p:spPr>
        <p:txBody>
          <a:bodyPr wrap="square" lIns="0" tIns="0" rIns="0" bIns="0" rtlCol="0" anchor="ctr"/>
          <a:lstStyle/>
          <a:p>
            <a:pPr indent="0" marL="0">
              <a:buNone/>
            </a:pPr>
            <a:r>
              <a:rPr lang="en-US" sz="1020" b="1" dirty="0">
                <a:solidFill>
                  <a:srgbClr val="55D8E0"/>
                </a:solidFill>
                <a:latin typeface="Noto Sans Mono CJK JP" pitchFamily="34" charset="0"/>
                <a:ea typeface="Noto Sans Mono CJK JP" pitchFamily="34" charset="-122"/>
                <a:cs typeface="Noto Sans Mono CJK JP" pitchFamily="34" charset="-120"/>
              </a:rPr>
              <a:t>[13]</a:t>
            </a:r>
            <a:endParaRPr lang="en-US" sz="1020" dirty="0"/>
          </a:p>
        </p:txBody>
      </p:sp>
      <p:sp>
        <p:nvSpPr>
          <p:cNvPr id="26" name="Text 24"/>
          <p:cNvSpPr/>
          <p:nvPr/>
        </p:nvSpPr>
        <p:spPr>
          <a:xfrm>
            <a:off x="1298448" y="4544568"/>
            <a:ext cx="9921240" cy="265176"/>
          </a:xfrm>
          <a:prstGeom prst="rect">
            <a:avLst/>
          </a:prstGeom>
          <a:noFill/>
          <a:ln/>
        </p:spPr>
        <p:txBody>
          <a:bodyPr wrap="square" lIns="0" tIns="0" rIns="0" bIns="0" rtlCol="0" anchor="ctr">
            <a:normAutofit/>
          </a:bodyPr>
          <a:lstStyle/>
          <a:p>
            <a:pPr indent="0" marL="0">
              <a:buNone/>
            </a:pPr>
            <a:r>
              <a:rPr lang="en-US" sz="1015" dirty="0">
                <a:solidFill>
                  <a:srgbClr val="F4F7FA"/>
                </a:solidFill>
                <a:latin typeface="Noto Sans CJK JP" pitchFamily="34" charset="0"/>
                <a:ea typeface="Noto Sans CJK JP" pitchFamily="34" charset="-122"/>
                <a:cs typeface="Noto Sans CJK JP" pitchFamily="34" charset="-120"/>
              </a:rPr>
              <a:t>L. Chen, X. Liu and L.-Y. Hung, “Emergent Einstein Equation in p-adic CFT Tensor Networks,” arXiv:2102.12022; “Bending the Bruhat–Tits Tree I,” arXiv:2102.12023.</a:t>
            </a:r>
            <a:endParaRPr lang="en-US" sz="1015" dirty="0"/>
          </a:p>
        </p:txBody>
      </p:sp>
      <p:sp>
        <p:nvSpPr>
          <p:cNvPr id="27" name="Shape 25"/>
          <p:cNvSpPr/>
          <p:nvPr/>
        </p:nvSpPr>
        <p:spPr>
          <a:xfrm>
            <a:off x="658368" y="5029200"/>
            <a:ext cx="10881360" cy="438912"/>
          </a:xfrm>
          <a:prstGeom prst="roundRect">
            <a:avLst>
              <a:gd name="adj" fmla="val 25000"/>
            </a:avLst>
          </a:prstGeom>
          <a:solidFill>
            <a:srgbClr val="0D2231"/>
          </a:solidFill>
          <a:ln w="12700">
            <a:solidFill>
              <a:srgbClr val="2B4658"/>
            </a:solidFill>
            <a:prstDash val="solid"/>
          </a:ln>
        </p:spPr>
      </p:sp>
      <p:sp>
        <p:nvSpPr>
          <p:cNvPr id="28" name="Text 26"/>
          <p:cNvSpPr/>
          <p:nvPr/>
        </p:nvSpPr>
        <p:spPr>
          <a:xfrm>
            <a:off x="841248" y="5138928"/>
            <a:ext cx="438912" cy="182880"/>
          </a:xfrm>
          <a:prstGeom prst="rect">
            <a:avLst/>
          </a:prstGeom>
          <a:noFill/>
          <a:ln/>
        </p:spPr>
        <p:txBody>
          <a:bodyPr wrap="square" lIns="0" tIns="0" rIns="0" bIns="0" rtlCol="0" anchor="ctr"/>
          <a:lstStyle/>
          <a:p>
            <a:pPr indent="0" marL="0">
              <a:buNone/>
            </a:pPr>
            <a:r>
              <a:rPr lang="en-US" sz="1020" b="1" dirty="0">
                <a:solidFill>
                  <a:srgbClr val="55D8E0"/>
                </a:solidFill>
                <a:latin typeface="Noto Sans Mono CJK JP" pitchFamily="34" charset="0"/>
                <a:ea typeface="Noto Sans Mono CJK JP" pitchFamily="34" charset="-122"/>
                <a:cs typeface="Noto Sans Mono CJK JP" pitchFamily="34" charset="-120"/>
              </a:rPr>
              <a:t>[14]</a:t>
            </a:r>
            <a:endParaRPr lang="en-US" sz="1020" dirty="0"/>
          </a:p>
        </p:txBody>
      </p:sp>
      <p:sp>
        <p:nvSpPr>
          <p:cNvPr id="29" name="Text 27"/>
          <p:cNvSpPr/>
          <p:nvPr/>
        </p:nvSpPr>
        <p:spPr>
          <a:xfrm>
            <a:off x="1298448" y="5102352"/>
            <a:ext cx="9921240" cy="265176"/>
          </a:xfrm>
          <a:prstGeom prst="rect">
            <a:avLst/>
          </a:prstGeom>
          <a:noFill/>
          <a:ln/>
        </p:spPr>
        <p:txBody>
          <a:bodyPr wrap="square" lIns="0" tIns="0" rIns="0" bIns="0" rtlCol="0" anchor="ctr">
            <a:normAutofit/>
          </a:bodyPr>
          <a:lstStyle/>
          <a:p>
            <a:pPr indent="0" marL="0">
              <a:buNone/>
            </a:pPr>
            <a:r>
              <a:rPr lang="en-US" sz="1015" dirty="0">
                <a:solidFill>
                  <a:srgbClr val="F4F7FA"/>
                </a:solidFill>
                <a:latin typeface="Noto Sans CJK JP" pitchFamily="34" charset="0"/>
                <a:ea typeface="Noto Sans CJK JP" pitchFamily="34" charset="-122"/>
                <a:cs typeface="Noto Sans CJK JP" pitchFamily="34" charset="-120"/>
              </a:rPr>
              <a:t>A. Huang and C. B. Jepsen, “Finite Temperature at Finite Places,” arXiv:2408.04199v2 (2025).</a:t>
            </a:r>
            <a:endParaRPr lang="en-US" sz="1015" dirty="0"/>
          </a:p>
        </p:txBody>
      </p:sp>
      <p:sp>
        <p:nvSpPr>
          <p:cNvPr id="30" name="Shape 28"/>
          <p:cNvSpPr/>
          <p:nvPr/>
        </p:nvSpPr>
        <p:spPr>
          <a:xfrm>
            <a:off x="658368" y="5586984"/>
            <a:ext cx="10881360" cy="438912"/>
          </a:xfrm>
          <a:prstGeom prst="roundRect">
            <a:avLst>
              <a:gd name="adj" fmla="val 25000"/>
            </a:avLst>
          </a:prstGeom>
          <a:solidFill>
            <a:srgbClr val="0B1C2A"/>
          </a:solidFill>
          <a:ln w="12700">
            <a:solidFill>
              <a:srgbClr val="2B4658"/>
            </a:solidFill>
            <a:prstDash val="solid"/>
          </a:ln>
        </p:spPr>
      </p:sp>
      <p:sp>
        <p:nvSpPr>
          <p:cNvPr id="31" name="Text 29"/>
          <p:cNvSpPr/>
          <p:nvPr/>
        </p:nvSpPr>
        <p:spPr>
          <a:xfrm>
            <a:off x="841248" y="5696712"/>
            <a:ext cx="438912" cy="182880"/>
          </a:xfrm>
          <a:prstGeom prst="rect">
            <a:avLst/>
          </a:prstGeom>
          <a:noFill/>
          <a:ln/>
        </p:spPr>
        <p:txBody>
          <a:bodyPr wrap="square" lIns="0" tIns="0" rIns="0" bIns="0" rtlCol="0" anchor="ctr"/>
          <a:lstStyle/>
          <a:p>
            <a:pPr indent="0" marL="0">
              <a:buNone/>
            </a:pPr>
            <a:r>
              <a:rPr lang="en-US" sz="1020" b="1" dirty="0">
                <a:solidFill>
                  <a:srgbClr val="55D8E0"/>
                </a:solidFill>
                <a:latin typeface="Noto Sans Mono CJK JP" pitchFamily="34" charset="0"/>
                <a:ea typeface="Noto Sans Mono CJK JP" pitchFamily="34" charset="-122"/>
                <a:cs typeface="Noto Sans Mono CJK JP" pitchFamily="34" charset="-120"/>
              </a:rPr>
              <a:t>[15]</a:t>
            </a:r>
            <a:endParaRPr lang="en-US" sz="1020" dirty="0"/>
          </a:p>
        </p:txBody>
      </p:sp>
      <p:sp>
        <p:nvSpPr>
          <p:cNvPr id="32" name="Text 30"/>
          <p:cNvSpPr/>
          <p:nvPr/>
        </p:nvSpPr>
        <p:spPr>
          <a:xfrm>
            <a:off x="1298448" y="5660136"/>
            <a:ext cx="9921240" cy="265176"/>
          </a:xfrm>
          <a:prstGeom prst="rect">
            <a:avLst/>
          </a:prstGeom>
          <a:noFill/>
          <a:ln/>
        </p:spPr>
        <p:txBody>
          <a:bodyPr wrap="square" lIns="0" tIns="0" rIns="0" bIns="0" rtlCol="0" anchor="ctr">
            <a:normAutofit/>
          </a:bodyPr>
          <a:lstStyle/>
          <a:p>
            <a:pPr indent="0" marL="0">
              <a:buNone/>
            </a:pPr>
            <a:r>
              <a:rPr lang="en-US" sz="1015" dirty="0">
                <a:solidFill>
                  <a:srgbClr val="F4F7FA"/>
                </a:solidFill>
                <a:latin typeface="Noto Sans CJK JP" pitchFamily="34" charset="0"/>
                <a:ea typeface="Noto Sans CJK JP" pitchFamily="34" charset="-122"/>
                <a:cs typeface="Noto Sans CJK JP" pitchFamily="34" charset="-120"/>
              </a:rPr>
              <a:t>A. Huang and C. Jepsen, “One-loop p-adic String Theory and the Néron Local Height Function,” arXiv:2604.00970v1 (2026, preprint).</a:t>
            </a:r>
            <a:endParaRPr lang="en-US" sz="1015" dirty="0"/>
          </a:p>
        </p:txBody>
      </p:sp>
      <p:sp>
        <p:nvSpPr>
          <p:cNvPr id="33" name="Text 31"/>
          <p:cNvSpPr/>
          <p:nvPr/>
        </p:nvSpPr>
        <p:spPr>
          <a:xfrm>
            <a:off x="1005840" y="6263640"/>
            <a:ext cx="10058400" cy="219456"/>
          </a:xfrm>
          <a:prstGeom prst="rect">
            <a:avLst/>
          </a:prstGeom>
          <a:noFill/>
          <a:ln/>
        </p:spPr>
        <p:txBody>
          <a:bodyPr wrap="square" lIns="0" tIns="0" rIns="0" bIns="0" rtlCol="0" anchor="ctr"/>
          <a:lstStyle/>
          <a:p>
            <a:pPr algn="ctr" indent="0" marL="0">
              <a:buNone/>
            </a:pPr>
            <a:r>
              <a:rPr lang="en-US" sz="1050" dirty="0">
                <a:solidFill>
                  <a:srgbClr val="A9BBC9"/>
                </a:solidFill>
                <a:latin typeface="Noto Sans CJK JP" pitchFamily="34" charset="0"/>
                <a:ea typeface="Noto Sans CJK JP" pitchFamily="34" charset="-122"/>
                <a:cs typeface="Noto Sans CJK JP" pitchFamily="34" charset="-120"/>
              </a:rPr>
              <a:t>調査基準日：2026年8月19日。2026年論文は査読前プレプリントとして明示。</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p進弦理論とp進AdS/CFT</dc:title>
  <dc:subject>p進弦理論とp進AdS/CFT</dc:subject>
  <dc:creator>OpenAI</dc:creator>
  <cp:lastModifiedBy>OpenAI</cp:lastModifiedBy>
  <cp:revision>1</cp:revision>
  <dcterms:created xsi:type="dcterms:W3CDTF">2026-08-19T03:24:49Z</dcterms:created>
  <dcterms:modified xsi:type="dcterms:W3CDTF">2026-08-19T03:24:49Z</dcterms:modified>
</cp:coreProperties>
</file>